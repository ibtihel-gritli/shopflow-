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86423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E4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4A34B"/>
          </a:solidFill>
          <a:ln w="12700">
            <a:solidFill>
              <a:srgbClr val="C4A34B"/>
            </a:solidFill>
            <a:prstDash val="solid"/>
          </a:ln>
        </p:spPr>
      </p:sp>
      <p:sp>
        <p:nvSpPr>
          <p:cNvPr id="3" name="Shape 1"/>
          <p:cNvSpPr/>
          <p:nvPr/>
        </p:nvSpPr>
        <p:spPr>
          <a:xfrm>
            <a:off x="7589520" y="0"/>
            <a:ext cx="1554480" cy="5143500"/>
          </a:xfrm>
          <a:prstGeom prst="rect">
            <a:avLst/>
          </a:prstGeom>
          <a:solidFill>
            <a:srgbClr val="C4A34B"/>
          </a:solidFill>
          <a:ln w="12700">
            <a:solidFill>
              <a:srgbClr val="C4A34B"/>
            </a:solidFill>
            <a:prstDash val="solid"/>
          </a:ln>
        </p:spPr>
      </p:sp>
      <p:sp>
        <p:nvSpPr>
          <p:cNvPr id="4" name="Shape 2"/>
          <p:cNvSpPr/>
          <p:nvPr/>
        </p:nvSpPr>
        <p:spPr>
          <a:xfrm>
            <a:off x="7589520" y="0"/>
            <a:ext cx="1554480" cy="5143500"/>
          </a:xfrm>
          <a:prstGeom prst="rect">
            <a:avLst/>
          </a:prstGeom>
          <a:solidFill>
            <a:srgbClr val="1E3A5F">
              <a:alpha val="80000"/>
            </a:srgbClr>
          </a:solidFill>
          <a:ln w="12700">
            <a:solidFill>
              <a:srgbClr val="1E3A5F"/>
            </a:solidFill>
            <a:prstDash val="solid"/>
          </a:ln>
        </p:spPr>
      </p:sp>
      <p:sp>
        <p:nvSpPr>
          <p:cNvPr id="5" name="Shape 3"/>
          <p:cNvSpPr/>
          <p:nvPr/>
        </p:nvSpPr>
        <p:spPr>
          <a:xfrm>
            <a:off x="164592" y="256032"/>
            <a:ext cx="54864" cy="822960"/>
          </a:xfrm>
          <a:prstGeom prst="rect">
            <a:avLst/>
          </a:prstGeom>
          <a:solidFill>
            <a:srgbClr val="C4A34B"/>
          </a:solidFill>
          <a:ln w="12700">
            <a:solidFill>
              <a:srgbClr val="C4A34B"/>
            </a:solidFill>
            <a:prstDash val="solid"/>
          </a:ln>
        </p:spPr>
      </p:sp>
      <p:sp>
        <p:nvSpPr>
          <p:cNvPr id="6" name="Text 4"/>
          <p:cNvSpPr/>
          <p:nvPr/>
        </p:nvSpPr>
        <p:spPr>
          <a:xfrm>
            <a:off x="347472" y="274320"/>
            <a:ext cx="5029200" cy="822960"/>
          </a:xfrm>
          <a:prstGeom prst="rect">
            <a:avLst/>
          </a:prstGeom>
          <a:noFill/>
          <a:ln/>
        </p:spPr>
        <p:txBody>
          <a:bodyPr wrap="square" rtlCol="0" anchor="ctr"/>
          <a:lstStyle/>
          <a:p>
            <a:pPr marL="0" indent="0">
              <a:buNone/>
            </a:pPr>
            <a:r>
              <a:rPr lang="en-US" sz="900" b="1" kern="0" spc="100" dirty="0">
                <a:solidFill>
                  <a:srgbClr val="C4A34B"/>
                </a:solidFill>
              </a:rPr>
              <a:t>Faculté de Sciences Monastir — ANNÉE 2025 / 2026</a:t>
            </a:r>
            <a:endParaRPr lang="en-US" sz="900" dirty="0"/>
          </a:p>
          <a:p>
            <a:pPr marL="0" indent="0">
              <a:buNone/>
            </a:pPr>
            <a:r>
              <a:rPr lang="en-US" sz="900" i="1" dirty="0">
                <a:solidFill>
                  <a:srgbClr val="A0B4C8"/>
                </a:solidFill>
              </a:rPr>
              <a:t>Dr. Ing. Ghada Feki</a:t>
            </a:r>
            <a:endParaRPr lang="en-US" sz="900" dirty="0"/>
          </a:p>
        </p:txBody>
      </p:sp>
      <p:sp>
        <p:nvSpPr>
          <p:cNvPr id="7" name="Text 5"/>
          <p:cNvSpPr/>
          <p:nvPr/>
        </p:nvSpPr>
        <p:spPr>
          <a:xfrm>
            <a:off x="256032" y="1280160"/>
            <a:ext cx="7132320" cy="1463040"/>
          </a:xfrm>
          <a:prstGeom prst="rect">
            <a:avLst/>
          </a:prstGeom>
          <a:noFill/>
          <a:ln/>
        </p:spPr>
        <p:txBody>
          <a:bodyPr wrap="square" rtlCol="0" anchor="ctr"/>
          <a:lstStyle/>
          <a:p>
            <a:pPr marL="0" indent="0">
              <a:buNone/>
            </a:pPr>
            <a:r>
              <a:rPr lang="en-US" sz="7800" b="1" dirty="0">
                <a:solidFill>
                  <a:srgbClr val="FFFFFF"/>
                </a:solidFill>
                <a:latin typeface="Calibri" pitchFamily="34" charset="0"/>
                <a:ea typeface="Calibri" pitchFamily="34" charset="-122"/>
                <a:cs typeface="Calibri" pitchFamily="34" charset="-120"/>
              </a:rPr>
              <a:t>ShopFlow</a:t>
            </a:r>
            <a:endParaRPr lang="en-US" sz="7800" dirty="0"/>
          </a:p>
        </p:txBody>
      </p:sp>
      <p:sp>
        <p:nvSpPr>
          <p:cNvPr id="8" name="Shape 6"/>
          <p:cNvSpPr/>
          <p:nvPr/>
        </p:nvSpPr>
        <p:spPr>
          <a:xfrm>
            <a:off x="256032" y="2834640"/>
            <a:ext cx="3200400" cy="45720"/>
          </a:xfrm>
          <a:prstGeom prst="rect">
            <a:avLst/>
          </a:prstGeom>
          <a:solidFill>
            <a:srgbClr val="C4A34B"/>
          </a:solidFill>
          <a:ln w="12700">
            <a:solidFill>
              <a:srgbClr val="C4A34B"/>
            </a:solidFill>
            <a:prstDash val="solid"/>
          </a:ln>
        </p:spPr>
      </p:sp>
      <p:sp>
        <p:nvSpPr>
          <p:cNvPr id="9" name="Text 7"/>
          <p:cNvSpPr/>
          <p:nvPr/>
        </p:nvSpPr>
        <p:spPr>
          <a:xfrm>
            <a:off x="256032" y="3017520"/>
            <a:ext cx="6858000" cy="457200"/>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Système de Gestion d'une Boutique en Ligne</a:t>
            </a:r>
            <a:endParaRPr lang="en-US" sz="1600" dirty="0"/>
          </a:p>
        </p:txBody>
      </p:sp>
      <p:sp>
        <p:nvSpPr>
          <p:cNvPr id="10" name="Text 8"/>
          <p:cNvSpPr/>
          <p:nvPr/>
        </p:nvSpPr>
        <p:spPr>
          <a:xfrm>
            <a:off x="256032" y="3749040"/>
            <a:ext cx="6858000" cy="457200"/>
          </a:xfrm>
          <a:prstGeom prst="rect">
            <a:avLst/>
          </a:prstGeom>
          <a:noFill/>
          <a:ln/>
        </p:spPr>
        <p:txBody>
          <a:bodyPr wrap="square" rtlCol="0" anchor="ctr"/>
          <a:lstStyle/>
          <a:p>
            <a:pPr marL="0" indent="0">
              <a:buNone/>
            </a:pPr>
            <a:r>
              <a:rPr lang="en-US" sz="1400" i="1" dirty="0">
                <a:solidFill>
                  <a:srgbClr val="C4A34B"/>
                </a:solidFill>
              </a:rPr>
              <a:t>Ibtihel Gritli  –  Zayneb Ben Aicha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B2E"/>
          </a:solidFill>
          <a:ln w="12700">
            <a:solidFill>
              <a:srgbClr val="0D1B2E"/>
            </a:solidFill>
            <a:prstDash val="solid"/>
          </a:ln>
        </p:spPr>
      </p:sp>
      <p:sp>
        <p:nvSpPr>
          <p:cNvPr id="3" name="Text 1"/>
          <p:cNvSpPr/>
          <p:nvPr/>
        </p:nvSpPr>
        <p:spPr>
          <a:xfrm>
            <a:off x="457200" y="182880"/>
            <a:ext cx="82296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Plan de la Présentation</a:t>
            </a:r>
            <a:endParaRPr lang="en-US" sz="2800" dirty="0"/>
          </a:p>
        </p:txBody>
      </p:sp>
      <p:sp>
        <p:nvSpPr>
          <p:cNvPr id="4" name="Shape 2"/>
          <p:cNvSpPr/>
          <p:nvPr/>
        </p:nvSpPr>
        <p:spPr>
          <a:xfrm>
            <a:off x="0" y="1005840"/>
            <a:ext cx="9144000" cy="45720"/>
          </a:xfrm>
          <a:prstGeom prst="rect">
            <a:avLst/>
          </a:prstGeom>
          <a:solidFill>
            <a:srgbClr val="C4A34B"/>
          </a:solidFill>
          <a:ln w="12700">
            <a:solidFill>
              <a:srgbClr val="C4A34B"/>
            </a:solidFill>
            <a:prstDash val="solid"/>
          </a:ln>
        </p:spPr>
      </p:sp>
      <p:sp>
        <p:nvSpPr>
          <p:cNvPr id="5" name="Shape 3"/>
          <p:cNvSpPr/>
          <p:nvPr/>
        </p:nvSpPr>
        <p:spPr>
          <a:xfrm>
            <a:off x="320040" y="1234440"/>
            <a:ext cx="4206240" cy="1051560"/>
          </a:xfrm>
          <a:prstGeom prst="rect">
            <a:avLst/>
          </a:prstGeom>
          <a:solidFill>
            <a:srgbClr val="FFFFFF"/>
          </a:solidFill>
          <a:ln w="6350">
            <a:solidFill>
              <a:srgbClr val="DDDDDD"/>
            </a:solidFill>
            <a:prstDash val="solid"/>
          </a:ln>
          <a:effectLst>
            <a:outerShdw blurRad="101600" dist="38100" dir="8100000" algn="bl" rotWithShape="0">
              <a:srgbClr val="000000">
                <a:alpha val="18000"/>
              </a:srgbClr>
            </a:outerShdw>
          </a:effectLst>
        </p:spPr>
      </p:sp>
      <p:sp>
        <p:nvSpPr>
          <p:cNvPr id="6" name="Shape 4"/>
          <p:cNvSpPr/>
          <p:nvPr/>
        </p:nvSpPr>
        <p:spPr>
          <a:xfrm>
            <a:off x="320040" y="1234440"/>
            <a:ext cx="594360" cy="1051560"/>
          </a:xfrm>
          <a:prstGeom prst="rect">
            <a:avLst/>
          </a:prstGeom>
          <a:solidFill>
            <a:srgbClr val="0D1B2E"/>
          </a:solidFill>
          <a:ln w="12700">
            <a:solidFill>
              <a:srgbClr val="0D1B2E"/>
            </a:solidFill>
            <a:prstDash val="solid"/>
          </a:ln>
        </p:spPr>
      </p:sp>
      <p:sp>
        <p:nvSpPr>
          <p:cNvPr id="7" name="Text 5"/>
          <p:cNvSpPr/>
          <p:nvPr/>
        </p:nvSpPr>
        <p:spPr>
          <a:xfrm>
            <a:off x="320040" y="1508760"/>
            <a:ext cx="594360" cy="502920"/>
          </a:xfrm>
          <a:prstGeom prst="rect">
            <a:avLst/>
          </a:prstGeom>
          <a:noFill/>
          <a:ln/>
        </p:spPr>
        <p:txBody>
          <a:bodyPr wrap="square" rtlCol="0" anchor="ctr"/>
          <a:lstStyle/>
          <a:p>
            <a:pPr marL="0" indent="0" algn="ctr">
              <a:buNone/>
            </a:pPr>
            <a:r>
              <a:rPr lang="en-US" sz="1800" b="1" dirty="0">
                <a:solidFill>
                  <a:srgbClr val="C4A34B"/>
                </a:solidFill>
              </a:rPr>
              <a:t>01</a:t>
            </a:r>
            <a:endParaRPr lang="en-US" sz="1800" dirty="0"/>
          </a:p>
        </p:txBody>
      </p:sp>
      <p:sp>
        <p:nvSpPr>
          <p:cNvPr id="8" name="Text 6"/>
          <p:cNvSpPr/>
          <p:nvPr/>
        </p:nvSpPr>
        <p:spPr>
          <a:xfrm>
            <a:off x="1005840" y="1344168"/>
            <a:ext cx="3383280" cy="347472"/>
          </a:xfrm>
          <a:prstGeom prst="rect">
            <a:avLst/>
          </a:prstGeom>
          <a:noFill/>
          <a:ln/>
        </p:spPr>
        <p:txBody>
          <a:bodyPr wrap="square" rtlCol="0" anchor="ctr"/>
          <a:lstStyle/>
          <a:p>
            <a:pPr marL="0" indent="0">
              <a:buNone/>
            </a:pPr>
            <a:r>
              <a:rPr lang="en-US" sz="1300" b="1" dirty="0">
                <a:solidFill>
                  <a:srgbClr val="0D1B2E"/>
                </a:solidFill>
                <a:latin typeface="Calibri" pitchFamily="34" charset="0"/>
                <a:ea typeface="Calibri" pitchFamily="34" charset="-122"/>
                <a:cs typeface="Calibri" pitchFamily="34" charset="-120"/>
              </a:rPr>
              <a:t>Présentation du Projet</a:t>
            </a:r>
            <a:endParaRPr lang="en-US" sz="1300" dirty="0"/>
          </a:p>
        </p:txBody>
      </p:sp>
      <p:sp>
        <p:nvSpPr>
          <p:cNvPr id="9" name="Text 7"/>
          <p:cNvSpPr/>
          <p:nvPr/>
        </p:nvSpPr>
        <p:spPr>
          <a:xfrm>
            <a:off x="1005840" y="1709928"/>
            <a:ext cx="3383280" cy="411480"/>
          </a:xfrm>
          <a:prstGeom prst="rect">
            <a:avLst/>
          </a:prstGeom>
          <a:noFill/>
          <a:ln/>
        </p:spPr>
        <p:txBody>
          <a:bodyPr wrap="square" rtlCol="0" anchor="ctr"/>
          <a:lstStyle/>
          <a:p>
            <a:pPr marL="0" indent="0">
              <a:buNone/>
            </a:pPr>
            <a:r>
              <a:rPr lang="en-US" sz="1000" dirty="0">
                <a:solidFill>
                  <a:srgbClr val="4A6080"/>
                </a:solidFill>
                <a:latin typeface="Calibri" pitchFamily="34" charset="0"/>
                <a:ea typeface="Calibri" pitchFamily="34" charset="-122"/>
                <a:cs typeface="Calibri" pitchFamily="34" charset="-120"/>
              </a:rPr>
              <a:t>Contexte, objectifs et périmètre fonctionnel</a:t>
            </a:r>
            <a:endParaRPr lang="en-US" sz="1000" dirty="0"/>
          </a:p>
        </p:txBody>
      </p:sp>
      <p:sp>
        <p:nvSpPr>
          <p:cNvPr id="10" name="Shape 8"/>
          <p:cNvSpPr/>
          <p:nvPr/>
        </p:nvSpPr>
        <p:spPr>
          <a:xfrm>
            <a:off x="320040" y="2468880"/>
            <a:ext cx="4206240" cy="1051560"/>
          </a:xfrm>
          <a:prstGeom prst="rect">
            <a:avLst/>
          </a:prstGeom>
          <a:solidFill>
            <a:srgbClr val="FFFFFF"/>
          </a:solidFill>
          <a:ln w="6350">
            <a:solidFill>
              <a:srgbClr val="DDDDDD"/>
            </a:solidFill>
            <a:prstDash val="solid"/>
          </a:ln>
          <a:effectLst>
            <a:outerShdw blurRad="101600" dist="38100" dir="8100000" algn="bl" rotWithShape="0">
              <a:srgbClr val="000000">
                <a:alpha val="18000"/>
              </a:srgbClr>
            </a:outerShdw>
          </a:effectLst>
        </p:spPr>
      </p:sp>
      <p:sp>
        <p:nvSpPr>
          <p:cNvPr id="11" name="Shape 9"/>
          <p:cNvSpPr/>
          <p:nvPr/>
        </p:nvSpPr>
        <p:spPr>
          <a:xfrm>
            <a:off x="320040" y="2468880"/>
            <a:ext cx="594360" cy="1051560"/>
          </a:xfrm>
          <a:prstGeom prst="rect">
            <a:avLst/>
          </a:prstGeom>
          <a:solidFill>
            <a:srgbClr val="0D1B2E"/>
          </a:solidFill>
          <a:ln w="12700">
            <a:solidFill>
              <a:srgbClr val="0D1B2E"/>
            </a:solidFill>
            <a:prstDash val="solid"/>
          </a:ln>
        </p:spPr>
      </p:sp>
      <p:sp>
        <p:nvSpPr>
          <p:cNvPr id="12" name="Text 10"/>
          <p:cNvSpPr/>
          <p:nvPr/>
        </p:nvSpPr>
        <p:spPr>
          <a:xfrm>
            <a:off x="320040" y="2743200"/>
            <a:ext cx="594360" cy="502920"/>
          </a:xfrm>
          <a:prstGeom prst="rect">
            <a:avLst/>
          </a:prstGeom>
          <a:noFill/>
          <a:ln/>
        </p:spPr>
        <p:txBody>
          <a:bodyPr wrap="square" rtlCol="0" anchor="ctr"/>
          <a:lstStyle/>
          <a:p>
            <a:pPr marL="0" indent="0" algn="ctr">
              <a:buNone/>
            </a:pPr>
            <a:r>
              <a:rPr lang="en-US" sz="1800" b="1" dirty="0">
                <a:solidFill>
                  <a:srgbClr val="C4A34B"/>
                </a:solidFill>
              </a:rPr>
              <a:t>02</a:t>
            </a:r>
            <a:endParaRPr lang="en-US" sz="1800" dirty="0"/>
          </a:p>
        </p:txBody>
      </p:sp>
      <p:sp>
        <p:nvSpPr>
          <p:cNvPr id="13" name="Text 11"/>
          <p:cNvSpPr/>
          <p:nvPr/>
        </p:nvSpPr>
        <p:spPr>
          <a:xfrm>
            <a:off x="1005840" y="2578608"/>
            <a:ext cx="3383280" cy="347472"/>
          </a:xfrm>
          <a:prstGeom prst="rect">
            <a:avLst/>
          </a:prstGeom>
          <a:noFill/>
          <a:ln/>
        </p:spPr>
        <p:txBody>
          <a:bodyPr wrap="square" rtlCol="0" anchor="ctr"/>
          <a:lstStyle/>
          <a:p>
            <a:pPr marL="0" indent="0">
              <a:buNone/>
            </a:pPr>
            <a:r>
              <a:rPr lang="en-US" sz="1300" b="1" dirty="0">
                <a:solidFill>
                  <a:srgbClr val="0D1B2E"/>
                </a:solidFill>
                <a:latin typeface="Calibri" pitchFamily="34" charset="0"/>
                <a:ea typeface="Calibri" pitchFamily="34" charset="-122"/>
                <a:cs typeface="Calibri" pitchFamily="34" charset="-120"/>
              </a:rPr>
              <a:t>Architecture Technique</a:t>
            </a:r>
            <a:endParaRPr lang="en-US" sz="1300" dirty="0"/>
          </a:p>
        </p:txBody>
      </p:sp>
      <p:sp>
        <p:nvSpPr>
          <p:cNvPr id="14" name="Text 12"/>
          <p:cNvSpPr/>
          <p:nvPr/>
        </p:nvSpPr>
        <p:spPr>
          <a:xfrm>
            <a:off x="1005840" y="2944368"/>
            <a:ext cx="3383280" cy="411480"/>
          </a:xfrm>
          <a:prstGeom prst="rect">
            <a:avLst/>
          </a:prstGeom>
          <a:noFill/>
          <a:ln/>
        </p:spPr>
        <p:txBody>
          <a:bodyPr wrap="square" rtlCol="0" anchor="ctr"/>
          <a:lstStyle/>
          <a:p>
            <a:pPr marL="0" indent="0">
              <a:buNone/>
            </a:pPr>
            <a:r>
              <a:rPr lang="en-US" sz="1000" dirty="0">
                <a:solidFill>
                  <a:srgbClr val="4A6080"/>
                </a:solidFill>
                <a:latin typeface="Calibri" pitchFamily="34" charset="0"/>
                <a:ea typeface="Calibri" pitchFamily="34" charset="-122"/>
                <a:cs typeface="Calibri" pitchFamily="34" charset="-120"/>
              </a:rPr>
              <a:t>Stack, couches et modèle de données</a:t>
            </a:r>
            <a:endParaRPr lang="en-US" sz="1000" dirty="0"/>
          </a:p>
        </p:txBody>
      </p:sp>
      <p:sp>
        <p:nvSpPr>
          <p:cNvPr id="15" name="Shape 13"/>
          <p:cNvSpPr/>
          <p:nvPr/>
        </p:nvSpPr>
        <p:spPr>
          <a:xfrm>
            <a:off x="320040" y="3703320"/>
            <a:ext cx="4206240" cy="1051560"/>
          </a:xfrm>
          <a:prstGeom prst="rect">
            <a:avLst/>
          </a:prstGeom>
          <a:solidFill>
            <a:srgbClr val="FFFFFF"/>
          </a:solidFill>
          <a:ln w="6350">
            <a:solidFill>
              <a:srgbClr val="DDDDDD"/>
            </a:solidFill>
            <a:prstDash val="solid"/>
          </a:ln>
          <a:effectLst>
            <a:outerShdw blurRad="101600" dist="38100" dir="8100000" algn="bl" rotWithShape="0">
              <a:srgbClr val="000000">
                <a:alpha val="18000"/>
              </a:srgbClr>
            </a:outerShdw>
          </a:effectLst>
        </p:spPr>
      </p:sp>
      <p:sp>
        <p:nvSpPr>
          <p:cNvPr id="16" name="Shape 14"/>
          <p:cNvSpPr/>
          <p:nvPr/>
        </p:nvSpPr>
        <p:spPr>
          <a:xfrm>
            <a:off x="320040" y="3703320"/>
            <a:ext cx="594360" cy="1051560"/>
          </a:xfrm>
          <a:prstGeom prst="rect">
            <a:avLst/>
          </a:prstGeom>
          <a:solidFill>
            <a:srgbClr val="0D1B2E"/>
          </a:solidFill>
          <a:ln w="12700">
            <a:solidFill>
              <a:srgbClr val="0D1B2E"/>
            </a:solidFill>
            <a:prstDash val="solid"/>
          </a:ln>
        </p:spPr>
      </p:sp>
      <p:sp>
        <p:nvSpPr>
          <p:cNvPr id="17" name="Text 15"/>
          <p:cNvSpPr/>
          <p:nvPr/>
        </p:nvSpPr>
        <p:spPr>
          <a:xfrm>
            <a:off x="320040" y="3977640"/>
            <a:ext cx="594360" cy="502920"/>
          </a:xfrm>
          <a:prstGeom prst="rect">
            <a:avLst/>
          </a:prstGeom>
          <a:noFill/>
          <a:ln/>
        </p:spPr>
        <p:txBody>
          <a:bodyPr wrap="square" rtlCol="0" anchor="ctr"/>
          <a:lstStyle/>
          <a:p>
            <a:pPr marL="0" indent="0" algn="ctr">
              <a:buNone/>
            </a:pPr>
            <a:r>
              <a:rPr lang="en-US" sz="1800" b="1" dirty="0">
                <a:solidFill>
                  <a:srgbClr val="C4A34B"/>
                </a:solidFill>
              </a:rPr>
              <a:t>03</a:t>
            </a:r>
            <a:endParaRPr lang="en-US" sz="1800" dirty="0"/>
          </a:p>
        </p:txBody>
      </p:sp>
      <p:sp>
        <p:nvSpPr>
          <p:cNvPr id="18" name="Text 16"/>
          <p:cNvSpPr/>
          <p:nvPr/>
        </p:nvSpPr>
        <p:spPr>
          <a:xfrm>
            <a:off x="1005840" y="3813048"/>
            <a:ext cx="3383280" cy="347472"/>
          </a:xfrm>
          <a:prstGeom prst="rect">
            <a:avLst/>
          </a:prstGeom>
          <a:noFill/>
          <a:ln/>
        </p:spPr>
        <p:txBody>
          <a:bodyPr wrap="square" rtlCol="0" anchor="ctr"/>
          <a:lstStyle/>
          <a:p>
            <a:pPr marL="0" indent="0">
              <a:buNone/>
            </a:pPr>
            <a:r>
              <a:rPr lang="en-US" sz="1300" b="1" dirty="0">
                <a:solidFill>
                  <a:srgbClr val="0D1B2E"/>
                </a:solidFill>
                <a:latin typeface="Calibri" pitchFamily="34" charset="0"/>
                <a:ea typeface="Calibri" pitchFamily="34" charset="-122"/>
                <a:cs typeface="Calibri" pitchFamily="34" charset="-120"/>
              </a:rPr>
              <a:t>Fonctionnalités Clés</a:t>
            </a:r>
            <a:endParaRPr lang="en-US" sz="1300" dirty="0"/>
          </a:p>
        </p:txBody>
      </p:sp>
      <p:sp>
        <p:nvSpPr>
          <p:cNvPr id="19" name="Text 17"/>
          <p:cNvSpPr/>
          <p:nvPr/>
        </p:nvSpPr>
        <p:spPr>
          <a:xfrm>
            <a:off x="1005840" y="4178808"/>
            <a:ext cx="3383280" cy="411480"/>
          </a:xfrm>
          <a:prstGeom prst="rect">
            <a:avLst/>
          </a:prstGeom>
          <a:noFill/>
          <a:ln/>
        </p:spPr>
        <p:txBody>
          <a:bodyPr wrap="square" rtlCol="0" anchor="ctr"/>
          <a:lstStyle/>
          <a:p>
            <a:pPr marL="0" indent="0">
              <a:buNone/>
            </a:pPr>
            <a:r>
              <a:rPr lang="en-US" sz="1000" dirty="0">
                <a:solidFill>
                  <a:srgbClr val="4A6080"/>
                </a:solidFill>
                <a:latin typeface="Calibri" pitchFamily="34" charset="0"/>
                <a:ea typeface="Calibri" pitchFamily="34" charset="-122"/>
                <a:cs typeface="Calibri" pitchFamily="34" charset="-120"/>
              </a:rPr>
              <a:t>Catalogue, panier, commandes, sécurité</a:t>
            </a:r>
            <a:endParaRPr lang="en-US" sz="1000" dirty="0"/>
          </a:p>
        </p:txBody>
      </p:sp>
      <p:sp>
        <p:nvSpPr>
          <p:cNvPr id="20" name="Shape 18"/>
          <p:cNvSpPr/>
          <p:nvPr/>
        </p:nvSpPr>
        <p:spPr>
          <a:xfrm>
            <a:off x="4800600" y="1234440"/>
            <a:ext cx="4206240" cy="1051560"/>
          </a:xfrm>
          <a:prstGeom prst="rect">
            <a:avLst/>
          </a:prstGeom>
          <a:solidFill>
            <a:srgbClr val="FFFFFF"/>
          </a:solidFill>
          <a:ln w="6350">
            <a:solidFill>
              <a:srgbClr val="DDDDDD"/>
            </a:solidFill>
            <a:prstDash val="solid"/>
          </a:ln>
          <a:effectLst>
            <a:outerShdw blurRad="101600" dist="38100" dir="8100000" algn="bl" rotWithShape="0">
              <a:srgbClr val="000000">
                <a:alpha val="18000"/>
              </a:srgbClr>
            </a:outerShdw>
          </a:effectLst>
        </p:spPr>
      </p:sp>
      <p:sp>
        <p:nvSpPr>
          <p:cNvPr id="21" name="Shape 19"/>
          <p:cNvSpPr/>
          <p:nvPr/>
        </p:nvSpPr>
        <p:spPr>
          <a:xfrm>
            <a:off x="4800600" y="1234440"/>
            <a:ext cx="594360" cy="1051560"/>
          </a:xfrm>
          <a:prstGeom prst="rect">
            <a:avLst/>
          </a:prstGeom>
          <a:solidFill>
            <a:srgbClr val="0D1B2E"/>
          </a:solidFill>
          <a:ln w="12700">
            <a:solidFill>
              <a:srgbClr val="0D1B2E"/>
            </a:solidFill>
            <a:prstDash val="solid"/>
          </a:ln>
        </p:spPr>
      </p:sp>
      <p:sp>
        <p:nvSpPr>
          <p:cNvPr id="22" name="Text 20"/>
          <p:cNvSpPr/>
          <p:nvPr/>
        </p:nvSpPr>
        <p:spPr>
          <a:xfrm>
            <a:off x="4800600" y="1508760"/>
            <a:ext cx="594360" cy="502920"/>
          </a:xfrm>
          <a:prstGeom prst="rect">
            <a:avLst/>
          </a:prstGeom>
          <a:noFill/>
          <a:ln/>
        </p:spPr>
        <p:txBody>
          <a:bodyPr wrap="square" rtlCol="0" anchor="ctr"/>
          <a:lstStyle/>
          <a:p>
            <a:pPr marL="0" indent="0" algn="ctr">
              <a:buNone/>
            </a:pPr>
            <a:r>
              <a:rPr lang="en-US" sz="1800" b="1" dirty="0">
                <a:solidFill>
                  <a:srgbClr val="C4A34B"/>
                </a:solidFill>
              </a:rPr>
              <a:t>04</a:t>
            </a:r>
            <a:endParaRPr lang="en-US" sz="1800" dirty="0"/>
          </a:p>
        </p:txBody>
      </p:sp>
      <p:sp>
        <p:nvSpPr>
          <p:cNvPr id="23" name="Text 21"/>
          <p:cNvSpPr/>
          <p:nvPr/>
        </p:nvSpPr>
        <p:spPr>
          <a:xfrm>
            <a:off x="5486400" y="1344168"/>
            <a:ext cx="3383280" cy="347472"/>
          </a:xfrm>
          <a:prstGeom prst="rect">
            <a:avLst/>
          </a:prstGeom>
          <a:noFill/>
          <a:ln/>
        </p:spPr>
        <p:txBody>
          <a:bodyPr wrap="square" rtlCol="0" anchor="ctr"/>
          <a:lstStyle/>
          <a:p>
            <a:pPr marL="0" indent="0">
              <a:buNone/>
            </a:pPr>
            <a:r>
              <a:rPr lang="en-US" sz="1300" b="1" dirty="0">
                <a:solidFill>
                  <a:srgbClr val="0D1B2E"/>
                </a:solidFill>
                <a:latin typeface="Calibri" pitchFamily="34" charset="0"/>
                <a:ea typeface="Calibri" pitchFamily="34" charset="-122"/>
                <a:cs typeface="Calibri" pitchFamily="34" charset="-120"/>
              </a:rPr>
              <a:t>Sécurité JWT</a:t>
            </a:r>
            <a:endParaRPr lang="en-US" sz="1300" dirty="0"/>
          </a:p>
        </p:txBody>
      </p:sp>
      <p:sp>
        <p:nvSpPr>
          <p:cNvPr id="24" name="Text 22"/>
          <p:cNvSpPr/>
          <p:nvPr/>
        </p:nvSpPr>
        <p:spPr>
          <a:xfrm>
            <a:off x="5486400" y="1709928"/>
            <a:ext cx="3383280" cy="411480"/>
          </a:xfrm>
          <a:prstGeom prst="rect">
            <a:avLst/>
          </a:prstGeom>
          <a:noFill/>
          <a:ln/>
        </p:spPr>
        <p:txBody>
          <a:bodyPr wrap="square" rtlCol="0" anchor="ctr"/>
          <a:lstStyle/>
          <a:p>
            <a:pPr marL="0" indent="0">
              <a:buNone/>
            </a:pPr>
            <a:r>
              <a:rPr lang="en-US" sz="1000" dirty="0">
                <a:solidFill>
                  <a:srgbClr val="4A6080"/>
                </a:solidFill>
                <a:latin typeface="Calibri" pitchFamily="34" charset="0"/>
                <a:ea typeface="Calibri" pitchFamily="34" charset="-122"/>
                <a:cs typeface="Calibri" pitchFamily="34" charset="-120"/>
              </a:rPr>
              <a:t>Authentification, tokens, flux sécurisé</a:t>
            </a:r>
            <a:endParaRPr lang="en-US" sz="1000" dirty="0"/>
          </a:p>
        </p:txBody>
      </p:sp>
      <p:sp>
        <p:nvSpPr>
          <p:cNvPr id="25" name="Shape 23"/>
          <p:cNvSpPr/>
          <p:nvPr/>
        </p:nvSpPr>
        <p:spPr>
          <a:xfrm>
            <a:off x="4800600" y="2468880"/>
            <a:ext cx="4206240" cy="1051560"/>
          </a:xfrm>
          <a:prstGeom prst="rect">
            <a:avLst/>
          </a:prstGeom>
          <a:solidFill>
            <a:srgbClr val="FFFFFF"/>
          </a:solidFill>
          <a:ln w="6350">
            <a:solidFill>
              <a:srgbClr val="DDDDDD"/>
            </a:solidFill>
            <a:prstDash val="solid"/>
          </a:ln>
          <a:effectLst>
            <a:outerShdw blurRad="101600" dist="38100" dir="8100000" algn="bl" rotWithShape="0">
              <a:srgbClr val="000000">
                <a:alpha val="18000"/>
              </a:srgbClr>
            </a:outerShdw>
          </a:effectLst>
        </p:spPr>
      </p:sp>
      <p:sp>
        <p:nvSpPr>
          <p:cNvPr id="26" name="Shape 24"/>
          <p:cNvSpPr/>
          <p:nvPr/>
        </p:nvSpPr>
        <p:spPr>
          <a:xfrm>
            <a:off x="4800600" y="2468880"/>
            <a:ext cx="594360" cy="1051560"/>
          </a:xfrm>
          <a:prstGeom prst="rect">
            <a:avLst/>
          </a:prstGeom>
          <a:solidFill>
            <a:srgbClr val="0D1B2E"/>
          </a:solidFill>
          <a:ln w="12700">
            <a:solidFill>
              <a:srgbClr val="0D1B2E"/>
            </a:solidFill>
            <a:prstDash val="solid"/>
          </a:ln>
        </p:spPr>
      </p:sp>
      <p:sp>
        <p:nvSpPr>
          <p:cNvPr id="27" name="Text 25"/>
          <p:cNvSpPr/>
          <p:nvPr/>
        </p:nvSpPr>
        <p:spPr>
          <a:xfrm>
            <a:off x="4800600" y="2743200"/>
            <a:ext cx="594360" cy="502920"/>
          </a:xfrm>
          <a:prstGeom prst="rect">
            <a:avLst/>
          </a:prstGeom>
          <a:noFill/>
          <a:ln/>
        </p:spPr>
        <p:txBody>
          <a:bodyPr wrap="square" rtlCol="0" anchor="ctr"/>
          <a:lstStyle/>
          <a:p>
            <a:pPr marL="0" indent="0" algn="ctr">
              <a:buNone/>
            </a:pPr>
            <a:r>
              <a:rPr lang="en-US" sz="1800" b="1" dirty="0">
                <a:solidFill>
                  <a:srgbClr val="C4A34B"/>
                </a:solidFill>
              </a:rPr>
              <a:t>05</a:t>
            </a:r>
            <a:endParaRPr lang="en-US" sz="1800" dirty="0"/>
          </a:p>
        </p:txBody>
      </p:sp>
      <p:sp>
        <p:nvSpPr>
          <p:cNvPr id="28" name="Text 26"/>
          <p:cNvSpPr/>
          <p:nvPr/>
        </p:nvSpPr>
        <p:spPr>
          <a:xfrm>
            <a:off x="5486400" y="2578608"/>
            <a:ext cx="3383280" cy="347472"/>
          </a:xfrm>
          <a:prstGeom prst="rect">
            <a:avLst/>
          </a:prstGeom>
          <a:noFill/>
          <a:ln/>
        </p:spPr>
        <p:txBody>
          <a:bodyPr wrap="square" rtlCol="0" anchor="ctr"/>
          <a:lstStyle/>
          <a:p>
            <a:pPr marL="0" indent="0">
              <a:buNone/>
            </a:pPr>
            <a:r>
              <a:rPr lang="en-US" sz="1300" b="1" dirty="0">
                <a:solidFill>
                  <a:srgbClr val="0D1B2E"/>
                </a:solidFill>
                <a:latin typeface="Calibri" pitchFamily="34" charset="0"/>
                <a:ea typeface="Calibri" pitchFamily="34" charset="-122"/>
                <a:cs typeface="Calibri" pitchFamily="34" charset="-120"/>
              </a:rPr>
              <a:t>Choix Technologiques</a:t>
            </a:r>
            <a:endParaRPr lang="en-US" sz="1300" dirty="0"/>
          </a:p>
        </p:txBody>
      </p:sp>
      <p:sp>
        <p:nvSpPr>
          <p:cNvPr id="29" name="Text 27"/>
          <p:cNvSpPr/>
          <p:nvPr/>
        </p:nvSpPr>
        <p:spPr>
          <a:xfrm>
            <a:off x="5486400" y="2944368"/>
            <a:ext cx="3383280" cy="411480"/>
          </a:xfrm>
          <a:prstGeom prst="rect">
            <a:avLst/>
          </a:prstGeom>
          <a:noFill/>
          <a:ln/>
        </p:spPr>
        <p:txBody>
          <a:bodyPr wrap="square" rtlCol="0" anchor="ctr"/>
          <a:lstStyle/>
          <a:p>
            <a:pPr marL="0" indent="0">
              <a:buNone/>
            </a:pPr>
            <a:r>
              <a:rPr lang="en-US" sz="1000" dirty="0">
                <a:solidFill>
                  <a:srgbClr val="4A6080"/>
                </a:solidFill>
                <a:latin typeface="Calibri" pitchFamily="34" charset="0"/>
                <a:ea typeface="Calibri" pitchFamily="34" charset="-122"/>
                <a:cs typeface="Calibri" pitchFamily="34" charset="-120"/>
              </a:rPr>
              <a:t>Spring Boot, Next.js, H2, JWT</a:t>
            </a:r>
            <a:endParaRPr lang="en-US" sz="1000" dirty="0"/>
          </a:p>
        </p:txBody>
      </p:sp>
      <p:sp>
        <p:nvSpPr>
          <p:cNvPr id="30" name="Shape 28"/>
          <p:cNvSpPr/>
          <p:nvPr/>
        </p:nvSpPr>
        <p:spPr>
          <a:xfrm>
            <a:off x="4800600" y="3703320"/>
            <a:ext cx="4206240" cy="1051560"/>
          </a:xfrm>
          <a:prstGeom prst="rect">
            <a:avLst/>
          </a:prstGeom>
          <a:solidFill>
            <a:srgbClr val="FFFFFF"/>
          </a:solidFill>
          <a:ln w="6350">
            <a:solidFill>
              <a:srgbClr val="DDDDDD"/>
            </a:solidFill>
            <a:prstDash val="solid"/>
          </a:ln>
          <a:effectLst>
            <a:outerShdw blurRad="101600" dist="38100" dir="8100000" algn="bl" rotWithShape="0">
              <a:srgbClr val="000000">
                <a:alpha val="18000"/>
              </a:srgbClr>
            </a:outerShdw>
          </a:effectLst>
        </p:spPr>
      </p:sp>
      <p:sp>
        <p:nvSpPr>
          <p:cNvPr id="31" name="Shape 29"/>
          <p:cNvSpPr/>
          <p:nvPr/>
        </p:nvSpPr>
        <p:spPr>
          <a:xfrm>
            <a:off x="4800600" y="3703320"/>
            <a:ext cx="594360" cy="1051560"/>
          </a:xfrm>
          <a:prstGeom prst="rect">
            <a:avLst/>
          </a:prstGeom>
          <a:solidFill>
            <a:srgbClr val="0D1B2E"/>
          </a:solidFill>
          <a:ln w="12700">
            <a:solidFill>
              <a:srgbClr val="0D1B2E"/>
            </a:solidFill>
            <a:prstDash val="solid"/>
          </a:ln>
        </p:spPr>
      </p:sp>
      <p:sp>
        <p:nvSpPr>
          <p:cNvPr id="32" name="Text 30"/>
          <p:cNvSpPr/>
          <p:nvPr/>
        </p:nvSpPr>
        <p:spPr>
          <a:xfrm>
            <a:off x="4800600" y="3977640"/>
            <a:ext cx="594360" cy="502920"/>
          </a:xfrm>
          <a:prstGeom prst="rect">
            <a:avLst/>
          </a:prstGeom>
          <a:noFill/>
          <a:ln/>
        </p:spPr>
        <p:txBody>
          <a:bodyPr wrap="square" rtlCol="0" anchor="ctr"/>
          <a:lstStyle/>
          <a:p>
            <a:pPr marL="0" indent="0" algn="ctr">
              <a:buNone/>
            </a:pPr>
            <a:r>
              <a:rPr lang="en-US" sz="1800" b="1" dirty="0">
                <a:solidFill>
                  <a:srgbClr val="C4A34B"/>
                </a:solidFill>
              </a:rPr>
              <a:t>06</a:t>
            </a:r>
            <a:endParaRPr lang="en-US" sz="1800" dirty="0"/>
          </a:p>
        </p:txBody>
      </p:sp>
      <p:sp>
        <p:nvSpPr>
          <p:cNvPr id="33" name="Text 31"/>
          <p:cNvSpPr/>
          <p:nvPr/>
        </p:nvSpPr>
        <p:spPr>
          <a:xfrm>
            <a:off x="5486400" y="3813048"/>
            <a:ext cx="3383280" cy="347472"/>
          </a:xfrm>
          <a:prstGeom prst="rect">
            <a:avLst/>
          </a:prstGeom>
          <a:noFill/>
          <a:ln/>
        </p:spPr>
        <p:txBody>
          <a:bodyPr wrap="square" rtlCol="0" anchor="ctr"/>
          <a:lstStyle/>
          <a:p>
            <a:pPr marL="0" indent="0">
              <a:buNone/>
            </a:pPr>
            <a:r>
              <a:rPr lang="en-US" sz="1300" b="1" dirty="0">
                <a:solidFill>
                  <a:srgbClr val="0D1B2E"/>
                </a:solidFill>
                <a:latin typeface="Calibri" pitchFamily="34" charset="0"/>
                <a:ea typeface="Calibri" pitchFamily="34" charset="-122"/>
                <a:cs typeface="Calibri" pitchFamily="34" charset="-120"/>
              </a:rPr>
              <a:t>Bilan &amp; Perspectives</a:t>
            </a:r>
            <a:endParaRPr lang="en-US" sz="1300" dirty="0"/>
          </a:p>
        </p:txBody>
      </p:sp>
      <p:sp>
        <p:nvSpPr>
          <p:cNvPr id="34" name="Text 32"/>
          <p:cNvSpPr/>
          <p:nvPr/>
        </p:nvSpPr>
        <p:spPr>
          <a:xfrm>
            <a:off x="5486400" y="4178808"/>
            <a:ext cx="3383280" cy="411480"/>
          </a:xfrm>
          <a:prstGeom prst="rect">
            <a:avLst/>
          </a:prstGeom>
          <a:noFill/>
          <a:ln/>
        </p:spPr>
        <p:txBody>
          <a:bodyPr wrap="square" rtlCol="0" anchor="ctr"/>
          <a:lstStyle/>
          <a:p>
            <a:pPr marL="0" indent="0">
              <a:buNone/>
            </a:pPr>
            <a:r>
              <a:rPr lang="en-US" sz="1000" dirty="0">
                <a:solidFill>
                  <a:srgbClr val="4A6080"/>
                </a:solidFill>
                <a:latin typeface="Calibri" pitchFamily="34" charset="0"/>
                <a:ea typeface="Calibri" pitchFamily="34" charset="-122"/>
                <a:cs typeface="Calibri" pitchFamily="34" charset="-120"/>
              </a:rPr>
              <a:t>Difficultés, acquis et améliorations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B2E"/>
          </a:solidFill>
          <a:ln w="12700">
            <a:solidFill>
              <a:srgbClr val="0D1B2E"/>
            </a:solidFill>
            <a:prstDash val="solid"/>
          </a:ln>
        </p:spPr>
      </p:sp>
      <p:sp>
        <p:nvSpPr>
          <p:cNvPr id="3" name="Shape 1"/>
          <p:cNvSpPr/>
          <p:nvPr/>
        </p:nvSpPr>
        <p:spPr>
          <a:xfrm>
            <a:off x="0" y="1005840"/>
            <a:ext cx="9144000" cy="45720"/>
          </a:xfrm>
          <a:prstGeom prst="rect">
            <a:avLst/>
          </a:prstGeom>
          <a:solidFill>
            <a:srgbClr val="C4A34B"/>
          </a:solidFill>
          <a:ln w="12700">
            <a:solidFill>
              <a:srgbClr val="C4A34B"/>
            </a:solidFill>
            <a:prstDash val="solid"/>
          </a:ln>
        </p:spPr>
      </p:sp>
      <p:sp>
        <p:nvSpPr>
          <p:cNvPr id="4" name="Shape 2"/>
          <p:cNvSpPr/>
          <p:nvPr/>
        </p:nvSpPr>
        <p:spPr>
          <a:xfrm>
            <a:off x="320040" y="256032"/>
            <a:ext cx="502920" cy="502920"/>
          </a:xfrm>
          <a:prstGeom prst="ellipse">
            <a:avLst/>
          </a:prstGeom>
          <a:solidFill>
            <a:srgbClr val="C4A34B"/>
          </a:solidFill>
          <a:ln w="12700">
            <a:solidFill>
              <a:srgbClr val="C4A34B"/>
            </a:solidFill>
            <a:prstDash val="solid"/>
          </a:ln>
        </p:spPr>
      </p:sp>
      <p:sp>
        <p:nvSpPr>
          <p:cNvPr id="5" name="Text 3"/>
          <p:cNvSpPr/>
          <p:nvPr/>
        </p:nvSpPr>
        <p:spPr>
          <a:xfrm>
            <a:off x="320040" y="292608"/>
            <a:ext cx="502920" cy="411480"/>
          </a:xfrm>
          <a:prstGeom prst="rect">
            <a:avLst/>
          </a:prstGeom>
          <a:noFill/>
          <a:ln/>
        </p:spPr>
        <p:txBody>
          <a:bodyPr wrap="square" rtlCol="0" anchor="ctr"/>
          <a:lstStyle/>
          <a:p>
            <a:pPr marL="0" indent="0" algn="ctr">
              <a:buNone/>
            </a:pPr>
            <a:r>
              <a:rPr lang="en-US" sz="1600" b="1" dirty="0">
                <a:solidFill>
                  <a:srgbClr val="0D1B2E"/>
                </a:solidFill>
              </a:rPr>
              <a:t>01</a:t>
            </a:r>
            <a:endParaRPr lang="en-US" sz="1600" dirty="0"/>
          </a:p>
        </p:txBody>
      </p:sp>
      <p:sp>
        <p:nvSpPr>
          <p:cNvPr id="6" name="Text 4"/>
          <p:cNvSpPr/>
          <p:nvPr/>
        </p:nvSpPr>
        <p:spPr>
          <a:xfrm>
            <a:off x="960120" y="256032"/>
            <a:ext cx="73152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Contexte &amp; Problématique</a:t>
            </a:r>
            <a:endParaRPr lang="en-US" sz="2400" dirty="0"/>
          </a:p>
        </p:txBody>
      </p:sp>
      <p:sp>
        <p:nvSpPr>
          <p:cNvPr id="7" name="Text 5"/>
          <p:cNvSpPr/>
          <p:nvPr/>
        </p:nvSpPr>
        <p:spPr>
          <a:xfrm>
            <a:off x="960120" y="713232"/>
            <a:ext cx="7315200" cy="274320"/>
          </a:xfrm>
          <a:prstGeom prst="rect">
            <a:avLst/>
          </a:prstGeom>
          <a:noFill/>
          <a:ln/>
        </p:spPr>
        <p:txBody>
          <a:bodyPr wrap="square" rtlCol="0" anchor="ctr"/>
          <a:lstStyle/>
          <a:p>
            <a:pPr marL="0" indent="0">
              <a:buNone/>
            </a:pPr>
            <a:r>
              <a:rPr lang="en-US" sz="1000" i="1" dirty="0">
                <a:solidFill>
                  <a:srgbClr val="A0B4C8"/>
                </a:solidFill>
              </a:rPr>
              <a:t>E-commerce · Défis · Solution ShopFlow</a:t>
            </a:r>
            <a:endParaRPr lang="en-US" sz="1000" dirty="0"/>
          </a:p>
        </p:txBody>
      </p:sp>
      <p:sp>
        <p:nvSpPr>
          <p:cNvPr id="8" name="Shape 6"/>
          <p:cNvSpPr/>
          <p:nvPr/>
        </p:nvSpPr>
        <p:spPr>
          <a:xfrm>
            <a:off x="320040" y="1234440"/>
            <a:ext cx="4114800" cy="3657600"/>
          </a:xfrm>
          <a:prstGeom prst="rect">
            <a:avLst/>
          </a:prstGeom>
          <a:solidFill>
            <a:srgbClr val="0D1B2E"/>
          </a:solidFill>
          <a:ln w="12700">
            <a:solidFill>
              <a:srgbClr val="0D1B2E"/>
            </a:solidFill>
            <a:prstDash val="solid"/>
          </a:ln>
          <a:effectLst>
            <a:outerShdw blurRad="101600" dist="38100" dir="8100000" algn="bl" rotWithShape="0">
              <a:srgbClr val="000000">
                <a:alpha val="18000"/>
              </a:srgbClr>
            </a:outerShdw>
          </a:effectLst>
        </p:spPr>
      </p:sp>
      <p:sp>
        <p:nvSpPr>
          <p:cNvPr id="9" name="Shape 7"/>
          <p:cNvSpPr/>
          <p:nvPr/>
        </p:nvSpPr>
        <p:spPr>
          <a:xfrm>
            <a:off x="502920" y="1463040"/>
            <a:ext cx="164592" cy="164592"/>
          </a:xfrm>
          <a:prstGeom prst="ellipse">
            <a:avLst/>
          </a:prstGeom>
          <a:solidFill>
            <a:srgbClr val="4CAF7D"/>
          </a:solidFill>
          <a:ln w="12700">
            <a:solidFill>
              <a:srgbClr val="4CAF7D"/>
            </a:solidFill>
            <a:prstDash val="solid"/>
          </a:ln>
        </p:spPr>
      </p:sp>
      <p:sp>
        <p:nvSpPr>
          <p:cNvPr id="10" name="Text 8"/>
          <p:cNvSpPr/>
          <p:nvPr/>
        </p:nvSpPr>
        <p:spPr>
          <a:xfrm>
            <a:off x="731520" y="1399032"/>
            <a:ext cx="3474720" cy="292608"/>
          </a:xfrm>
          <a:prstGeom prst="rect">
            <a:avLst/>
          </a:prstGeom>
          <a:noFill/>
          <a:ln/>
        </p:spPr>
        <p:txBody>
          <a:bodyPr wrap="square" rtlCol="0" anchor="ctr"/>
          <a:lstStyle/>
          <a:p>
            <a:pPr marL="0" indent="0">
              <a:buNone/>
            </a:pPr>
            <a:r>
              <a:rPr lang="en-US" sz="1100" b="1" dirty="0">
                <a:solidFill>
                  <a:srgbClr val="4CAF7D"/>
                </a:solidFill>
              </a:rPr>
              <a:t>E-commerce en pleine expansion</a:t>
            </a:r>
            <a:endParaRPr lang="en-US" sz="1100" dirty="0"/>
          </a:p>
        </p:txBody>
      </p:sp>
      <p:sp>
        <p:nvSpPr>
          <p:cNvPr id="11" name="Text 9"/>
          <p:cNvSpPr/>
          <p:nvPr/>
        </p:nvSpPr>
        <p:spPr>
          <a:xfrm>
            <a:off x="502920" y="1783080"/>
            <a:ext cx="3657600" cy="640080"/>
          </a:xfrm>
          <a:prstGeom prst="rect">
            <a:avLst/>
          </a:prstGeom>
          <a:noFill/>
          <a:ln/>
        </p:spPr>
        <p:txBody>
          <a:bodyPr wrap="square" rtlCol="0" anchor="ctr"/>
          <a:lstStyle/>
          <a:p>
            <a:pPr marL="0" indent="0">
              <a:buNone/>
            </a:pPr>
            <a:r>
              <a:rPr lang="fr-FR" sz="950" dirty="0">
                <a:solidFill>
                  <a:srgbClr val="A0B4C8"/>
                </a:solidFill>
              </a:rPr>
              <a:t>Malgré cette croissance, plusieurs défis persistent</a:t>
            </a:r>
            <a:endParaRPr lang="fr-FR" sz="950" dirty="0"/>
          </a:p>
          <a:p>
            <a:pPr marL="0" indent="0">
              <a:buNone/>
            </a:pPr>
            <a:r>
              <a:rPr lang="fr-FR" sz="950" dirty="0">
                <a:solidFill>
                  <a:srgbClr val="A0B4C8"/>
                </a:solidFill>
              </a:rPr>
              <a:t>dans la conception des plateformes e-commerce,</a:t>
            </a:r>
            <a:endParaRPr lang="fr-FR" sz="950" dirty="0"/>
          </a:p>
          <a:p>
            <a:pPr marL="0" indent="0">
              <a:buNone/>
            </a:pPr>
            <a:r>
              <a:rPr lang="fr-FR" sz="950" dirty="0">
                <a:solidFill>
                  <a:srgbClr val="A0B4C8"/>
                </a:solidFill>
              </a:rPr>
              <a:t>notamment la gestion sécurisée des données utilisateurs,</a:t>
            </a:r>
            <a:endParaRPr lang="fr-FR" sz="950" dirty="0"/>
          </a:p>
          <a:p>
            <a:pPr marL="0" indent="0">
              <a:buNone/>
            </a:pPr>
            <a:r>
              <a:rPr lang="fr-FR" sz="950" dirty="0">
                <a:solidFill>
                  <a:srgbClr val="A0B4C8"/>
                </a:solidFill>
              </a:rPr>
              <a:t>l’optimisation des performances, et la mise en place</a:t>
            </a:r>
            <a:endParaRPr lang="fr-FR" sz="950" dirty="0"/>
          </a:p>
          <a:p>
            <a:pPr marL="0" indent="0">
              <a:buNone/>
            </a:pPr>
            <a:r>
              <a:rPr lang="fr-FR" sz="950" dirty="0">
                <a:solidFill>
                  <a:srgbClr val="A0B4C8"/>
                </a:solidFill>
              </a:rPr>
              <a:t>d’une architecture logicielle maintenable. De nombreuses</a:t>
            </a:r>
            <a:endParaRPr lang="fr-FR" sz="950" dirty="0"/>
          </a:p>
          <a:p>
            <a:pPr marL="0" indent="0">
              <a:buNone/>
            </a:pPr>
            <a:r>
              <a:rPr lang="fr-FR" sz="950" dirty="0">
                <a:solidFill>
                  <a:srgbClr val="A0B4C8"/>
                </a:solidFill>
              </a:rPr>
              <a:t>solutions existantes souffrent d’un manque de modularité,</a:t>
            </a:r>
            <a:endParaRPr lang="fr-FR" sz="950" dirty="0"/>
          </a:p>
          <a:p>
            <a:pPr marL="0" indent="0">
              <a:buNone/>
            </a:pPr>
            <a:r>
              <a:rPr lang="fr-FR" sz="950" dirty="0">
                <a:solidFill>
                  <a:srgbClr val="A0B4C8"/>
                </a:solidFill>
              </a:rPr>
              <a:t>rendant leur évolution complexe.</a:t>
            </a:r>
            <a:endParaRPr lang="fr-FR" sz="950" dirty="0"/>
          </a:p>
        </p:txBody>
      </p:sp>
      <p:sp>
        <p:nvSpPr>
          <p:cNvPr id="12" name="Text 10"/>
          <p:cNvSpPr/>
          <p:nvPr/>
        </p:nvSpPr>
        <p:spPr>
          <a:xfrm>
            <a:off x="502920" y="2514600"/>
            <a:ext cx="3657600" cy="256032"/>
          </a:xfrm>
          <a:prstGeom prst="rect">
            <a:avLst/>
          </a:prstGeom>
          <a:noFill/>
          <a:ln/>
        </p:spPr>
        <p:txBody>
          <a:bodyPr wrap="square" rtlCol="0" anchor="ctr"/>
          <a:lstStyle/>
          <a:p>
            <a:pPr marL="0" indent="0">
              <a:buNone/>
            </a:pPr>
            <a:r>
              <a:rPr lang="en-US" sz="1000" b="1" dirty="0">
                <a:solidFill>
                  <a:srgbClr val="C4A34B"/>
                </a:solidFill>
              </a:rPr>
              <a:t>⚠  Défis identifiés :</a:t>
            </a:r>
            <a:endParaRPr lang="en-US" sz="1000" dirty="0"/>
          </a:p>
        </p:txBody>
      </p:sp>
      <p:sp>
        <p:nvSpPr>
          <p:cNvPr id="13" name="Shape 11"/>
          <p:cNvSpPr/>
          <p:nvPr/>
        </p:nvSpPr>
        <p:spPr>
          <a:xfrm>
            <a:off x="457200" y="2834640"/>
            <a:ext cx="3749040" cy="347472"/>
          </a:xfrm>
          <a:prstGeom prst="rect">
            <a:avLst/>
          </a:prstGeom>
          <a:solidFill>
            <a:srgbClr val="1E3A5F"/>
          </a:solidFill>
          <a:ln w="12700">
            <a:solidFill>
              <a:srgbClr val="1E3A5F"/>
            </a:solidFill>
            <a:prstDash val="solid"/>
          </a:ln>
        </p:spPr>
      </p:sp>
      <p:sp>
        <p:nvSpPr>
          <p:cNvPr id="14" name="Shape 12"/>
          <p:cNvSpPr/>
          <p:nvPr/>
        </p:nvSpPr>
        <p:spPr>
          <a:xfrm>
            <a:off x="457200" y="2834640"/>
            <a:ext cx="36576" cy="347472"/>
          </a:xfrm>
          <a:prstGeom prst="rect">
            <a:avLst/>
          </a:prstGeom>
          <a:solidFill>
            <a:srgbClr val="C4A34B"/>
          </a:solidFill>
          <a:ln w="12700">
            <a:solidFill>
              <a:srgbClr val="C4A34B"/>
            </a:solidFill>
            <a:prstDash val="solid"/>
          </a:ln>
        </p:spPr>
      </p:sp>
      <p:sp>
        <p:nvSpPr>
          <p:cNvPr id="15" name="Text 13"/>
          <p:cNvSpPr/>
          <p:nvPr/>
        </p:nvSpPr>
        <p:spPr>
          <a:xfrm>
            <a:off x="594360" y="2880360"/>
            <a:ext cx="3474720" cy="256032"/>
          </a:xfrm>
          <a:prstGeom prst="rect">
            <a:avLst/>
          </a:prstGeom>
          <a:noFill/>
          <a:ln/>
        </p:spPr>
        <p:txBody>
          <a:bodyPr wrap="square" rtlCol="0" anchor="ctr"/>
          <a:lstStyle/>
          <a:p>
            <a:pPr marL="0" indent="0">
              <a:buNone/>
            </a:pPr>
            <a:r>
              <a:rPr lang="en-US" sz="950" dirty="0">
                <a:solidFill>
                  <a:srgbClr val="FFFFFF"/>
                </a:solidFill>
              </a:rPr>
              <a:t>Sécurité des données utilisateurs</a:t>
            </a:r>
            <a:endParaRPr lang="en-US" sz="950" dirty="0"/>
          </a:p>
        </p:txBody>
      </p:sp>
      <p:sp>
        <p:nvSpPr>
          <p:cNvPr id="16" name="Shape 14"/>
          <p:cNvSpPr/>
          <p:nvPr/>
        </p:nvSpPr>
        <p:spPr>
          <a:xfrm>
            <a:off x="457200" y="3246120"/>
            <a:ext cx="3749040" cy="347472"/>
          </a:xfrm>
          <a:prstGeom prst="rect">
            <a:avLst/>
          </a:prstGeom>
          <a:solidFill>
            <a:srgbClr val="1E3A5F"/>
          </a:solidFill>
          <a:ln w="12700">
            <a:solidFill>
              <a:srgbClr val="1E3A5F"/>
            </a:solidFill>
            <a:prstDash val="solid"/>
          </a:ln>
        </p:spPr>
      </p:sp>
      <p:sp>
        <p:nvSpPr>
          <p:cNvPr id="17" name="Shape 15"/>
          <p:cNvSpPr/>
          <p:nvPr/>
        </p:nvSpPr>
        <p:spPr>
          <a:xfrm>
            <a:off x="457200" y="3246120"/>
            <a:ext cx="36576" cy="347472"/>
          </a:xfrm>
          <a:prstGeom prst="rect">
            <a:avLst/>
          </a:prstGeom>
          <a:solidFill>
            <a:srgbClr val="C4A34B"/>
          </a:solidFill>
          <a:ln w="12700">
            <a:solidFill>
              <a:srgbClr val="C4A34B"/>
            </a:solidFill>
            <a:prstDash val="solid"/>
          </a:ln>
        </p:spPr>
      </p:sp>
      <p:sp>
        <p:nvSpPr>
          <p:cNvPr id="18" name="Text 16"/>
          <p:cNvSpPr/>
          <p:nvPr/>
        </p:nvSpPr>
        <p:spPr>
          <a:xfrm>
            <a:off x="594360" y="3291840"/>
            <a:ext cx="3474720" cy="256032"/>
          </a:xfrm>
          <a:prstGeom prst="rect">
            <a:avLst/>
          </a:prstGeom>
          <a:noFill/>
          <a:ln/>
        </p:spPr>
        <p:txBody>
          <a:bodyPr wrap="square" rtlCol="0" anchor="ctr"/>
          <a:lstStyle/>
          <a:p>
            <a:pPr marL="0" indent="0">
              <a:buNone/>
            </a:pPr>
            <a:r>
              <a:rPr lang="en-US" sz="950" dirty="0">
                <a:solidFill>
                  <a:srgbClr val="FFFFFF"/>
                </a:solidFill>
              </a:rPr>
              <a:t>Gestion temps réel des stocks</a:t>
            </a:r>
            <a:endParaRPr lang="en-US" sz="950" dirty="0"/>
          </a:p>
        </p:txBody>
      </p:sp>
      <p:sp>
        <p:nvSpPr>
          <p:cNvPr id="19" name="Shape 17"/>
          <p:cNvSpPr/>
          <p:nvPr/>
        </p:nvSpPr>
        <p:spPr>
          <a:xfrm>
            <a:off x="457200" y="3657600"/>
            <a:ext cx="3749040" cy="347472"/>
          </a:xfrm>
          <a:prstGeom prst="rect">
            <a:avLst/>
          </a:prstGeom>
          <a:solidFill>
            <a:srgbClr val="1E3A5F"/>
          </a:solidFill>
          <a:ln w="12700">
            <a:solidFill>
              <a:srgbClr val="1E3A5F"/>
            </a:solidFill>
            <a:prstDash val="solid"/>
          </a:ln>
        </p:spPr>
      </p:sp>
      <p:sp>
        <p:nvSpPr>
          <p:cNvPr id="20" name="Shape 18"/>
          <p:cNvSpPr/>
          <p:nvPr/>
        </p:nvSpPr>
        <p:spPr>
          <a:xfrm>
            <a:off x="457200" y="3657600"/>
            <a:ext cx="36576" cy="347472"/>
          </a:xfrm>
          <a:prstGeom prst="rect">
            <a:avLst/>
          </a:prstGeom>
          <a:solidFill>
            <a:srgbClr val="C4A34B"/>
          </a:solidFill>
          <a:ln w="12700">
            <a:solidFill>
              <a:srgbClr val="C4A34B"/>
            </a:solidFill>
            <a:prstDash val="solid"/>
          </a:ln>
        </p:spPr>
      </p:sp>
      <p:sp>
        <p:nvSpPr>
          <p:cNvPr id="21" name="Text 19"/>
          <p:cNvSpPr/>
          <p:nvPr/>
        </p:nvSpPr>
        <p:spPr>
          <a:xfrm>
            <a:off x="594360" y="3703320"/>
            <a:ext cx="3474720" cy="256032"/>
          </a:xfrm>
          <a:prstGeom prst="rect">
            <a:avLst/>
          </a:prstGeom>
          <a:noFill/>
          <a:ln/>
        </p:spPr>
        <p:txBody>
          <a:bodyPr wrap="square" rtlCol="0" anchor="ctr"/>
          <a:lstStyle/>
          <a:p>
            <a:pPr marL="0" indent="0">
              <a:buNone/>
            </a:pPr>
            <a:r>
              <a:rPr lang="en-US" sz="950" dirty="0">
                <a:solidFill>
                  <a:srgbClr val="FFFFFF"/>
                </a:solidFill>
              </a:rPr>
              <a:t>Interface responsive multi-plateforme</a:t>
            </a:r>
            <a:endParaRPr lang="en-US" sz="950" dirty="0"/>
          </a:p>
        </p:txBody>
      </p:sp>
      <p:sp>
        <p:nvSpPr>
          <p:cNvPr id="22" name="Shape 20"/>
          <p:cNvSpPr/>
          <p:nvPr/>
        </p:nvSpPr>
        <p:spPr>
          <a:xfrm>
            <a:off x="457200" y="4069080"/>
            <a:ext cx="3749040" cy="347472"/>
          </a:xfrm>
          <a:prstGeom prst="rect">
            <a:avLst/>
          </a:prstGeom>
          <a:solidFill>
            <a:srgbClr val="1E3A5F"/>
          </a:solidFill>
          <a:ln w="12700">
            <a:solidFill>
              <a:srgbClr val="1E3A5F"/>
            </a:solidFill>
            <a:prstDash val="solid"/>
          </a:ln>
        </p:spPr>
      </p:sp>
      <p:sp>
        <p:nvSpPr>
          <p:cNvPr id="23" name="Shape 21"/>
          <p:cNvSpPr/>
          <p:nvPr/>
        </p:nvSpPr>
        <p:spPr>
          <a:xfrm>
            <a:off x="457200" y="4069080"/>
            <a:ext cx="36576" cy="347472"/>
          </a:xfrm>
          <a:prstGeom prst="rect">
            <a:avLst/>
          </a:prstGeom>
          <a:solidFill>
            <a:srgbClr val="C4A34B"/>
          </a:solidFill>
          <a:ln w="12700">
            <a:solidFill>
              <a:srgbClr val="C4A34B"/>
            </a:solidFill>
            <a:prstDash val="solid"/>
          </a:ln>
        </p:spPr>
      </p:sp>
      <p:sp>
        <p:nvSpPr>
          <p:cNvPr id="24" name="Text 22"/>
          <p:cNvSpPr/>
          <p:nvPr/>
        </p:nvSpPr>
        <p:spPr>
          <a:xfrm>
            <a:off x="594360" y="4114800"/>
            <a:ext cx="3474720" cy="256032"/>
          </a:xfrm>
          <a:prstGeom prst="rect">
            <a:avLst/>
          </a:prstGeom>
          <a:noFill/>
          <a:ln/>
        </p:spPr>
        <p:txBody>
          <a:bodyPr wrap="square" rtlCol="0" anchor="ctr"/>
          <a:lstStyle/>
          <a:p>
            <a:pPr marL="0" indent="0">
              <a:buNone/>
            </a:pPr>
            <a:r>
              <a:rPr lang="en-US" sz="950" dirty="0">
                <a:solidFill>
                  <a:srgbClr val="FFFFFF"/>
                </a:solidFill>
              </a:rPr>
              <a:t>Synchronisation panier &amp; commandes</a:t>
            </a:r>
            <a:endParaRPr lang="en-US" sz="950" dirty="0"/>
          </a:p>
        </p:txBody>
      </p:sp>
      <p:sp>
        <p:nvSpPr>
          <p:cNvPr id="25" name="Shape 23"/>
          <p:cNvSpPr/>
          <p:nvPr/>
        </p:nvSpPr>
        <p:spPr>
          <a:xfrm>
            <a:off x="4709160" y="1234440"/>
            <a:ext cx="4114800" cy="3657600"/>
          </a:xfrm>
          <a:prstGeom prst="rect">
            <a:avLst/>
          </a:prstGeom>
          <a:solidFill>
            <a:srgbClr val="FFFFFF"/>
          </a:solidFill>
          <a:ln w="6350">
            <a:solidFill>
              <a:srgbClr val="DDDDDD"/>
            </a:solidFill>
            <a:prstDash val="solid"/>
          </a:ln>
          <a:effectLst>
            <a:outerShdw blurRad="101600" dist="38100" dir="8100000" algn="bl" rotWithShape="0">
              <a:srgbClr val="000000">
                <a:alpha val="18000"/>
              </a:srgbClr>
            </a:outerShdw>
          </a:effectLst>
        </p:spPr>
      </p:sp>
      <p:sp>
        <p:nvSpPr>
          <p:cNvPr id="26" name="Shape 24"/>
          <p:cNvSpPr/>
          <p:nvPr/>
        </p:nvSpPr>
        <p:spPr>
          <a:xfrm>
            <a:off x="4709160" y="1234440"/>
            <a:ext cx="4114800" cy="54864"/>
          </a:xfrm>
          <a:prstGeom prst="rect">
            <a:avLst/>
          </a:prstGeom>
          <a:solidFill>
            <a:srgbClr val="C4A34B"/>
          </a:solidFill>
          <a:ln w="12700">
            <a:solidFill>
              <a:srgbClr val="C4A34B"/>
            </a:solidFill>
            <a:prstDash val="solid"/>
          </a:ln>
        </p:spPr>
      </p:sp>
      <p:sp>
        <p:nvSpPr>
          <p:cNvPr id="27" name="Text 25"/>
          <p:cNvSpPr/>
          <p:nvPr/>
        </p:nvSpPr>
        <p:spPr>
          <a:xfrm>
            <a:off x="4892040" y="1371600"/>
            <a:ext cx="3749040" cy="320040"/>
          </a:xfrm>
          <a:prstGeom prst="rect">
            <a:avLst/>
          </a:prstGeom>
          <a:noFill/>
          <a:ln/>
        </p:spPr>
        <p:txBody>
          <a:bodyPr wrap="square" rtlCol="0" anchor="ctr"/>
          <a:lstStyle/>
          <a:p>
            <a:pPr marL="0" indent="0">
              <a:buNone/>
            </a:pPr>
            <a:r>
              <a:rPr lang="en-US" sz="1400" b="1" dirty="0">
                <a:solidFill>
                  <a:srgbClr val="0D1B2E"/>
                </a:solidFill>
              </a:rPr>
              <a:t>Solution ShopFlow</a:t>
            </a:r>
            <a:endParaRPr lang="en-US" sz="1400" dirty="0"/>
          </a:p>
        </p:txBody>
      </p:sp>
      <p:sp>
        <p:nvSpPr>
          <p:cNvPr id="28" name="Text 26"/>
          <p:cNvSpPr/>
          <p:nvPr/>
        </p:nvSpPr>
        <p:spPr>
          <a:xfrm>
            <a:off x="4892040" y="1783080"/>
            <a:ext cx="3749040" cy="640080"/>
          </a:xfrm>
          <a:prstGeom prst="rect">
            <a:avLst/>
          </a:prstGeom>
          <a:noFill/>
          <a:ln/>
        </p:spPr>
        <p:txBody>
          <a:bodyPr wrap="square" rtlCol="0" anchor="ctr"/>
          <a:lstStyle/>
          <a:p>
            <a:pPr marL="0" indent="0">
              <a:buNone/>
            </a:pPr>
            <a:r>
              <a:rPr lang="en-US" sz="1000" dirty="0">
                <a:solidFill>
                  <a:srgbClr val="4A6080"/>
                </a:solidFill>
              </a:rPr>
              <a:t>Le projet ShopFlow a été développé comme une</a:t>
            </a:r>
            <a:endParaRPr lang="en-US" sz="1000" dirty="0"/>
          </a:p>
          <a:p>
            <a:pPr marL="0" indent="0">
              <a:buNone/>
            </a:pPr>
            <a:r>
              <a:rPr lang="en-US" sz="1000" dirty="0">
                <a:solidFill>
                  <a:srgbClr val="4A6080"/>
                </a:solidFill>
              </a:rPr>
              <a:t>application e-commerce complète visant à répondre</a:t>
            </a:r>
            <a:endParaRPr lang="en-US" sz="1000" dirty="0"/>
          </a:p>
          <a:p>
            <a:pPr marL="0" indent="0">
              <a:buNone/>
            </a:pPr>
            <a:r>
              <a:rPr lang="en-US" sz="1000" dirty="0">
                <a:solidFill>
                  <a:srgbClr val="4A6080"/>
                </a:solidFill>
              </a:rPr>
              <a:t>à ces problématiques.</a:t>
            </a:r>
            <a:endParaRPr lang="en-US" sz="1000" dirty="0"/>
          </a:p>
        </p:txBody>
      </p:sp>
      <p:sp>
        <p:nvSpPr>
          <p:cNvPr id="29" name="Shape 27"/>
          <p:cNvSpPr/>
          <p:nvPr/>
        </p:nvSpPr>
        <p:spPr>
          <a:xfrm>
            <a:off x="4892040" y="2560320"/>
            <a:ext cx="3749040" cy="1005840"/>
          </a:xfrm>
          <a:prstGeom prst="rect">
            <a:avLst/>
          </a:prstGeom>
          <a:solidFill>
            <a:srgbClr val="E8EFF8"/>
          </a:solidFill>
          <a:ln w="6350">
            <a:solidFill>
              <a:srgbClr val="BBCCDD"/>
            </a:solidFill>
            <a:prstDash val="solid"/>
          </a:ln>
        </p:spPr>
      </p:sp>
      <p:sp>
        <p:nvSpPr>
          <p:cNvPr id="30" name="Shape 28"/>
          <p:cNvSpPr/>
          <p:nvPr/>
        </p:nvSpPr>
        <p:spPr>
          <a:xfrm>
            <a:off x="4892040" y="2560320"/>
            <a:ext cx="45720" cy="1005840"/>
          </a:xfrm>
          <a:prstGeom prst="rect">
            <a:avLst/>
          </a:prstGeom>
          <a:solidFill>
            <a:srgbClr val="2C4A7A"/>
          </a:solidFill>
          <a:ln w="12700">
            <a:solidFill>
              <a:srgbClr val="2C4A7A"/>
            </a:solidFill>
            <a:prstDash val="solid"/>
          </a:ln>
        </p:spPr>
      </p:sp>
      <p:sp>
        <p:nvSpPr>
          <p:cNvPr id="31" name="Text 29"/>
          <p:cNvSpPr/>
          <p:nvPr/>
        </p:nvSpPr>
        <p:spPr>
          <a:xfrm>
            <a:off x="5029200" y="2624328"/>
            <a:ext cx="3383280" cy="274320"/>
          </a:xfrm>
          <a:prstGeom prst="rect">
            <a:avLst/>
          </a:prstGeom>
          <a:noFill/>
          <a:ln/>
        </p:spPr>
        <p:txBody>
          <a:bodyPr wrap="square" rtlCol="0" anchor="ctr"/>
          <a:lstStyle/>
          <a:p>
            <a:pPr marL="0" indent="0">
              <a:buNone/>
            </a:pPr>
            <a:r>
              <a:rPr lang="en-US" sz="1100" b="1" dirty="0">
                <a:solidFill>
                  <a:srgbClr val="0D1B2E"/>
                </a:solidFill>
              </a:rPr>
              <a:t>SELLER</a:t>
            </a:r>
            <a:endParaRPr lang="en-US" sz="1100" dirty="0"/>
          </a:p>
        </p:txBody>
      </p:sp>
      <p:sp>
        <p:nvSpPr>
          <p:cNvPr id="32" name="Text 30"/>
          <p:cNvSpPr/>
          <p:nvPr/>
        </p:nvSpPr>
        <p:spPr>
          <a:xfrm>
            <a:off x="5029200" y="2907792"/>
            <a:ext cx="3383280" cy="502920"/>
          </a:xfrm>
          <a:prstGeom prst="rect">
            <a:avLst/>
          </a:prstGeom>
          <a:noFill/>
          <a:ln/>
        </p:spPr>
        <p:txBody>
          <a:bodyPr wrap="square" rtlCol="0" anchor="ctr"/>
          <a:lstStyle/>
          <a:p>
            <a:pPr marL="0" indent="0">
              <a:buNone/>
            </a:pPr>
            <a:r>
              <a:rPr lang="en-US" sz="950" dirty="0">
                <a:solidFill>
                  <a:srgbClr val="4A6080"/>
                </a:solidFill>
              </a:rPr>
              <a:t>Boutique  ·  Produits  ·  Commandes reçues</a:t>
            </a:r>
            <a:endParaRPr lang="en-US" sz="950" dirty="0"/>
          </a:p>
        </p:txBody>
      </p:sp>
      <p:sp>
        <p:nvSpPr>
          <p:cNvPr id="33" name="Shape 31"/>
          <p:cNvSpPr/>
          <p:nvPr/>
        </p:nvSpPr>
        <p:spPr>
          <a:xfrm>
            <a:off x="4892040" y="3703320"/>
            <a:ext cx="3749040" cy="1005840"/>
          </a:xfrm>
          <a:prstGeom prst="rect">
            <a:avLst/>
          </a:prstGeom>
          <a:solidFill>
            <a:srgbClr val="E8F5ED"/>
          </a:solidFill>
          <a:ln w="6350">
            <a:solidFill>
              <a:srgbClr val="BBDDCC"/>
            </a:solidFill>
            <a:prstDash val="solid"/>
          </a:ln>
        </p:spPr>
      </p:sp>
      <p:sp>
        <p:nvSpPr>
          <p:cNvPr id="34" name="Shape 32"/>
          <p:cNvSpPr/>
          <p:nvPr/>
        </p:nvSpPr>
        <p:spPr>
          <a:xfrm>
            <a:off x="4892040" y="3703320"/>
            <a:ext cx="45720" cy="1005840"/>
          </a:xfrm>
          <a:prstGeom prst="rect">
            <a:avLst/>
          </a:prstGeom>
          <a:solidFill>
            <a:srgbClr val="2E7D52"/>
          </a:solidFill>
          <a:ln w="12700">
            <a:solidFill>
              <a:srgbClr val="2E7D52"/>
            </a:solidFill>
            <a:prstDash val="solid"/>
          </a:ln>
        </p:spPr>
      </p:sp>
      <p:sp>
        <p:nvSpPr>
          <p:cNvPr id="35" name="Text 33"/>
          <p:cNvSpPr/>
          <p:nvPr/>
        </p:nvSpPr>
        <p:spPr>
          <a:xfrm>
            <a:off x="5029200" y="3767328"/>
            <a:ext cx="3383280" cy="274320"/>
          </a:xfrm>
          <a:prstGeom prst="rect">
            <a:avLst/>
          </a:prstGeom>
          <a:noFill/>
          <a:ln/>
        </p:spPr>
        <p:txBody>
          <a:bodyPr wrap="square" rtlCol="0" anchor="ctr"/>
          <a:lstStyle/>
          <a:p>
            <a:pPr marL="0" indent="0">
              <a:buNone/>
            </a:pPr>
            <a:r>
              <a:rPr lang="en-US" sz="1100" b="1" dirty="0">
                <a:solidFill>
                  <a:srgbClr val="0D1B2E"/>
                </a:solidFill>
              </a:rPr>
              <a:t>CUSTOMER</a:t>
            </a:r>
            <a:endParaRPr lang="en-US" sz="1100" dirty="0"/>
          </a:p>
        </p:txBody>
      </p:sp>
      <p:sp>
        <p:nvSpPr>
          <p:cNvPr id="36" name="Text 34"/>
          <p:cNvSpPr/>
          <p:nvPr/>
        </p:nvSpPr>
        <p:spPr>
          <a:xfrm>
            <a:off x="5029200" y="4050792"/>
            <a:ext cx="3383280" cy="502920"/>
          </a:xfrm>
          <a:prstGeom prst="rect">
            <a:avLst/>
          </a:prstGeom>
          <a:noFill/>
          <a:ln/>
        </p:spPr>
        <p:txBody>
          <a:bodyPr wrap="square" rtlCol="0" anchor="ctr"/>
          <a:lstStyle/>
          <a:p>
            <a:pPr marL="0" indent="0">
              <a:buNone/>
            </a:pPr>
            <a:r>
              <a:rPr lang="en-US" sz="950" dirty="0">
                <a:solidFill>
                  <a:srgbClr val="4A6080"/>
                </a:solidFill>
              </a:rPr>
              <a:t>Catalogue  ·  Panier  ·  Suivi commandes</a:t>
            </a:r>
            <a:endParaRPr lang="en-US" sz="950" dirty="0"/>
          </a:p>
        </p:txBody>
      </p:sp>
      <p:sp>
        <p:nvSpPr>
          <p:cNvPr id="37" name="Text 35"/>
          <p:cNvSpPr/>
          <p:nvPr/>
        </p:nvSpPr>
        <p:spPr>
          <a:xfrm>
            <a:off x="8778240" y="4846320"/>
            <a:ext cx="274320" cy="182880"/>
          </a:xfrm>
          <a:prstGeom prst="rect">
            <a:avLst/>
          </a:prstGeom>
          <a:noFill/>
          <a:ln/>
        </p:spPr>
        <p:txBody>
          <a:bodyPr wrap="square" rtlCol="0" anchor="ctr"/>
          <a:lstStyle/>
          <a:p>
            <a:pPr marL="0" indent="0" algn="r">
              <a:buNone/>
            </a:pPr>
            <a:r>
              <a:rPr lang="en-US" sz="900" dirty="0">
                <a:solidFill>
                  <a:srgbClr val="A0B4C8"/>
                </a:solidFill>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594360" cy="5143500"/>
          </a:xfrm>
          <a:prstGeom prst="rect">
            <a:avLst/>
          </a:prstGeom>
          <a:solidFill>
            <a:srgbClr val="0D1B2E"/>
          </a:solidFill>
          <a:ln w="12700">
            <a:solidFill>
              <a:srgbClr val="0D1B2E"/>
            </a:solidFill>
            <a:prstDash val="solid"/>
          </a:ln>
        </p:spPr>
      </p:sp>
      <p:sp>
        <p:nvSpPr>
          <p:cNvPr id="3" name="Text 1"/>
          <p:cNvSpPr/>
          <p:nvPr/>
        </p:nvSpPr>
        <p:spPr>
          <a:xfrm>
            <a:off x="0" y="1371600"/>
            <a:ext cx="594360" cy="365760"/>
          </a:xfrm>
          <a:prstGeom prst="rect">
            <a:avLst/>
          </a:prstGeom>
          <a:noFill/>
          <a:ln/>
        </p:spPr>
        <p:txBody>
          <a:bodyPr wrap="square" rtlCol="0" anchor="ctr"/>
          <a:lstStyle/>
          <a:p>
            <a:pPr marL="0" indent="0" algn="ctr">
              <a:buNone/>
            </a:pPr>
            <a:r>
              <a:rPr lang="en-US" sz="1800" b="1" dirty="0">
                <a:solidFill>
                  <a:srgbClr val="C4A34B"/>
                </a:solidFill>
              </a:rPr>
              <a:t>0</a:t>
            </a:r>
            <a:endParaRPr lang="en-US" sz="1800" dirty="0"/>
          </a:p>
        </p:txBody>
      </p:sp>
      <p:sp>
        <p:nvSpPr>
          <p:cNvPr id="4" name="Text 2"/>
          <p:cNvSpPr/>
          <p:nvPr/>
        </p:nvSpPr>
        <p:spPr>
          <a:xfrm>
            <a:off x="0" y="1737360"/>
            <a:ext cx="594360" cy="365760"/>
          </a:xfrm>
          <a:prstGeom prst="rect">
            <a:avLst/>
          </a:prstGeom>
          <a:noFill/>
          <a:ln/>
        </p:spPr>
        <p:txBody>
          <a:bodyPr wrap="square" rtlCol="0" anchor="ctr"/>
          <a:lstStyle/>
          <a:p>
            <a:pPr marL="0" indent="0" algn="ctr">
              <a:buNone/>
            </a:pPr>
            <a:r>
              <a:rPr lang="en-US" sz="1800" b="1" dirty="0">
                <a:solidFill>
                  <a:srgbClr val="C4A34B"/>
                </a:solidFill>
              </a:rPr>
              <a:t>2</a:t>
            </a:r>
            <a:endParaRPr lang="en-US" sz="1800" dirty="0"/>
          </a:p>
        </p:txBody>
      </p:sp>
      <p:sp>
        <p:nvSpPr>
          <p:cNvPr id="5" name="Shape 3"/>
          <p:cNvSpPr/>
          <p:nvPr/>
        </p:nvSpPr>
        <p:spPr>
          <a:xfrm>
            <a:off x="594360" y="0"/>
            <a:ext cx="8549640" cy="1005840"/>
          </a:xfrm>
          <a:prstGeom prst="rect">
            <a:avLst/>
          </a:prstGeom>
          <a:solidFill>
            <a:srgbClr val="0D1B2E"/>
          </a:solidFill>
          <a:ln w="12700">
            <a:solidFill>
              <a:srgbClr val="0D1B2E"/>
            </a:solidFill>
            <a:prstDash val="solid"/>
          </a:ln>
        </p:spPr>
      </p:sp>
      <p:sp>
        <p:nvSpPr>
          <p:cNvPr id="6" name="Shape 4"/>
          <p:cNvSpPr/>
          <p:nvPr/>
        </p:nvSpPr>
        <p:spPr>
          <a:xfrm>
            <a:off x="594360" y="1005840"/>
            <a:ext cx="8549640" cy="45720"/>
          </a:xfrm>
          <a:prstGeom prst="rect">
            <a:avLst/>
          </a:prstGeom>
          <a:solidFill>
            <a:srgbClr val="C4A34B"/>
          </a:solidFill>
          <a:ln w="12700">
            <a:solidFill>
              <a:srgbClr val="C4A34B"/>
            </a:solidFill>
            <a:prstDash val="solid"/>
          </a:ln>
        </p:spPr>
      </p:sp>
      <p:sp>
        <p:nvSpPr>
          <p:cNvPr id="7" name="Text 5"/>
          <p:cNvSpPr/>
          <p:nvPr/>
        </p:nvSpPr>
        <p:spPr>
          <a:xfrm>
            <a:off x="777240" y="109728"/>
            <a:ext cx="8046720" cy="47548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Architecture Technique</a:t>
            </a:r>
            <a:endParaRPr lang="en-US" sz="2600" dirty="0"/>
          </a:p>
        </p:txBody>
      </p:sp>
      <p:sp>
        <p:nvSpPr>
          <p:cNvPr id="8" name="Text 6"/>
          <p:cNvSpPr/>
          <p:nvPr/>
        </p:nvSpPr>
        <p:spPr>
          <a:xfrm>
            <a:off x="777240" y="621792"/>
            <a:ext cx="8046720" cy="274320"/>
          </a:xfrm>
          <a:prstGeom prst="rect">
            <a:avLst/>
          </a:prstGeom>
          <a:noFill/>
          <a:ln/>
        </p:spPr>
        <p:txBody>
          <a:bodyPr wrap="square" rtlCol="0" anchor="ctr"/>
          <a:lstStyle/>
          <a:p>
            <a:pPr marL="0" indent="0">
              <a:buNone/>
            </a:pPr>
            <a:r>
              <a:rPr lang="en-US" sz="1000" i="1" dirty="0">
                <a:solidFill>
                  <a:srgbClr val="A0B4C8"/>
                </a:solidFill>
              </a:rPr>
              <a:t>Stack · Couches applicatives · Flux de données</a:t>
            </a:r>
            <a:endParaRPr lang="en-US" sz="1000" dirty="0"/>
          </a:p>
        </p:txBody>
      </p:sp>
      <p:sp>
        <p:nvSpPr>
          <p:cNvPr id="9" name="Shape 7"/>
          <p:cNvSpPr/>
          <p:nvPr/>
        </p:nvSpPr>
        <p:spPr>
          <a:xfrm>
            <a:off x="8503920" y="1188720"/>
            <a:ext cx="594360" cy="3657600"/>
          </a:xfrm>
          <a:prstGeom prst="rect">
            <a:avLst/>
          </a:prstGeom>
          <a:solidFill>
            <a:srgbClr val="5B4FCF"/>
          </a:solidFill>
          <a:ln w="12700">
            <a:solidFill>
              <a:srgbClr val="5B4FCF"/>
            </a:solidFill>
            <a:prstDash val="solid"/>
          </a:ln>
        </p:spPr>
      </p:sp>
      <p:sp>
        <p:nvSpPr>
          <p:cNvPr id="10" name="Text 8"/>
          <p:cNvSpPr/>
          <p:nvPr/>
        </p:nvSpPr>
        <p:spPr>
          <a:xfrm rot="16200000">
            <a:off x="8503920" y="1188720"/>
            <a:ext cx="594360" cy="3657600"/>
          </a:xfrm>
          <a:prstGeom prst="rect">
            <a:avLst/>
          </a:prstGeom>
          <a:noFill/>
          <a:ln/>
        </p:spPr>
        <p:txBody>
          <a:bodyPr wrap="square" rtlCol="0" anchor="ctr"/>
          <a:lstStyle/>
          <a:p>
            <a:pPr marL="0" indent="0" algn="ctr">
              <a:buNone/>
            </a:pPr>
            <a:r>
              <a:rPr lang="en-US" sz="800" b="1" dirty="0">
                <a:solidFill>
                  <a:srgbClr val="FFFFFF"/>
                </a:solidFill>
              </a:rPr>
              <a:t>Spring Security 6 + JWT</a:t>
            </a:r>
            <a:endParaRPr lang="en-US" sz="800" dirty="0"/>
          </a:p>
        </p:txBody>
      </p:sp>
      <p:sp>
        <p:nvSpPr>
          <p:cNvPr id="11" name="Shape 9"/>
          <p:cNvSpPr/>
          <p:nvPr/>
        </p:nvSpPr>
        <p:spPr>
          <a:xfrm>
            <a:off x="685800" y="1170432"/>
            <a:ext cx="7726680" cy="640080"/>
          </a:xfrm>
          <a:prstGeom prst="rect">
            <a:avLst/>
          </a:prstGeom>
          <a:solidFill>
            <a:srgbClr val="7B68EE"/>
          </a:solidFill>
          <a:ln w="12700">
            <a:solidFill>
              <a:srgbClr val="7B68EE"/>
            </a:solidFill>
            <a:prstDash val="solid"/>
          </a:ln>
        </p:spPr>
      </p:sp>
      <p:sp>
        <p:nvSpPr>
          <p:cNvPr id="12" name="Text 10"/>
          <p:cNvSpPr/>
          <p:nvPr/>
        </p:nvSpPr>
        <p:spPr>
          <a:xfrm>
            <a:off x="868680" y="1216152"/>
            <a:ext cx="594360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CLIENT — Navigateur Web</a:t>
            </a:r>
            <a:endParaRPr lang="en-US" sz="1100" dirty="0"/>
          </a:p>
        </p:txBody>
      </p:sp>
      <p:sp>
        <p:nvSpPr>
          <p:cNvPr id="13" name="Text 11"/>
          <p:cNvSpPr/>
          <p:nvPr/>
        </p:nvSpPr>
        <p:spPr>
          <a:xfrm>
            <a:off x="868680" y="1499616"/>
            <a:ext cx="6400800" cy="228600"/>
          </a:xfrm>
          <a:prstGeom prst="rect">
            <a:avLst/>
          </a:prstGeom>
          <a:noFill/>
          <a:ln/>
        </p:spPr>
        <p:txBody>
          <a:bodyPr wrap="square" rtlCol="0" anchor="ctr"/>
          <a:lstStyle/>
          <a:p>
            <a:pPr marL="0" indent="0">
              <a:buNone/>
            </a:pPr>
            <a:r>
              <a:rPr lang="en-US" sz="850" dirty="0">
                <a:solidFill>
                  <a:srgbClr val="CCDDEE"/>
                </a:solidFill>
              </a:rPr>
              <a:t>Next.js App Router  ·  SSR + Client Components  ·  CSS Global</a:t>
            </a:r>
            <a:endParaRPr lang="en-US" sz="850" dirty="0"/>
          </a:p>
        </p:txBody>
      </p:sp>
      <p:sp>
        <p:nvSpPr>
          <p:cNvPr id="14" name="Shape 12"/>
          <p:cNvSpPr/>
          <p:nvPr/>
        </p:nvSpPr>
        <p:spPr>
          <a:xfrm>
            <a:off x="4297680" y="1810512"/>
            <a:ext cx="54864" cy="91440"/>
          </a:xfrm>
          <a:prstGeom prst="rect">
            <a:avLst/>
          </a:prstGeom>
          <a:solidFill>
            <a:srgbClr val="C4A34B"/>
          </a:solidFill>
          <a:ln w="12700">
            <a:solidFill>
              <a:srgbClr val="C4A34B"/>
            </a:solidFill>
            <a:prstDash val="solid"/>
          </a:ln>
        </p:spPr>
      </p:sp>
      <p:sp>
        <p:nvSpPr>
          <p:cNvPr id="15" name="Shape 13"/>
          <p:cNvSpPr/>
          <p:nvPr/>
        </p:nvSpPr>
        <p:spPr>
          <a:xfrm>
            <a:off x="1005840" y="1901952"/>
            <a:ext cx="7086600" cy="640080"/>
          </a:xfrm>
          <a:prstGeom prst="rect">
            <a:avLst/>
          </a:prstGeom>
          <a:solidFill>
            <a:srgbClr val="3A7BD5"/>
          </a:solidFill>
          <a:ln w="12700">
            <a:solidFill>
              <a:srgbClr val="3A7BD5"/>
            </a:solidFill>
            <a:prstDash val="solid"/>
          </a:ln>
        </p:spPr>
      </p:sp>
      <p:sp>
        <p:nvSpPr>
          <p:cNvPr id="16" name="Text 14"/>
          <p:cNvSpPr/>
          <p:nvPr/>
        </p:nvSpPr>
        <p:spPr>
          <a:xfrm>
            <a:off x="1188720" y="1947672"/>
            <a:ext cx="594360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CONTRÔLEUR — API REST</a:t>
            </a:r>
            <a:endParaRPr lang="en-US" sz="1100" dirty="0"/>
          </a:p>
        </p:txBody>
      </p:sp>
      <p:sp>
        <p:nvSpPr>
          <p:cNvPr id="17" name="Text 15"/>
          <p:cNvSpPr/>
          <p:nvPr/>
        </p:nvSpPr>
        <p:spPr>
          <a:xfrm>
            <a:off x="1188720" y="2231136"/>
            <a:ext cx="6400800" cy="228600"/>
          </a:xfrm>
          <a:prstGeom prst="rect">
            <a:avLst/>
          </a:prstGeom>
          <a:noFill/>
          <a:ln/>
        </p:spPr>
        <p:txBody>
          <a:bodyPr wrap="square" rtlCol="0" anchor="ctr"/>
          <a:lstStyle/>
          <a:p>
            <a:pPr marL="0" indent="0">
              <a:buNone/>
            </a:pPr>
            <a:r>
              <a:rPr lang="en-US" sz="850" dirty="0">
                <a:solidFill>
                  <a:srgbClr val="CCDDEE"/>
                </a:solidFill>
              </a:rPr>
              <a:t>Spring MVC  ·  @RestController  ·  DTOs  ·  Validation @Valid  ·  Codes HTTP</a:t>
            </a:r>
            <a:endParaRPr lang="en-US" sz="850" dirty="0"/>
          </a:p>
        </p:txBody>
      </p:sp>
      <p:sp>
        <p:nvSpPr>
          <p:cNvPr id="18" name="Shape 16"/>
          <p:cNvSpPr/>
          <p:nvPr/>
        </p:nvSpPr>
        <p:spPr>
          <a:xfrm>
            <a:off x="4297680" y="2542032"/>
            <a:ext cx="54864" cy="91440"/>
          </a:xfrm>
          <a:prstGeom prst="rect">
            <a:avLst/>
          </a:prstGeom>
          <a:solidFill>
            <a:srgbClr val="C4A34B"/>
          </a:solidFill>
          <a:ln w="12700">
            <a:solidFill>
              <a:srgbClr val="C4A34B"/>
            </a:solidFill>
            <a:prstDash val="solid"/>
          </a:ln>
        </p:spPr>
      </p:sp>
      <p:sp>
        <p:nvSpPr>
          <p:cNvPr id="19" name="Shape 17"/>
          <p:cNvSpPr/>
          <p:nvPr/>
        </p:nvSpPr>
        <p:spPr>
          <a:xfrm>
            <a:off x="1325880" y="2633472"/>
            <a:ext cx="6446520" cy="640080"/>
          </a:xfrm>
          <a:prstGeom prst="rect">
            <a:avLst/>
          </a:prstGeom>
          <a:solidFill>
            <a:srgbClr val="3A9E6E"/>
          </a:solidFill>
          <a:ln w="12700">
            <a:solidFill>
              <a:srgbClr val="3A9E6E"/>
            </a:solidFill>
            <a:prstDash val="solid"/>
          </a:ln>
        </p:spPr>
      </p:sp>
      <p:sp>
        <p:nvSpPr>
          <p:cNvPr id="20" name="Text 18"/>
          <p:cNvSpPr/>
          <p:nvPr/>
        </p:nvSpPr>
        <p:spPr>
          <a:xfrm>
            <a:off x="1508760" y="2679192"/>
            <a:ext cx="594360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SERVICE — Logique Métier</a:t>
            </a:r>
            <a:endParaRPr lang="en-US" sz="1100" dirty="0"/>
          </a:p>
        </p:txBody>
      </p:sp>
      <p:sp>
        <p:nvSpPr>
          <p:cNvPr id="21" name="Text 19"/>
          <p:cNvSpPr/>
          <p:nvPr/>
        </p:nvSpPr>
        <p:spPr>
          <a:xfrm>
            <a:off x="1508760" y="2962656"/>
            <a:ext cx="6400800" cy="228600"/>
          </a:xfrm>
          <a:prstGeom prst="rect">
            <a:avLst/>
          </a:prstGeom>
          <a:noFill/>
          <a:ln/>
        </p:spPr>
        <p:txBody>
          <a:bodyPr wrap="square" rtlCol="0" anchor="ctr"/>
          <a:lstStyle/>
          <a:p>
            <a:pPr marL="0" indent="0">
              <a:buNone/>
            </a:pPr>
            <a:r>
              <a:rPr lang="en-US" sz="850" dirty="0">
                <a:solidFill>
                  <a:srgbClr val="CCDDEE"/>
                </a:solidFill>
              </a:rPr>
              <a:t>Règles commandes  ·  Stock  ·  Coupons  ·  @Transactional</a:t>
            </a:r>
            <a:endParaRPr lang="en-US" sz="850" dirty="0"/>
          </a:p>
        </p:txBody>
      </p:sp>
      <p:sp>
        <p:nvSpPr>
          <p:cNvPr id="22" name="Shape 20"/>
          <p:cNvSpPr/>
          <p:nvPr/>
        </p:nvSpPr>
        <p:spPr>
          <a:xfrm>
            <a:off x="4297680" y="3273552"/>
            <a:ext cx="54864" cy="91440"/>
          </a:xfrm>
          <a:prstGeom prst="rect">
            <a:avLst/>
          </a:prstGeom>
          <a:solidFill>
            <a:srgbClr val="C4A34B"/>
          </a:solidFill>
          <a:ln w="12700">
            <a:solidFill>
              <a:srgbClr val="C4A34B"/>
            </a:solidFill>
            <a:prstDash val="solid"/>
          </a:ln>
        </p:spPr>
      </p:sp>
      <p:sp>
        <p:nvSpPr>
          <p:cNvPr id="23" name="Shape 21"/>
          <p:cNvSpPr/>
          <p:nvPr/>
        </p:nvSpPr>
        <p:spPr>
          <a:xfrm>
            <a:off x="1645920" y="3364992"/>
            <a:ext cx="5806440" cy="640080"/>
          </a:xfrm>
          <a:prstGeom prst="rect">
            <a:avLst/>
          </a:prstGeom>
          <a:solidFill>
            <a:srgbClr val="7B5EA8"/>
          </a:solidFill>
          <a:ln w="12700">
            <a:solidFill>
              <a:srgbClr val="7B5EA8"/>
            </a:solidFill>
            <a:prstDash val="solid"/>
          </a:ln>
        </p:spPr>
      </p:sp>
      <p:sp>
        <p:nvSpPr>
          <p:cNvPr id="24" name="Text 22"/>
          <p:cNvSpPr/>
          <p:nvPr/>
        </p:nvSpPr>
        <p:spPr>
          <a:xfrm>
            <a:off x="1828800" y="3410712"/>
            <a:ext cx="594360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REPOSITORY — Accès Données</a:t>
            </a:r>
            <a:endParaRPr lang="en-US" sz="1100" dirty="0"/>
          </a:p>
        </p:txBody>
      </p:sp>
      <p:sp>
        <p:nvSpPr>
          <p:cNvPr id="25" name="Text 23"/>
          <p:cNvSpPr/>
          <p:nvPr/>
        </p:nvSpPr>
        <p:spPr>
          <a:xfrm>
            <a:off x="1828800" y="3694176"/>
            <a:ext cx="6400800" cy="228600"/>
          </a:xfrm>
          <a:prstGeom prst="rect">
            <a:avLst/>
          </a:prstGeom>
          <a:noFill/>
          <a:ln/>
        </p:spPr>
        <p:txBody>
          <a:bodyPr wrap="square" rtlCol="0" anchor="ctr"/>
          <a:lstStyle/>
          <a:p>
            <a:pPr marL="0" indent="0">
              <a:buNone/>
            </a:pPr>
            <a:r>
              <a:rPr lang="en-US" sz="850" dirty="0">
                <a:solidFill>
                  <a:srgbClr val="CCDDEE"/>
                </a:solidFill>
              </a:rPr>
              <a:t>Spring Data JPA  ·  JPQL  ·  Specifications  ·  Pageable</a:t>
            </a:r>
            <a:endParaRPr lang="en-US" sz="850" dirty="0"/>
          </a:p>
        </p:txBody>
      </p:sp>
      <p:sp>
        <p:nvSpPr>
          <p:cNvPr id="26" name="Shape 24"/>
          <p:cNvSpPr/>
          <p:nvPr/>
        </p:nvSpPr>
        <p:spPr>
          <a:xfrm>
            <a:off x="4297680" y="4005072"/>
            <a:ext cx="54864" cy="91440"/>
          </a:xfrm>
          <a:prstGeom prst="rect">
            <a:avLst/>
          </a:prstGeom>
          <a:solidFill>
            <a:srgbClr val="C4A34B"/>
          </a:solidFill>
          <a:ln w="12700">
            <a:solidFill>
              <a:srgbClr val="C4A34B"/>
            </a:solidFill>
            <a:prstDash val="solid"/>
          </a:ln>
        </p:spPr>
      </p:sp>
      <p:sp>
        <p:nvSpPr>
          <p:cNvPr id="27" name="Shape 25"/>
          <p:cNvSpPr/>
          <p:nvPr/>
        </p:nvSpPr>
        <p:spPr>
          <a:xfrm>
            <a:off x="1965960" y="4096512"/>
            <a:ext cx="5166360" cy="640080"/>
          </a:xfrm>
          <a:prstGeom prst="rect">
            <a:avLst/>
          </a:prstGeom>
          <a:solidFill>
            <a:srgbClr val="6E6E6E"/>
          </a:solidFill>
          <a:ln w="12700">
            <a:solidFill>
              <a:srgbClr val="6E6E6E"/>
            </a:solidFill>
            <a:prstDash val="solid"/>
          </a:ln>
        </p:spPr>
      </p:sp>
      <p:sp>
        <p:nvSpPr>
          <p:cNvPr id="28" name="Text 26"/>
          <p:cNvSpPr/>
          <p:nvPr/>
        </p:nvSpPr>
        <p:spPr>
          <a:xfrm>
            <a:off x="2148840" y="4142232"/>
            <a:ext cx="594360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BASE DE DONNÉES</a:t>
            </a:r>
            <a:endParaRPr lang="en-US" sz="1100" dirty="0"/>
          </a:p>
        </p:txBody>
      </p:sp>
      <p:sp>
        <p:nvSpPr>
          <p:cNvPr id="29" name="Text 27"/>
          <p:cNvSpPr/>
          <p:nvPr/>
        </p:nvSpPr>
        <p:spPr>
          <a:xfrm>
            <a:off x="2148840" y="4425696"/>
            <a:ext cx="6400800" cy="228600"/>
          </a:xfrm>
          <a:prstGeom prst="rect">
            <a:avLst/>
          </a:prstGeom>
          <a:noFill/>
          <a:ln/>
        </p:spPr>
        <p:txBody>
          <a:bodyPr wrap="square" rtlCol="0" anchor="ctr"/>
          <a:lstStyle/>
          <a:p>
            <a:pPr marL="0" indent="0">
              <a:buNone/>
            </a:pPr>
            <a:r>
              <a:rPr lang="en-US" sz="850" dirty="0">
                <a:solidFill>
                  <a:srgbClr val="CCDDEE"/>
                </a:solidFill>
              </a:rPr>
              <a:t>H2 (développement)  ·  PostgreSQL (production)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594360" cy="5143500"/>
          </a:xfrm>
          <a:prstGeom prst="rect">
            <a:avLst/>
          </a:prstGeom>
          <a:solidFill>
            <a:srgbClr val="0D1B2E"/>
          </a:solidFill>
          <a:ln w="12700">
            <a:solidFill>
              <a:srgbClr val="0D1B2E"/>
            </a:solidFill>
            <a:prstDash val="solid"/>
          </a:ln>
        </p:spPr>
      </p:sp>
      <p:sp>
        <p:nvSpPr>
          <p:cNvPr id="3" name="Text 1"/>
          <p:cNvSpPr/>
          <p:nvPr/>
        </p:nvSpPr>
        <p:spPr>
          <a:xfrm>
            <a:off x="0" y="1371600"/>
            <a:ext cx="594360" cy="365760"/>
          </a:xfrm>
          <a:prstGeom prst="rect">
            <a:avLst/>
          </a:prstGeom>
          <a:noFill/>
          <a:ln/>
        </p:spPr>
        <p:txBody>
          <a:bodyPr wrap="square" rtlCol="0" anchor="ctr"/>
          <a:lstStyle/>
          <a:p>
            <a:pPr marL="0" indent="0" algn="ctr">
              <a:buNone/>
            </a:pPr>
            <a:r>
              <a:rPr lang="en-US" sz="1800" b="1" dirty="0">
                <a:solidFill>
                  <a:srgbClr val="C4A34B"/>
                </a:solidFill>
              </a:rPr>
              <a:t>0</a:t>
            </a:r>
            <a:endParaRPr lang="en-US" sz="1800" dirty="0"/>
          </a:p>
        </p:txBody>
      </p:sp>
      <p:sp>
        <p:nvSpPr>
          <p:cNvPr id="4" name="Text 2"/>
          <p:cNvSpPr/>
          <p:nvPr/>
        </p:nvSpPr>
        <p:spPr>
          <a:xfrm>
            <a:off x="0" y="1737360"/>
            <a:ext cx="594360" cy="365760"/>
          </a:xfrm>
          <a:prstGeom prst="rect">
            <a:avLst/>
          </a:prstGeom>
          <a:noFill/>
          <a:ln/>
        </p:spPr>
        <p:txBody>
          <a:bodyPr wrap="square" rtlCol="0" anchor="ctr"/>
          <a:lstStyle/>
          <a:p>
            <a:pPr marL="0" indent="0" algn="ctr">
              <a:buNone/>
            </a:pPr>
            <a:r>
              <a:rPr lang="en-US" sz="1800" b="1" dirty="0">
                <a:solidFill>
                  <a:srgbClr val="C4A34B"/>
                </a:solidFill>
              </a:rPr>
              <a:t>3</a:t>
            </a:r>
            <a:endParaRPr lang="en-US" sz="1800" dirty="0"/>
          </a:p>
        </p:txBody>
      </p:sp>
      <p:sp>
        <p:nvSpPr>
          <p:cNvPr id="5" name="Shape 3"/>
          <p:cNvSpPr/>
          <p:nvPr/>
        </p:nvSpPr>
        <p:spPr>
          <a:xfrm>
            <a:off x="594360" y="0"/>
            <a:ext cx="8549640" cy="1005840"/>
          </a:xfrm>
          <a:prstGeom prst="rect">
            <a:avLst/>
          </a:prstGeom>
          <a:solidFill>
            <a:srgbClr val="0D1B2E"/>
          </a:solidFill>
          <a:ln w="12700">
            <a:solidFill>
              <a:srgbClr val="0D1B2E"/>
            </a:solidFill>
            <a:prstDash val="solid"/>
          </a:ln>
        </p:spPr>
      </p:sp>
      <p:sp>
        <p:nvSpPr>
          <p:cNvPr id="6" name="Shape 4"/>
          <p:cNvSpPr/>
          <p:nvPr/>
        </p:nvSpPr>
        <p:spPr>
          <a:xfrm>
            <a:off x="594360" y="1005840"/>
            <a:ext cx="8549640" cy="45720"/>
          </a:xfrm>
          <a:prstGeom prst="rect">
            <a:avLst/>
          </a:prstGeom>
          <a:solidFill>
            <a:srgbClr val="C4A34B"/>
          </a:solidFill>
          <a:ln w="12700">
            <a:solidFill>
              <a:srgbClr val="C4A34B"/>
            </a:solidFill>
            <a:prstDash val="solid"/>
          </a:ln>
        </p:spPr>
      </p:sp>
      <p:sp>
        <p:nvSpPr>
          <p:cNvPr id="7" name="Text 5"/>
          <p:cNvSpPr/>
          <p:nvPr/>
        </p:nvSpPr>
        <p:spPr>
          <a:xfrm>
            <a:off x="777240" y="109728"/>
            <a:ext cx="8046720" cy="47548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Fonctionnalités Clés</a:t>
            </a:r>
            <a:endParaRPr lang="en-US" sz="2600" dirty="0"/>
          </a:p>
        </p:txBody>
      </p:sp>
      <p:sp>
        <p:nvSpPr>
          <p:cNvPr id="8" name="Text 6"/>
          <p:cNvSpPr/>
          <p:nvPr/>
        </p:nvSpPr>
        <p:spPr>
          <a:xfrm>
            <a:off x="777240" y="621792"/>
            <a:ext cx="8046720" cy="274320"/>
          </a:xfrm>
          <a:prstGeom prst="rect">
            <a:avLst/>
          </a:prstGeom>
          <a:noFill/>
          <a:ln/>
        </p:spPr>
        <p:txBody>
          <a:bodyPr wrap="square" rtlCol="0" anchor="ctr"/>
          <a:lstStyle/>
          <a:p>
            <a:pPr marL="0" indent="0">
              <a:buNone/>
            </a:pPr>
            <a:r>
              <a:rPr lang="en-US" sz="1000" i="1" dirty="0">
                <a:solidFill>
                  <a:srgbClr val="A0B4C8"/>
                </a:solidFill>
              </a:rPr>
              <a:t>Catalogue · Panier · Commandes · Sécurité</a:t>
            </a:r>
            <a:endParaRPr lang="en-US" sz="1000" dirty="0"/>
          </a:p>
        </p:txBody>
      </p:sp>
      <p:sp>
        <p:nvSpPr>
          <p:cNvPr id="9" name="Shape 7"/>
          <p:cNvSpPr/>
          <p:nvPr/>
        </p:nvSpPr>
        <p:spPr>
          <a:xfrm>
            <a:off x="685800" y="1188720"/>
            <a:ext cx="2606040" cy="1783080"/>
          </a:xfrm>
          <a:prstGeom prst="rect">
            <a:avLst/>
          </a:prstGeom>
          <a:solidFill>
            <a:srgbClr val="FFFFFF"/>
          </a:solidFill>
          <a:ln w="6350">
            <a:solidFill>
              <a:srgbClr val="DDDDDD"/>
            </a:solidFill>
            <a:prstDash val="solid"/>
          </a:ln>
          <a:effectLst>
            <a:outerShdw blurRad="101600" dist="38100" dir="8100000" algn="bl" rotWithShape="0">
              <a:srgbClr val="000000">
                <a:alpha val="18000"/>
              </a:srgbClr>
            </a:outerShdw>
          </a:effectLst>
        </p:spPr>
      </p:sp>
      <p:sp>
        <p:nvSpPr>
          <p:cNvPr id="10" name="Shape 8"/>
          <p:cNvSpPr/>
          <p:nvPr/>
        </p:nvSpPr>
        <p:spPr>
          <a:xfrm>
            <a:off x="685800" y="1188720"/>
            <a:ext cx="2606040" cy="384048"/>
          </a:xfrm>
          <a:prstGeom prst="rect">
            <a:avLst/>
          </a:prstGeom>
          <a:solidFill>
            <a:srgbClr val="3A7BD5"/>
          </a:solidFill>
          <a:ln w="12700">
            <a:solidFill>
              <a:srgbClr val="3A7BD5"/>
            </a:solidFill>
            <a:prstDash val="solid"/>
          </a:ln>
        </p:spPr>
      </p:sp>
      <p:sp>
        <p:nvSpPr>
          <p:cNvPr id="11" name="Text 9"/>
          <p:cNvSpPr/>
          <p:nvPr/>
        </p:nvSpPr>
        <p:spPr>
          <a:xfrm>
            <a:off x="777240" y="1243584"/>
            <a:ext cx="2468880" cy="27432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Catalogue Produits</a:t>
            </a:r>
            <a:endParaRPr lang="en-US" sz="1050" dirty="0"/>
          </a:p>
        </p:txBody>
      </p:sp>
      <p:sp>
        <p:nvSpPr>
          <p:cNvPr id="12" name="Shape 10"/>
          <p:cNvSpPr/>
          <p:nvPr/>
        </p:nvSpPr>
        <p:spPr>
          <a:xfrm>
            <a:off x="795528" y="1645920"/>
            <a:ext cx="45720" cy="201168"/>
          </a:xfrm>
          <a:prstGeom prst="rect">
            <a:avLst/>
          </a:prstGeom>
          <a:solidFill>
            <a:srgbClr val="3A7BD5"/>
          </a:solidFill>
          <a:ln w="12700">
            <a:solidFill>
              <a:srgbClr val="3A7BD5"/>
            </a:solidFill>
            <a:prstDash val="solid"/>
          </a:ln>
        </p:spPr>
      </p:sp>
      <p:sp>
        <p:nvSpPr>
          <p:cNvPr id="13" name="Text 11"/>
          <p:cNvSpPr/>
          <p:nvPr/>
        </p:nvSpPr>
        <p:spPr>
          <a:xfrm>
            <a:off x="914400" y="1627632"/>
            <a:ext cx="2286000" cy="274320"/>
          </a:xfrm>
          <a:prstGeom prst="rect">
            <a:avLst/>
          </a:prstGeom>
          <a:noFill/>
          <a:ln/>
        </p:spPr>
        <p:txBody>
          <a:bodyPr wrap="square" rtlCol="0" anchor="ctr"/>
          <a:lstStyle/>
          <a:p>
            <a:pPr marL="0" indent="0">
              <a:buNone/>
            </a:pPr>
            <a:r>
              <a:rPr lang="en-US" sz="850" dirty="0">
                <a:solidFill>
                  <a:srgbClr val="0D1B2E"/>
                </a:solidFill>
              </a:rPr>
              <a:t>Variantes (taille, couleur) + stock individuel</a:t>
            </a:r>
            <a:endParaRPr lang="en-US" sz="850" dirty="0"/>
          </a:p>
        </p:txBody>
      </p:sp>
      <p:sp>
        <p:nvSpPr>
          <p:cNvPr id="14" name="Shape 12"/>
          <p:cNvSpPr/>
          <p:nvPr/>
        </p:nvSpPr>
        <p:spPr>
          <a:xfrm>
            <a:off x="795528" y="2048256"/>
            <a:ext cx="45720" cy="201168"/>
          </a:xfrm>
          <a:prstGeom prst="rect">
            <a:avLst/>
          </a:prstGeom>
          <a:solidFill>
            <a:srgbClr val="3A7BD5"/>
          </a:solidFill>
          <a:ln w="12700">
            <a:solidFill>
              <a:srgbClr val="3A7BD5"/>
            </a:solidFill>
            <a:prstDash val="solid"/>
          </a:ln>
        </p:spPr>
      </p:sp>
      <p:sp>
        <p:nvSpPr>
          <p:cNvPr id="15" name="Text 13"/>
          <p:cNvSpPr/>
          <p:nvPr/>
        </p:nvSpPr>
        <p:spPr>
          <a:xfrm>
            <a:off x="914400" y="2029968"/>
            <a:ext cx="2286000" cy="274320"/>
          </a:xfrm>
          <a:prstGeom prst="rect">
            <a:avLst/>
          </a:prstGeom>
          <a:noFill/>
          <a:ln/>
        </p:spPr>
        <p:txBody>
          <a:bodyPr wrap="square" rtlCol="0" anchor="ctr"/>
          <a:lstStyle/>
          <a:p>
            <a:pPr marL="0" indent="0">
              <a:buNone/>
            </a:pPr>
            <a:r>
              <a:rPr lang="en-US" sz="850" dirty="0">
                <a:solidFill>
                  <a:srgbClr val="0D1B2E"/>
                </a:solidFill>
              </a:rPr>
              <a:t>Filtres dynamiques + recherche full-text</a:t>
            </a:r>
            <a:endParaRPr lang="en-US" sz="850" dirty="0"/>
          </a:p>
        </p:txBody>
      </p:sp>
      <p:sp>
        <p:nvSpPr>
          <p:cNvPr id="16" name="Shape 14"/>
          <p:cNvSpPr/>
          <p:nvPr/>
        </p:nvSpPr>
        <p:spPr>
          <a:xfrm>
            <a:off x="795528" y="2450592"/>
            <a:ext cx="45720" cy="201168"/>
          </a:xfrm>
          <a:prstGeom prst="rect">
            <a:avLst/>
          </a:prstGeom>
          <a:solidFill>
            <a:srgbClr val="3A7BD5"/>
          </a:solidFill>
          <a:ln w="12700">
            <a:solidFill>
              <a:srgbClr val="3A7BD5"/>
            </a:solidFill>
            <a:prstDash val="solid"/>
          </a:ln>
        </p:spPr>
      </p:sp>
      <p:sp>
        <p:nvSpPr>
          <p:cNvPr id="17" name="Text 15"/>
          <p:cNvSpPr/>
          <p:nvPr/>
        </p:nvSpPr>
        <p:spPr>
          <a:xfrm>
            <a:off x="914400" y="2432304"/>
            <a:ext cx="2286000" cy="274320"/>
          </a:xfrm>
          <a:prstGeom prst="rect">
            <a:avLst/>
          </a:prstGeom>
          <a:noFill/>
          <a:ln/>
        </p:spPr>
        <p:txBody>
          <a:bodyPr wrap="square" rtlCol="0" anchor="ctr"/>
          <a:lstStyle/>
          <a:p>
            <a:pPr marL="0" indent="0">
              <a:buNone/>
            </a:pPr>
            <a:r>
              <a:rPr lang="en-US" sz="850" dirty="0">
                <a:solidFill>
                  <a:srgbClr val="0D1B2E"/>
                </a:solidFill>
              </a:rPr>
              <a:t>Pagination · Tri prix/popularité · Promotions</a:t>
            </a:r>
            <a:endParaRPr lang="en-US" sz="850" dirty="0"/>
          </a:p>
        </p:txBody>
      </p:sp>
      <p:sp>
        <p:nvSpPr>
          <p:cNvPr id="18" name="Shape 16"/>
          <p:cNvSpPr/>
          <p:nvPr/>
        </p:nvSpPr>
        <p:spPr>
          <a:xfrm>
            <a:off x="3474720" y="1188720"/>
            <a:ext cx="2606040" cy="1783080"/>
          </a:xfrm>
          <a:prstGeom prst="rect">
            <a:avLst/>
          </a:prstGeom>
          <a:solidFill>
            <a:srgbClr val="FFFFFF"/>
          </a:solidFill>
          <a:ln w="6350">
            <a:solidFill>
              <a:srgbClr val="DDDDDD"/>
            </a:solidFill>
            <a:prstDash val="solid"/>
          </a:ln>
          <a:effectLst>
            <a:outerShdw blurRad="101600" dist="38100" dir="8100000" algn="bl" rotWithShape="0">
              <a:srgbClr val="000000">
                <a:alpha val="18000"/>
              </a:srgbClr>
            </a:outerShdw>
          </a:effectLst>
        </p:spPr>
      </p:sp>
      <p:sp>
        <p:nvSpPr>
          <p:cNvPr id="19" name="Shape 17"/>
          <p:cNvSpPr/>
          <p:nvPr/>
        </p:nvSpPr>
        <p:spPr>
          <a:xfrm>
            <a:off x="3474720" y="1188720"/>
            <a:ext cx="2606040" cy="384048"/>
          </a:xfrm>
          <a:prstGeom prst="rect">
            <a:avLst/>
          </a:prstGeom>
          <a:solidFill>
            <a:srgbClr val="7B5EA8"/>
          </a:solidFill>
          <a:ln w="12700">
            <a:solidFill>
              <a:srgbClr val="7B5EA8"/>
            </a:solidFill>
            <a:prstDash val="solid"/>
          </a:ln>
        </p:spPr>
      </p:sp>
      <p:sp>
        <p:nvSpPr>
          <p:cNvPr id="20" name="Text 18"/>
          <p:cNvSpPr/>
          <p:nvPr/>
        </p:nvSpPr>
        <p:spPr>
          <a:xfrm>
            <a:off x="3566160" y="1243584"/>
            <a:ext cx="2468880" cy="27432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Panier Persistant</a:t>
            </a:r>
            <a:endParaRPr lang="en-US" sz="1050" dirty="0"/>
          </a:p>
        </p:txBody>
      </p:sp>
      <p:sp>
        <p:nvSpPr>
          <p:cNvPr id="21" name="Shape 19"/>
          <p:cNvSpPr/>
          <p:nvPr/>
        </p:nvSpPr>
        <p:spPr>
          <a:xfrm>
            <a:off x="3584448" y="1645920"/>
            <a:ext cx="45720" cy="201168"/>
          </a:xfrm>
          <a:prstGeom prst="rect">
            <a:avLst/>
          </a:prstGeom>
          <a:solidFill>
            <a:srgbClr val="7B5EA8"/>
          </a:solidFill>
          <a:ln w="12700">
            <a:solidFill>
              <a:srgbClr val="7B5EA8"/>
            </a:solidFill>
            <a:prstDash val="solid"/>
          </a:ln>
        </p:spPr>
      </p:sp>
      <p:sp>
        <p:nvSpPr>
          <p:cNvPr id="22" name="Text 20"/>
          <p:cNvSpPr/>
          <p:nvPr/>
        </p:nvSpPr>
        <p:spPr>
          <a:xfrm>
            <a:off x="3703320" y="1627632"/>
            <a:ext cx="2286000" cy="274320"/>
          </a:xfrm>
          <a:prstGeom prst="rect">
            <a:avLst/>
          </a:prstGeom>
          <a:noFill/>
          <a:ln/>
        </p:spPr>
        <p:txBody>
          <a:bodyPr wrap="square" rtlCol="0" anchor="ctr"/>
          <a:lstStyle/>
          <a:p>
            <a:pPr marL="0" indent="0">
              <a:buNone/>
            </a:pPr>
            <a:r>
              <a:rPr lang="en-US" sz="850" dirty="0">
                <a:solidFill>
                  <a:srgbClr val="0D1B2E"/>
                </a:solidFill>
              </a:rPr>
              <a:t>Sauvegardé en base après déconnexion</a:t>
            </a:r>
            <a:endParaRPr lang="en-US" sz="850" dirty="0"/>
          </a:p>
        </p:txBody>
      </p:sp>
      <p:sp>
        <p:nvSpPr>
          <p:cNvPr id="23" name="Shape 21"/>
          <p:cNvSpPr/>
          <p:nvPr/>
        </p:nvSpPr>
        <p:spPr>
          <a:xfrm>
            <a:off x="3584448" y="2048256"/>
            <a:ext cx="45720" cy="201168"/>
          </a:xfrm>
          <a:prstGeom prst="rect">
            <a:avLst/>
          </a:prstGeom>
          <a:solidFill>
            <a:srgbClr val="7B5EA8"/>
          </a:solidFill>
          <a:ln w="12700">
            <a:solidFill>
              <a:srgbClr val="7B5EA8"/>
            </a:solidFill>
            <a:prstDash val="solid"/>
          </a:ln>
        </p:spPr>
      </p:sp>
      <p:sp>
        <p:nvSpPr>
          <p:cNvPr id="24" name="Text 22"/>
          <p:cNvSpPr/>
          <p:nvPr/>
        </p:nvSpPr>
        <p:spPr>
          <a:xfrm>
            <a:off x="3703320" y="2029968"/>
            <a:ext cx="2286000" cy="274320"/>
          </a:xfrm>
          <a:prstGeom prst="rect">
            <a:avLst/>
          </a:prstGeom>
          <a:noFill/>
          <a:ln/>
        </p:spPr>
        <p:txBody>
          <a:bodyPr wrap="square" rtlCol="0" anchor="ctr"/>
          <a:lstStyle/>
          <a:p>
            <a:pPr marL="0" indent="0">
              <a:buNone/>
            </a:pPr>
            <a:r>
              <a:rPr lang="en-US" sz="850" dirty="0">
                <a:solidFill>
                  <a:srgbClr val="0D1B2E"/>
                </a:solidFill>
              </a:rPr>
              <a:t>Vérification stock en temps réel</a:t>
            </a:r>
            <a:endParaRPr lang="en-US" sz="850" dirty="0"/>
          </a:p>
        </p:txBody>
      </p:sp>
      <p:sp>
        <p:nvSpPr>
          <p:cNvPr id="25" name="Shape 23"/>
          <p:cNvSpPr/>
          <p:nvPr/>
        </p:nvSpPr>
        <p:spPr>
          <a:xfrm>
            <a:off x="3584448" y="2450592"/>
            <a:ext cx="45720" cy="201168"/>
          </a:xfrm>
          <a:prstGeom prst="rect">
            <a:avLst/>
          </a:prstGeom>
          <a:solidFill>
            <a:srgbClr val="7B5EA8"/>
          </a:solidFill>
          <a:ln w="12700">
            <a:solidFill>
              <a:srgbClr val="7B5EA8"/>
            </a:solidFill>
            <a:prstDash val="solid"/>
          </a:ln>
        </p:spPr>
      </p:sp>
      <p:sp>
        <p:nvSpPr>
          <p:cNvPr id="26" name="Text 24"/>
          <p:cNvSpPr/>
          <p:nvPr/>
        </p:nvSpPr>
        <p:spPr>
          <a:xfrm>
            <a:off x="3703320" y="2432304"/>
            <a:ext cx="2286000" cy="274320"/>
          </a:xfrm>
          <a:prstGeom prst="rect">
            <a:avLst/>
          </a:prstGeom>
          <a:noFill/>
          <a:ln/>
        </p:spPr>
        <p:txBody>
          <a:bodyPr wrap="square" rtlCol="0" anchor="ctr"/>
          <a:lstStyle/>
          <a:p>
            <a:pPr marL="0" indent="0">
              <a:buNone/>
            </a:pPr>
            <a:r>
              <a:rPr lang="en-US" sz="850" dirty="0">
                <a:solidFill>
                  <a:srgbClr val="0D1B2E"/>
                </a:solidFill>
              </a:rPr>
              <a:t>Code promo (% ou montant fixe)</a:t>
            </a:r>
            <a:endParaRPr lang="en-US" sz="850" dirty="0"/>
          </a:p>
        </p:txBody>
      </p:sp>
      <p:sp>
        <p:nvSpPr>
          <p:cNvPr id="27" name="Shape 25"/>
          <p:cNvSpPr/>
          <p:nvPr/>
        </p:nvSpPr>
        <p:spPr>
          <a:xfrm>
            <a:off x="6263640" y="1188720"/>
            <a:ext cx="2606040" cy="1783080"/>
          </a:xfrm>
          <a:prstGeom prst="rect">
            <a:avLst/>
          </a:prstGeom>
          <a:solidFill>
            <a:srgbClr val="FFFFFF"/>
          </a:solidFill>
          <a:ln w="6350">
            <a:solidFill>
              <a:srgbClr val="DDDDDD"/>
            </a:solidFill>
            <a:prstDash val="solid"/>
          </a:ln>
          <a:effectLst>
            <a:outerShdw blurRad="101600" dist="38100" dir="8100000" algn="bl" rotWithShape="0">
              <a:srgbClr val="000000">
                <a:alpha val="18000"/>
              </a:srgbClr>
            </a:outerShdw>
          </a:effectLst>
        </p:spPr>
      </p:sp>
      <p:sp>
        <p:nvSpPr>
          <p:cNvPr id="28" name="Shape 26"/>
          <p:cNvSpPr/>
          <p:nvPr/>
        </p:nvSpPr>
        <p:spPr>
          <a:xfrm>
            <a:off x="6263640" y="1188720"/>
            <a:ext cx="2606040" cy="384048"/>
          </a:xfrm>
          <a:prstGeom prst="rect">
            <a:avLst/>
          </a:prstGeom>
          <a:solidFill>
            <a:srgbClr val="3A9E6E"/>
          </a:solidFill>
          <a:ln w="12700">
            <a:solidFill>
              <a:srgbClr val="3A9E6E"/>
            </a:solidFill>
            <a:prstDash val="solid"/>
          </a:ln>
        </p:spPr>
      </p:sp>
      <p:sp>
        <p:nvSpPr>
          <p:cNvPr id="29" name="Text 27"/>
          <p:cNvSpPr/>
          <p:nvPr/>
        </p:nvSpPr>
        <p:spPr>
          <a:xfrm>
            <a:off x="6355080" y="1243584"/>
            <a:ext cx="2468880" cy="27432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Gestion Commandes</a:t>
            </a:r>
            <a:endParaRPr lang="en-US" sz="1050" dirty="0"/>
          </a:p>
        </p:txBody>
      </p:sp>
      <p:sp>
        <p:nvSpPr>
          <p:cNvPr id="30" name="Shape 28"/>
          <p:cNvSpPr/>
          <p:nvPr/>
        </p:nvSpPr>
        <p:spPr>
          <a:xfrm>
            <a:off x="6373368" y="1645920"/>
            <a:ext cx="45720" cy="201168"/>
          </a:xfrm>
          <a:prstGeom prst="rect">
            <a:avLst/>
          </a:prstGeom>
          <a:solidFill>
            <a:srgbClr val="3A9E6E"/>
          </a:solidFill>
          <a:ln w="12700">
            <a:solidFill>
              <a:srgbClr val="3A9E6E"/>
            </a:solidFill>
            <a:prstDash val="solid"/>
          </a:ln>
        </p:spPr>
      </p:sp>
      <p:sp>
        <p:nvSpPr>
          <p:cNvPr id="31" name="Text 29"/>
          <p:cNvSpPr/>
          <p:nvPr/>
        </p:nvSpPr>
        <p:spPr>
          <a:xfrm>
            <a:off x="6492240" y="1627632"/>
            <a:ext cx="2286000" cy="274320"/>
          </a:xfrm>
          <a:prstGeom prst="rect">
            <a:avLst/>
          </a:prstGeom>
          <a:noFill/>
          <a:ln/>
        </p:spPr>
        <p:txBody>
          <a:bodyPr wrap="square" rtlCol="0" anchor="ctr"/>
          <a:lstStyle/>
          <a:p>
            <a:pPr marL="0" indent="0">
              <a:buNone/>
            </a:pPr>
            <a:r>
              <a:rPr lang="en-US" sz="850" dirty="0">
                <a:solidFill>
                  <a:srgbClr val="0D1B2E"/>
                </a:solidFill>
              </a:rPr>
              <a:t>Numéro unique ORD-2025-XXXXX</a:t>
            </a:r>
            <a:endParaRPr lang="en-US" sz="850" dirty="0"/>
          </a:p>
        </p:txBody>
      </p:sp>
      <p:sp>
        <p:nvSpPr>
          <p:cNvPr id="32" name="Shape 30"/>
          <p:cNvSpPr/>
          <p:nvPr/>
        </p:nvSpPr>
        <p:spPr>
          <a:xfrm>
            <a:off x="6373368" y="2048256"/>
            <a:ext cx="45720" cy="201168"/>
          </a:xfrm>
          <a:prstGeom prst="rect">
            <a:avLst/>
          </a:prstGeom>
          <a:solidFill>
            <a:srgbClr val="3A9E6E"/>
          </a:solidFill>
          <a:ln w="12700">
            <a:solidFill>
              <a:srgbClr val="3A9E6E"/>
            </a:solidFill>
            <a:prstDash val="solid"/>
          </a:ln>
        </p:spPr>
      </p:sp>
      <p:sp>
        <p:nvSpPr>
          <p:cNvPr id="33" name="Text 31"/>
          <p:cNvSpPr/>
          <p:nvPr/>
        </p:nvSpPr>
        <p:spPr>
          <a:xfrm>
            <a:off x="6492240" y="2029968"/>
            <a:ext cx="2286000" cy="274320"/>
          </a:xfrm>
          <a:prstGeom prst="rect">
            <a:avLst/>
          </a:prstGeom>
          <a:noFill/>
          <a:ln/>
        </p:spPr>
        <p:txBody>
          <a:bodyPr wrap="square" rtlCol="0" anchor="ctr"/>
          <a:lstStyle/>
          <a:p>
            <a:pPr marL="0" indent="0">
              <a:buNone/>
            </a:pPr>
            <a:r>
              <a:rPr lang="en-US" sz="850" dirty="0">
                <a:solidFill>
                  <a:srgbClr val="0D1B2E"/>
                </a:solidFill>
              </a:rPr>
              <a:t>Flux : PENDING → PAID → SHIPPED → DELIVERED</a:t>
            </a:r>
            <a:endParaRPr lang="en-US" sz="850" dirty="0"/>
          </a:p>
        </p:txBody>
      </p:sp>
      <p:sp>
        <p:nvSpPr>
          <p:cNvPr id="34" name="Shape 32"/>
          <p:cNvSpPr/>
          <p:nvPr/>
        </p:nvSpPr>
        <p:spPr>
          <a:xfrm>
            <a:off x="6373368" y="2450592"/>
            <a:ext cx="45720" cy="201168"/>
          </a:xfrm>
          <a:prstGeom prst="rect">
            <a:avLst/>
          </a:prstGeom>
          <a:solidFill>
            <a:srgbClr val="3A9E6E"/>
          </a:solidFill>
          <a:ln w="12700">
            <a:solidFill>
              <a:srgbClr val="3A9E6E"/>
            </a:solidFill>
            <a:prstDash val="solid"/>
          </a:ln>
        </p:spPr>
      </p:sp>
      <p:sp>
        <p:nvSpPr>
          <p:cNvPr id="35" name="Text 33"/>
          <p:cNvSpPr/>
          <p:nvPr/>
        </p:nvSpPr>
        <p:spPr>
          <a:xfrm>
            <a:off x="6492240" y="2432304"/>
            <a:ext cx="2286000" cy="274320"/>
          </a:xfrm>
          <a:prstGeom prst="rect">
            <a:avLst/>
          </a:prstGeom>
          <a:noFill/>
          <a:ln/>
        </p:spPr>
        <p:txBody>
          <a:bodyPr wrap="square" rtlCol="0" anchor="ctr"/>
          <a:lstStyle/>
          <a:p>
            <a:pPr marL="0" indent="0">
              <a:buNone/>
            </a:pPr>
            <a:r>
              <a:rPr lang="en-US" sz="850" dirty="0">
                <a:solidFill>
                  <a:srgbClr val="0D1B2E"/>
                </a:solidFill>
              </a:rPr>
              <a:t>Annulation + remboursement simulé</a:t>
            </a:r>
            <a:endParaRPr lang="en-US" sz="850" dirty="0"/>
          </a:p>
        </p:txBody>
      </p:sp>
      <p:sp>
        <p:nvSpPr>
          <p:cNvPr id="36" name="Shape 34"/>
          <p:cNvSpPr/>
          <p:nvPr/>
        </p:nvSpPr>
        <p:spPr>
          <a:xfrm>
            <a:off x="685800" y="3154680"/>
            <a:ext cx="2606040" cy="1783080"/>
          </a:xfrm>
          <a:prstGeom prst="rect">
            <a:avLst/>
          </a:prstGeom>
          <a:solidFill>
            <a:srgbClr val="FFFFFF"/>
          </a:solidFill>
          <a:ln w="6350">
            <a:solidFill>
              <a:srgbClr val="DDDDDD"/>
            </a:solidFill>
            <a:prstDash val="solid"/>
          </a:ln>
          <a:effectLst>
            <a:outerShdw blurRad="101600" dist="38100" dir="8100000" algn="bl" rotWithShape="0">
              <a:srgbClr val="000000">
                <a:alpha val="18000"/>
              </a:srgbClr>
            </a:outerShdw>
          </a:effectLst>
        </p:spPr>
      </p:sp>
      <p:sp>
        <p:nvSpPr>
          <p:cNvPr id="37" name="Shape 35"/>
          <p:cNvSpPr/>
          <p:nvPr/>
        </p:nvSpPr>
        <p:spPr>
          <a:xfrm>
            <a:off x="685800" y="3154680"/>
            <a:ext cx="2606040" cy="384048"/>
          </a:xfrm>
          <a:prstGeom prst="rect">
            <a:avLst/>
          </a:prstGeom>
          <a:solidFill>
            <a:srgbClr val="D97706"/>
          </a:solidFill>
          <a:ln w="12700">
            <a:solidFill>
              <a:srgbClr val="D97706"/>
            </a:solidFill>
            <a:prstDash val="solid"/>
          </a:ln>
        </p:spPr>
      </p:sp>
      <p:sp>
        <p:nvSpPr>
          <p:cNvPr id="38" name="Text 36"/>
          <p:cNvSpPr/>
          <p:nvPr/>
        </p:nvSpPr>
        <p:spPr>
          <a:xfrm>
            <a:off x="777240" y="3209544"/>
            <a:ext cx="2468880" cy="27432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Sécurité JWT</a:t>
            </a:r>
            <a:endParaRPr lang="en-US" sz="1050" dirty="0"/>
          </a:p>
        </p:txBody>
      </p:sp>
      <p:sp>
        <p:nvSpPr>
          <p:cNvPr id="39" name="Shape 37"/>
          <p:cNvSpPr/>
          <p:nvPr/>
        </p:nvSpPr>
        <p:spPr>
          <a:xfrm>
            <a:off x="795528" y="3611880"/>
            <a:ext cx="45720" cy="201168"/>
          </a:xfrm>
          <a:prstGeom prst="rect">
            <a:avLst/>
          </a:prstGeom>
          <a:solidFill>
            <a:srgbClr val="D97706"/>
          </a:solidFill>
          <a:ln w="12700">
            <a:solidFill>
              <a:srgbClr val="D97706"/>
            </a:solidFill>
            <a:prstDash val="solid"/>
          </a:ln>
        </p:spPr>
      </p:sp>
      <p:sp>
        <p:nvSpPr>
          <p:cNvPr id="40" name="Text 38"/>
          <p:cNvSpPr/>
          <p:nvPr/>
        </p:nvSpPr>
        <p:spPr>
          <a:xfrm>
            <a:off x="914400" y="3593592"/>
            <a:ext cx="2286000" cy="274320"/>
          </a:xfrm>
          <a:prstGeom prst="rect">
            <a:avLst/>
          </a:prstGeom>
          <a:noFill/>
          <a:ln/>
        </p:spPr>
        <p:txBody>
          <a:bodyPr wrap="square" rtlCol="0" anchor="ctr"/>
          <a:lstStyle/>
          <a:p>
            <a:pPr marL="0" indent="0">
              <a:buNone/>
            </a:pPr>
            <a:r>
              <a:rPr lang="en-US" sz="850" dirty="0">
                <a:solidFill>
                  <a:srgbClr val="0D1B2E"/>
                </a:solidFill>
              </a:rPr>
              <a:t>Access Token (15 min) + Refresh Token (7 j)</a:t>
            </a:r>
            <a:endParaRPr lang="en-US" sz="850" dirty="0"/>
          </a:p>
        </p:txBody>
      </p:sp>
      <p:sp>
        <p:nvSpPr>
          <p:cNvPr id="41" name="Shape 39"/>
          <p:cNvSpPr/>
          <p:nvPr/>
        </p:nvSpPr>
        <p:spPr>
          <a:xfrm>
            <a:off x="795528" y="4014216"/>
            <a:ext cx="45720" cy="201168"/>
          </a:xfrm>
          <a:prstGeom prst="rect">
            <a:avLst/>
          </a:prstGeom>
          <a:solidFill>
            <a:srgbClr val="D97706"/>
          </a:solidFill>
          <a:ln w="12700">
            <a:solidFill>
              <a:srgbClr val="D97706"/>
            </a:solidFill>
            <a:prstDash val="solid"/>
          </a:ln>
        </p:spPr>
      </p:sp>
      <p:sp>
        <p:nvSpPr>
          <p:cNvPr id="42" name="Text 40"/>
          <p:cNvSpPr/>
          <p:nvPr/>
        </p:nvSpPr>
        <p:spPr>
          <a:xfrm>
            <a:off x="914400" y="3995928"/>
            <a:ext cx="2286000" cy="274320"/>
          </a:xfrm>
          <a:prstGeom prst="rect">
            <a:avLst/>
          </a:prstGeom>
          <a:noFill/>
          <a:ln/>
        </p:spPr>
        <p:txBody>
          <a:bodyPr wrap="square" rtlCol="0" anchor="ctr"/>
          <a:lstStyle/>
          <a:p>
            <a:pPr marL="0" indent="0">
              <a:buNone/>
            </a:pPr>
            <a:r>
              <a:rPr lang="en-US" sz="850" dirty="0">
                <a:solidFill>
                  <a:srgbClr val="0D1B2E"/>
                </a:solidFill>
              </a:rPr>
              <a:t>@PreAuthorize par rôle sur chaque endpoint</a:t>
            </a:r>
            <a:endParaRPr lang="en-US" sz="850" dirty="0"/>
          </a:p>
        </p:txBody>
      </p:sp>
      <p:sp>
        <p:nvSpPr>
          <p:cNvPr id="43" name="Shape 41"/>
          <p:cNvSpPr/>
          <p:nvPr/>
        </p:nvSpPr>
        <p:spPr>
          <a:xfrm>
            <a:off x="795528" y="4416552"/>
            <a:ext cx="45720" cy="201168"/>
          </a:xfrm>
          <a:prstGeom prst="rect">
            <a:avLst/>
          </a:prstGeom>
          <a:solidFill>
            <a:srgbClr val="D97706"/>
          </a:solidFill>
          <a:ln w="12700">
            <a:solidFill>
              <a:srgbClr val="D97706"/>
            </a:solidFill>
            <a:prstDash val="solid"/>
          </a:ln>
        </p:spPr>
      </p:sp>
      <p:sp>
        <p:nvSpPr>
          <p:cNvPr id="44" name="Text 42"/>
          <p:cNvSpPr/>
          <p:nvPr/>
        </p:nvSpPr>
        <p:spPr>
          <a:xfrm>
            <a:off x="914400" y="4398264"/>
            <a:ext cx="2286000" cy="274320"/>
          </a:xfrm>
          <a:prstGeom prst="rect">
            <a:avLst/>
          </a:prstGeom>
          <a:noFill/>
          <a:ln/>
        </p:spPr>
        <p:txBody>
          <a:bodyPr wrap="square" rtlCol="0" anchor="ctr"/>
          <a:lstStyle/>
          <a:p>
            <a:pPr marL="0" indent="0">
              <a:buNone/>
            </a:pPr>
            <a:r>
              <a:rPr lang="en-US" sz="850" dirty="0">
                <a:solidFill>
                  <a:srgbClr val="0D1B2E"/>
                </a:solidFill>
              </a:rPr>
              <a:t>Refresh automatique côté Next.js</a:t>
            </a:r>
            <a:endParaRPr lang="en-US" sz="850" dirty="0"/>
          </a:p>
        </p:txBody>
      </p:sp>
      <p:sp>
        <p:nvSpPr>
          <p:cNvPr id="45" name="Shape 43"/>
          <p:cNvSpPr/>
          <p:nvPr/>
        </p:nvSpPr>
        <p:spPr>
          <a:xfrm>
            <a:off x="3474720" y="3154680"/>
            <a:ext cx="2606040" cy="1783080"/>
          </a:xfrm>
          <a:prstGeom prst="rect">
            <a:avLst/>
          </a:prstGeom>
          <a:solidFill>
            <a:srgbClr val="FFFFFF"/>
          </a:solidFill>
          <a:ln w="6350">
            <a:solidFill>
              <a:srgbClr val="DDDDDD"/>
            </a:solidFill>
            <a:prstDash val="solid"/>
          </a:ln>
          <a:effectLst>
            <a:outerShdw blurRad="101600" dist="38100" dir="8100000" algn="bl" rotWithShape="0">
              <a:srgbClr val="000000">
                <a:alpha val="18000"/>
              </a:srgbClr>
            </a:outerShdw>
          </a:effectLst>
        </p:spPr>
      </p:sp>
      <p:sp>
        <p:nvSpPr>
          <p:cNvPr id="46" name="Shape 44"/>
          <p:cNvSpPr/>
          <p:nvPr/>
        </p:nvSpPr>
        <p:spPr>
          <a:xfrm>
            <a:off x="3474720" y="3154680"/>
            <a:ext cx="2606040" cy="384048"/>
          </a:xfrm>
          <a:prstGeom prst="rect">
            <a:avLst/>
          </a:prstGeom>
          <a:solidFill>
            <a:srgbClr val="C0AC3A"/>
          </a:solidFill>
          <a:ln w="12700">
            <a:solidFill>
              <a:srgbClr val="C0AC3A"/>
            </a:solidFill>
            <a:prstDash val="solid"/>
          </a:ln>
        </p:spPr>
      </p:sp>
      <p:sp>
        <p:nvSpPr>
          <p:cNvPr id="47" name="Text 45"/>
          <p:cNvSpPr/>
          <p:nvPr/>
        </p:nvSpPr>
        <p:spPr>
          <a:xfrm>
            <a:off x="3566160" y="3209544"/>
            <a:ext cx="2468880" cy="27432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Avis &amp; Notation</a:t>
            </a:r>
            <a:endParaRPr lang="en-US" sz="1050" dirty="0"/>
          </a:p>
        </p:txBody>
      </p:sp>
      <p:sp>
        <p:nvSpPr>
          <p:cNvPr id="48" name="Shape 46"/>
          <p:cNvSpPr/>
          <p:nvPr/>
        </p:nvSpPr>
        <p:spPr>
          <a:xfrm>
            <a:off x="3584448" y="3611880"/>
            <a:ext cx="45720" cy="201168"/>
          </a:xfrm>
          <a:prstGeom prst="rect">
            <a:avLst/>
          </a:prstGeom>
          <a:solidFill>
            <a:srgbClr val="C0AC3A"/>
          </a:solidFill>
          <a:ln w="12700">
            <a:solidFill>
              <a:srgbClr val="C0AC3A"/>
            </a:solidFill>
            <a:prstDash val="solid"/>
          </a:ln>
        </p:spPr>
      </p:sp>
      <p:sp>
        <p:nvSpPr>
          <p:cNvPr id="49" name="Text 47"/>
          <p:cNvSpPr/>
          <p:nvPr/>
        </p:nvSpPr>
        <p:spPr>
          <a:xfrm>
            <a:off x="3703320" y="3593592"/>
            <a:ext cx="2286000" cy="274320"/>
          </a:xfrm>
          <a:prstGeom prst="rect">
            <a:avLst/>
          </a:prstGeom>
          <a:noFill/>
          <a:ln/>
        </p:spPr>
        <p:txBody>
          <a:bodyPr wrap="square" rtlCol="0" anchor="ctr"/>
          <a:lstStyle/>
          <a:p>
            <a:pPr marL="0" indent="0">
              <a:buNone/>
            </a:pPr>
            <a:r>
              <a:rPr lang="en-US" sz="850" dirty="0">
                <a:solidFill>
                  <a:srgbClr val="0D1B2E"/>
                </a:solidFill>
              </a:rPr>
              <a:t>Uniquement sur produits achetés (vérifié)</a:t>
            </a:r>
            <a:endParaRPr lang="en-US" sz="850" dirty="0"/>
          </a:p>
        </p:txBody>
      </p:sp>
      <p:sp>
        <p:nvSpPr>
          <p:cNvPr id="50" name="Shape 48"/>
          <p:cNvSpPr/>
          <p:nvPr/>
        </p:nvSpPr>
        <p:spPr>
          <a:xfrm>
            <a:off x="3584448" y="4014216"/>
            <a:ext cx="45720" cy="201168"/>
          </a:xfrm>
          <a:prstGeom prst="rect">
            <a:avLst/>
          </a:prstGeom>
          <a:solidFill>
            <a:srgbClr val="C0AC3A"/>
          </a:solidFill>
          <a:ln w="12700">
            <a:solidFill>
              <a:srgbClr val="C0AC3A"/>
            </a:solidFill>
            <a:prstDash val="solid"/>
          </a:ln>
        </p:spPr>
      </p:sp>
      <p:sp>
        <p:nvSpPr>
          <p:cNvPr id="51" name="Text 49"/>
          <p:cNvSpPr/>
          <p:nvPr/>
        </p:nvSpPr>
        <p:spPr>
          <a:xfrm>
            <a:off x="3703320" y="3995928"/>
            <a:ext cx="2286000" cy="274320"/>
          </a:xfrm>
          <a:prstGeom prst="rect">
            <a:avLst/>
          </a:prstGeom>
          <a:noFill/>
          <a:ln/>
        </p:spPr>
        <p:txBody>
          <a:bodyPr wrap="square" rtlCol="0" anchor="ctr"/>
          <a:lstStyle/>
          <a:p>
            <a:pPr marL="0" indent="0">
              <a:buNone/>
            </a:pPr>
            <a:r>
              <a:rPr lang="en-US" sz="850" dirty="0">
                <a:solidFill>
                  <a:srgbClr val="0D1B2E"/>
                </a:solidFill>
              </a:rPr>
              <a:t>Note 1-5 + commentaire texte</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11D2E"/>
          </a:solidFill>
          <a:ln w="12700">
            <a:solidFill>
              <a:srgbClr val="111D2E"/>
            </a:solidFill>
            <a:prstDash val="solid"/>
          </a:ln>
        </p:spPr>
      </p:sp>
      <p:sp>
        <p:nvSpPr>
          <p:cNvPr id="3" name="Shape 1"/>
          <p:cNvSpPr/>
          <p:nvPr/>
        </p:nvSpPr>
        <p:spPr>
          <a:xfrm>
            <a:off x="0" y="1005840"/>
            <a:ext cx="9144000" cy="45720"/>
          </a:xfrm>
          <a:prstGeom prst="rect">
            <a:avLst/>
          </a:prstGeom>
          <a:solidFill>
            <a:srgbClr val="C4A34B"/>
          </a:solidFill>
          <a:ln w="12700">
            <a:solidFill>
              <a:srgbClr val="C4A34B"/>
            </a:solidFill>
            <a:prstDash val="solid"/>
          </a:ln>
        </p:spPr>
      </p:sp>
      <p:sp>
        <p:nvSpPr>
          <p:cNvPr id="4" name="Shape 2"/>
          <p:cNvSpPr/>
          <p:nvPr/>
        </p:nvSpPr>
        <p:spPr>
          <a:xfrm>
            <a:off x="320040" y="256032"/>
            <a:ext cx="502920" cy="502920"/>
          </a:xfrm>
          <a:prstGeom prst="ellipse">
            <a:avLst/>
          </a:prstGeom>
          <a:solidFill>
            <a:srgbClr val="C4A34B"/>
          </a:solidFill>
          <a:ln w="12700">
            <a:solidFill>
              <a:srgbClr val="C4A34B"/>
            </a:solidFill>
            <a:prstDash val="solid"/>
          </a:ln>
        </p:spPr>
      </p:sp>
      <p:sp>
        <p:nvSpPr>
          <p:cNvPr id="5" name="Text 3"/>
          <p:cNvSpPr/>
          <p:nvPr/>
        </p:nvSpPr>
        <p:spPr>
          <a:xfrm>
            <a:off x="320040" y="292608"/>
            <a:ext cx="502920" cy="411480"/>
          </a:xfrm>
          <a:prstGeom prst="rect">
            <a:avLst/>
          </a:prstGeom>
          <a:noFill/>
          <a:ln/>
        </p:spPr>
        <p:txBody>
          <a:bodyPr wrap="square" rtlCol="0" anchor="ctr"/>
          <a:lstStyle/>
          <a:p>
            <a:pPr marL="0" indent="0" algn="ctr">
              <a:buNone/>
            </a:pPr>
            <a:r>
              <a:rPr lang="en-US" sz="1600" b="1" dirty="0">
                <a:solidFill>
                  <a:srgbClr val="0D1B2E"/>
                </a:solidFill>
              </a:rPr>
              <a:t>04</a:t>
            </a:r>
            <a:endParaRPr lang="en-US" sz="1600" dirty="0"/>
          </a:p>
        </p:txBody>
      </p:sp>
      <p:sp>
        <p:nvSpPr>
          <p:cNvPr id="6" name="Text 4"/>
          <p:cNvSpPr/>
          <p:nvPr/>
        </p:nvSpPr>
        <p:spPr>
          <a:xfrm>
            <a:off x="960120" y="228600"/>
            <a:ext cx="7772400" cy="47548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Sécurité JWT — Concept &amp; Implémentation</a:t>
            </a:r>
            <a:endParaRPr lang="en-US" sz="2200" dirty="0"/>
          </a:p>
        </p:txBody>
      </p:sp>
      <p:sp>
        <p:nvSpPr>
          <p:cNvPr id="7" name="Text 5"/>
          <p:cNvSpPr/>
          <p:nvPr/>
        </p:nvSpPr>
        <p:spPr>
          <a:xfrm>
            <a:off x="960120" y="685800"/>
            <a:ext cx="7772400" cy="274320"/>
          </a:xfrm>
          <a:prstGeom prst="rect">
            <a:avLst/>
          </a:prstGeom>
          <a:noFill/>
          <a:ln/>
        </p:spPr>
        <p:txBody>
          <a:bodyPr wrap="square" rtlCol="0" anchor="ctr"/>
          <a:lstStyle/>
          <a:p>
            <a:pPr marL="0" indent="0">
              <a:buNone/>
            </a:pPr>
            <a:r>
              <a:rPr lang="en-US" sz="950" i="1" dirty="0">
                <a:solidFill>
                  <a:srgbClr val="A0B4C8"/>
                </a:solidFill>
              </a:rPr>
              <a:t>Authentification stateless · Access Token · Refresh Token · Spring Security</a:t>
            </a:r>
            <a:endParaRPr lang="en-US" sz="950" dirty="0"/>
          </a:p>
        </p:txBody>
      </p:sp>
      <p:sp>
        <p:nvSpPr>
          <p:cNvPr id="8" name="Shape 6"/>
          <p:cNvSpPr/>
          <p:nvPr/>
        </p:nvSpPr>
        <p:spPr>
          <a:xfrm>
            <a:off x="274320" y="1170432"/>
            <a:ext cx="4114800" cy="3749040"/>
          </a:xfrm>
          <a:prstGeom prst="rect">
            <a:avLst/>
          </a:prstGeom>
          <a:solidFill>
            <a:srgbClr val="1C2E4A"/>
          </a:solidFill>
          <a:ln w="6350">
            <a:solidFill>
              <a:srgbClr val="2A4070"/>
            </a:solidFill>
            <a:prstDash val="solid"/>
          </a:ln>
        </p:spPr>
      </p:sp>
      <p:sp>
        <p:nvSpPr>
          <p:cNvPr id="9" name="Text 7"/>
          <p:cNvSpPr/>
          <p:nvPr/>
        </p:nvSpPr>
        <p:spPr>
          <a:xfrm>
            <a:off x="457200" y="1261872"/>
            <a:ext cx="3749040" cy="320040"/>
          </a:xfrm>
          <a:prstGeom prst="rect">
            <a:avLst/>
          </a:prstGeom>
          <a:noFill/>
          <a:ln/>
        </p:spPr>
        <p:txBody>
          <a:bodyPr wrap="square" rtlCol="0" anchor="ctr"/>
          <a:lstStyle/>
          <a:p>
            <a:pPr marL="0" indent="0">
              <a:buNone/>
            </a:pPr>
            <a:r>
              <a:rPr lang="en-US" sz="1200" b="1" dirty="0">
                <a:solidFill>
                  <a:srgbClr val="C4A34B"/>
                </a:solidFill>
              </a:rPr>
              <a:t>Qu'est-ce que JWT ?</a:t>
            </a:r>
            <a:endParaRPr lang="en-US" sz="1200" dirty="0"/>
          </a:p>
        </p:txBody>
      </p:sp>
      <p:sp>
        <p:nvSpPr>
          <p:cNvPr id="10" name="Text 8"/>
          <p:cNvSpPr/>
          <p:nvPr/>
        </p:nvSpPr>
        <p:spPr>
          <a:xfrm>
            <a:off x="457200" y="1600200"/>
            <a:ext cx="3749040" cy="594360"/>
          </a:xfrm>
          <a:prstGeom prst="rect">
            <a:avLst/>
          </a:prstGeom>
          <a:noFill/>
          <a:ln/>
        </p:spPr>
        <p:txBody>
          <a:bodyPr wrap="square" rtlCol="0" anchor="ctr"/>
          <a:lstStyle/>
          <a:p>
            <a:pPr marL="0" indent="0">
              <a:buNone/>
            </a:pPr>
            <a:r>
              <a:rPr lang="en-US" sz="950" dirty="0">
                <a:solidFill>
                  <a:srgbClr val="A0B4C8"/>
                </a:solidFill>
              </a:rPr>
              <a:t>JSON Web Token est un standard ouvert (RFC 7519)</a:t>
            </a:r>
            <a:endParaRPr lang="en-US" sz="950" dirty="0"/>
          </a:p>
          <a:p>
            <a:pPr marL="0" indent="0">
              <a:buNone/>
            </a:pPr>
            <a:r>
              <a:rPr lang="en-US" sz="950" dirty="0">
                <a:solidFill>
                  <a:srgbClr val="A0B4C8"/>
                </a:solidFill>
              </a:rPr>
              <a:t>qui permet l'échange sécurisé d'informations</a:t>
            </a:r>
            <a:endParaRPr lang="en-US" sz="950" dirty="0"/>
          </a:p>
          <a:p>
            <a:pPr marL="0" indent="0">
              <a:buNone/>
            </a:pPr>
            <a:r>
              <a:rPr lang="en-US" sz="950" dirty="0">
                <a:solidFill>
                  <a:srgbClr val="A0B4C8"/>
                </a:solidFill>
              </a:rPr>
              <a:t>entre parties sous forme de token signé.</a:t>
            </a:r>
            <a:endParaRPr lang="en-US" sz="950" dirty="0"/>
          </a:p>
        </p:txBody>
      </p:sp>
      <p:sp>
        <p:nvSpPr>
          <p:cNvPr id="11" name="Text 9"/>
          <p:cNvSpPr/>
          <p:nvPr/>
        </p:nvSpPr>
        <p:spPr>
          <a:xfrm>
            <a:off x="457200" y="2304288"/>
            <a:ext cx="3749040" cy="256032"/>
          </a:xfrm>
          <a:prstGeom prst="rect">
            <a:avLst/>
          </a:prstGeom>
          <a:noFill/>
          <a:ln/>
        </p:spPr>
        <p:txBody>
          <a:bodyPr wrap="square" rtlCol="0" anchor="ctr"/>
          <a:lstStyle/>
          <a:p>
            <a:pPr marL="0" indent="0">
              <a:buNone/>
            </a:pPr>
            <a:r>
              <a:rPr lang="en-US" sz="1000" b="1" dirty="0">
                <a:solidFill>
                  <a:srgbClr val="FFFFFF"/>
                </a:solidFill>
              </a:rPr>
              <a:t>Structure d'un token :</a:t>
            </a:r>
            <a:endParaRPr lang="en-US" sz="1000" dirty="0"/>
          </a:p>
        </p:txBody>
      </p:sp>
      <p:sp>
        <p:nvSpPr>
          <p:cNvPr id="12" name="Shape 10"/>
          <p:cNvSpPr/>
          <p:nvPr/>
        </p:nvSpPr>
        <p:spPr>
          <a:xfrm>
            <a:off x="457200" y="2606040"/>
            <a:ext cx="1188720" cy="502920"/>
          </a:xfrm>
          <a:prstGeom prst="rect">
            <a:avLst/>
          </a:prstGeom>
          <a:solidFill>
            <a:srgbClr val="E74C3C"/>
          </a:solidFill>
          <a:ln w="12700">
            <a:solidFill>
              <a:srgbClr val="E74C3C"/>
            </a:solidFill>
            <a:prstDash val="solid"/>
          </a:ln>
        </p:spPr>
      </p:sp>
      <p:sp>
        <p:nvSpPr>
          <p:cNvPr id="13" name="Text 11"/>
          <p:cNvSpPr/>
          <p:nvPr/>
        </p:nvSpPr>
        <p:spPr>
          <a:xfrm>
            <a:off x="457200" y="2624328"/>
            <a:ext cx="1188720" cy="228600"/>
          </a:xfrm>
          <a:prstGeom prst="rect">
            <a:avLst/>
          </a:prstGeom>
          <a:noFill/>
          <a:ln/>
        </p:spPr>
        <p:txBody>
          <a:bodyPr wrap="square" rtlCol="0" anchor="ctr"/>
          <a:lstStyle/>
          <a:p>
            <a:pPr marL="0" indent="0" algn="ctr">
              <a:buNone/>
            </a:pPr>
            <a:r>
              <a:rPr lang="en-US" sz="800" b="1" dirty="0">
                <a:solidFill>
                  <a:srgbClr val="FFFFFF"/>
                </a:solidFill>
              </a:rPr>
              <a:t>HEADER</a:t>
            </a:r>
            <a:endParaRPr lang="en-US" sz="800" dirty="0"/>
          </a:p>
        </p:txBody>
      </p:sp>
      <p:sp>
        <p:nvSpPr>
          <p:cNvPr id="14" name="Text 12"/>
          <p:cNvSpPr/>
          <p:nvPr/>
        </p:nvSpPr>
        <p:spPr>
          <a:xfrm>
            <a:off x="457200" y="2852928"/>
            <a:ext cx="1188720" cy="201168"/>
          </a:xfrm>
          <a:prstGeom prst="rect">
            <a:avLst/>
          </a:prstGeom>
          <a:noFill/>
          <a:ln/>
        </p:spPr>
        <p:txBody>
          <a:bodyPr wrap="square" rtlCol="0" anchor="ctr"/>
          <a:lstStyle/>
          <a:p>
            <a:pPr marL="0" indent="0" algn="ctr">
              <a:buNone/>
            </a:pPr>
            <a:r>
              <a:rPr lang="en-US" sz="750" dirty="0">
                <a:solidFill>
                  <a:srgbClr val="FFFFFF"/>
                </a:solidFill>
              </a:rPr>
              <a:t>Algorithme (HS256)</a:t>
            </a:r>
            <a:endParaRPr lang="en-US" sz="750" dirty="0"/>
          </a:p>
        </p:txBody>
      </p:sp>
      <p:sp>
        <p:nvSpPr>
          <p:cNvPr id="15" name="Text 13"/>
          <p:cNvSpPr/>
          <p:nvPr/>
        </p:nvSpPr>
        <p:spPr>
          <a:xfrm>
            <a:off x="1645920" y="2670048"/>
            <a:ext cx="109728" cy="274320"/>
          </a:xfrm>
          <a:prstGeom prst="rect">
            <a:avLst/>
          </a:prstGeom>
          <a:noFill/>
          <a:ln/>
        </p:spPr>
        <p:txBody>
          <a:bodyPr wrap="square" rtlCol="0" anchor="ctr"/>
          <a:lstStyle/>
          <a:p>
            <a:pPr marL="0" indent="0" algn="ctr">
              <a:buNone/>
            </a:pPr>
            <a:r>
              <a:rPr lang="en-US" sz="2200" b="1" dirty="0">
                <a:solidFill>
                  <a:srgbClr val="A0B4C8"/>
                </a:solidFill>
              </a:rPr>
              <a:t>.</a:t>
            </a:r>
            <a:endParaRPr lang="en-US" sz="2200" dirty="0"/>
          </a:p>
        </p:txBody>
      </p:sp>
      <p:sp>
        <p:nvSpPr>
          <p:cNvPr id="16" name="Shape 14"/>
          <p:cNvSpPr/>
          <p:nvPr/>
        </p:nvSpPr>
        <p:spPr>
          <a:xfrm>
            <a:off x="1755648" y="2606040"/>
            <a:ext cx="1188720" cy="502920"/>
          </a:xfrm>
          <a:prstGeom prst="rect">
            <a:avLst/>
          </a:prstGeom>
          <a:solidFill>
            <a:srgbClr val="C4A34B"/>
          </a:solidFill>
          <a:ln w="12700">
            <a:solidFill>
              <a:srgbClr val="C4A34B"/>
            </a:solidFill>
            <a:prstDash val="solid"/>
          </a:ln>
        </p:spPr>
      </p:sp>
      <p:sp>
        <p:nvSpPr>
          <p:cNvPr id="17" name="Text 15"/>
          <p:cNvSpPr/>
          <p:nvPr/>
        </p:nvSpPr>
        <p:spPr>
          <a:xfrm>
            <a:off x="1755648" y="2624328"/>
            <a:ext cx="1188720" cy="228600"/>
          </a:xfrm>
          <a:prstGeom prst="rect">
            <a:avLst/>
          </a:prstGeom>
          <a:noFill/>
          <a:ln/>
        </p:spPr>
        <p:txBody>
          <a:bodyPr wrap="square" rtlCol="0" anchor="ctr"/>
          <a:lstStyle/>
          <a:p>
            <a:pPr marL="0" indent="0" algn="ctr">
              <a:buNone/>
            </a:pPr>
            <a:r>
              <a:rPr lang="en-US" sz="800" b="1" dirty="0">
                <a:solidFill>
                  <a:srgbClr val="FFFFFF"/>
                </a:solidFill>
              </a:rPr>
              <a:t>PAYLOAD</a:t>
            </a:r>
            <a:endParaRPr lang="en-US" sz="800" dirty="0"/>
          </a:p>
        </p:txBody>
      </p:sp>
      <p:sp>
        <p:nvSpPr>
          <p:cNvPr id="18" name="Text 16"/>
          <p:cNvSpPr/>
          <p:nvPr/>
        </p:nvSpPr>
        <p:spPr>
          <a:xfrm>
            <a:off x="1755648" y="2852928"/>
            <a:ext cx="1188720" cy="201168"/>
          </a:xfrm>
          <a:prstGeom prst="rect">
            <a:avLst/>
          </a:prstGeom>
          <a:noFill/>
          <a:ln/>
        </p:spPr>
        <p:txBody>
          <a:bodyPr wrap="square" rtlCol="0" anchor="ctr"/>
          <a:lstStyle/>
          <a:p>
            <a:pPr marL="0" indent="0" algn="ctr">
              <a:buNone/>
            </a:pPr>
            <a:r>
              <a:rPr lang="en-US" sz="750" dirty="0">
                <a:solidFill>
                  <a:srgbClr val="FFFFFF"/>
                </a:solidFill>
              </a:rPr>
              <a:t>user, role, exp...</a:t>
            </a:r>
            <a:endParaRPr lang="en-US" sz="750" dirty="0"/>
          </a:p>
        </p:txBody>
      </p:sp>
      <p:sp>
        <p:nvSpPr>
          <p:cNvPr id="19" name="Text 17"/>
          <p:cNvSpPr/>
          <p:nvPr/>
        </p:nvSpPr>
        <p:spPr>
          <a:xfrm>
            <a:off x="2944368" y="2670048"/>
            <a:ext cx="109728" cy="274320"/>
          </a:xfrm>
          <a:prstGeom prst="rect">
            <a:avLst/>
          </a:prstGeom>
          <a:noFill/>
          <a:ln/>
        </p:spPr>
        <p:txBody>
          <a:bodyPr wrap="square" rtlCol="0" anchor="ctr"/>
          <a:lstStyle/>
          <a:p>
            <a:pPr marL="0" indent="0" algn="ctr">
              <a:buNone/>
            </a:pPr>
            <a:r>
              <a:rPr lang="en-US" sz="2200" b="1" dirty="0">
                <a:solidFill>
                  <a:srgbClr val="A0B4C8"/>
                </a:solidFill>
              </a:rPr>
              <a:t>.</a:t>
            </a:r>
            <a:endParaRPr lang="en-US" sz="2200" dirty="0"/>
          </a:p>
        </p:txBody>
      </p:sp>
      <p:sp>
        <p:nvSpPr>
          <p:cNvPr id="20" name="Shape 18"/>
          <p:cNvSpPr/>
          <p:nvPr/>
        </p:nvSpPr>
        <p:spPr>
          <a:xfrm>
            <a:off x="3054096" y="2606040"/>
            <a:ext cx="1188720" cy="502920"/>
          </a:xfrm>
          <a:prstGeom prst="rect">
            <a:avLst/>
          </a:prstGeom>
          <a:solidFill>
            <a:srgbClr val="2ECC71"/>
          </a:solidFill>
          <a:ln w="12700">
            <a:solidFill>
              <a:srgbClr val="2ECC71"/>
            </a:solidFill>
            <a:prstDash val="solid"/>
          </a:ln>
        </p:spPr>
      </p:sp>
      <p:sp>
        <p:nvSpPr>
          <p:cNvPr id="21" name="Text 19"/>
          <p:cNvSpPr/>
          <p:nvPr/>
        </p:nvSpPr>
        <p:spPr>
          <a:xfrm>
            <a:off x="3054096" y="2624328"/>
            <a:ext cx="1188720" cy="228600"/>
          </a:xfrm>
          <a:prstGeom prst="rect">
            <a:avLst/>
          </a:prstGeom>
          <a:noFill/>
          <a:ln/>
        </p:spPr>
        <p:txBody>
          <a:bodyPr wrap="square" rtlCol="0" anchor="ctr"/>
          <a:lstStyle/>
          <a:p>
            <a:pPr marL="0" indent="0" algn="ctr">
              <a:buNone/>
            </a:pPr>
            <a:r>
              <a:rPr lang="en-US" sz="800" b="1" dirty="0">
                <a:solidFill>
                  <a:srgbClr val="FFFFFF"/>
                </a:solidFill>
              </a:rPr>
              <a:t>SIGNATURE</a:t>
            </a:r>
            <a:endParaRPr lang="en-US" sz="800" dirty="0"/>
          </a:p>
        </p:txBody>
      </p:sp>
      <p:sp>
        <p:nvSpPr>
          <p:cNvPr id="22" name="Text 20"/>
          <p:cNvSpPr/>
          <p:nvPr/>
        </p:nvSpPr>
        <p:spPr>
          <a:xfrm>
            <a:off x="3054096" y="2852928"/>
            <a:ext cx="1188720" cy="201168"/>
          </a:xfrm>
          <a:prstGeom prst="rect">
            <a:avLst/>
          </a:prstGeom>
          <a:noFill/>
          <a:ln/>
        </p:spPr>
        <p:txBody>
          <a:bodyPr wrap="square" rtlCol="0" anchor="ctr"/>
          <a:lstStyle/>
          <a:p>
            <a:pPr marL="0" indent="0" algn="ctr">
              <a:buNone/>
            </a:pPr>
            <a:r>
              <a:rPr lang="en-US" sz="750" dirty="0">
                <a:solidFill>
                  <a:srgbClr val="FFFFFF"/>
                </a:solidFill>
              </a:rPr>
              <a:t>Clé secrète 256 bits</a:t>
            </a:r>
            <a:endParaRPr lang="en-US" sz="750" dirty="0"/>
          </a:p>
        </p:txBody>
      </p:sp>
      <p:sp>
        <p:nvSpPr>
          <p:cNvPr id="23" name="Text 21"/>
          <p:cNvSpPr/>
          <p:nvPr/>
        </p:nvSpPr>
        <p:spPr>
          <a:xfrm>
            <a:off x="457200" y="3246120"/>
            <a:ext cx="3749040" cy="256032"/>
          </a:xfrm>
          <a:prstGeom prst="rect">
            <a:avLst/>
          </a:prstGeom>
          <a:noFill/>
          <a:ln/>
        </p:spPr>
        <p:txBody>
          <a:bodyPr wrap="square" rtlCol="0" anchor="ctr"/>
          <a:lstStyle/>
          <a:p>
            <a:pPr marL="0" indent="0">
              <a:buNone/>
            </a:pPr>
            <a:r>
              <a:rPr lang="en-US" sz="1000" b="1" dirty="0">
                <a:solidFill>
                  <a:srgbClr val="FFFFFF"/>
                </a:solidFill>
              </a:rPr>
              <a:t>Dans ShopFlow :</a:t>
            </a:r>
            <a:endParaRPr lang="en-US" sz="1000" dirty="0"/>
          </a:p>
        </p:txBody>
      </p:sp>
      <p:sp>
        <p:nvSpPr>
          <p:cNvPr id="24" name="Shape 22"/>
          <p:cNvSpPr/>
          <p:nvPr/>
        </p:nvSpPr>
        <p:spPr>
          <a:xfrm>
            <a:off x="457200" y="3547872"/>
            <a:ext cx="3749040" cy="347472"/>
          </a:xfrm>
          <a:prstGeom prst="rect">
            <a:avLst/>
          </a:prstGeom>
          <a:solidFill>
            <a:srgbClr val="3A7BD5"/>
          </a:solidFill>
          <a:ln w="12700">
            <a:solidFill>
              <a:srgbClr val="3A7BD5"/>
            </a:solidFill>
            <a:prstDash val="solid"/>
          </a:ln>
        </p:spPr>
      </p:sp>
      <p:sp>
        <p:nvSpPr>
          <p:cNvPr id="25" name="Text 23"/>
          <p:cNvSpPr/>
          <p:nvPr/>
        </p:nvSpPr>
        <p:spPr>
          <a:xfrm>
            <a:off x="594360" y="3575304"/>
            <a:ext cx="2286000" cy="256032"/>
          </a:xfrm>
          <a:prstGeom prst="rect">
            <a:avLst/>
          </a:prstGeom>
          <a:noFill/>
          <a:ln/>
        </p:spPr>
        <p:txBody>
          <a:bodyPr wrap="square" rtlCol="0" anchor="ctr"/>
          <a:lstStyle/>
          <a:p>
            <a:pPr marL="0" indent="0">
              <a:buNone/>
            </a:pPr>
            <a:r>
              <a:rPr lang="en-US" sz="950" b="1" dirty="0">
                <a:solidFill>
                  <a:srgbClr val="FFFFFF"/>
                </a:solidFill>
              </a:rPr>
              <a:t>Access Token</a:t>
            </a:r>
            <a:endParaRPr lang="en-US" sz="950" dirty="0"/>
          </a:p>
        </p:txBody>
      </p:sp>
      <p:sp>
        <p:nvSpPr>
          <p:cNvPr id="26" name="Text 24"/>
          <p:cNvSpPr/>
          <p:nvPr/>
        </p:nvSpPr>
        <p:spPr>
          <a:xfrm>
            <a:off x="3200400" y="3575304"/>
            <a:ext cx="914400" cy="256032"/>
          </a:xfrm>
          <a:prstGeom prst="rect">
            <a:avLst/>
          </a:prstGeom>
          <a:noFill/>
          <a:ln/>
        </p:spPr>
        <p:txBody>
          <a:bodyPr wrap="square" rtlCol="0" anchor="ctr"/>
          <a:lstStyle/>
          <a:p>
            <a:pPr marL="0" indent="0" algn="r">
              <a:buNone/>
            </a:pPr>
            <a:r>
              <a:rPr lang="en-US" sz="950" b="1" dirty="0">
                <a:solidFill>
                  <a:srgbClr val="FFFFFF"/>
                </a:solidFill>
              </a:rPr>
              <a:t>15 min</a:t>
            </a:r>
            <a:endParaRPr lang="en-US" sz="950" dirty="0"/>
          </a:p>
        </p:txBody>
      </p:sp>
      <p:sp>
        <p:nvSpPr>
          <p:cNvPr id="27" name="Shape 25"/>
          <p:cNvSpPr/>
          <p:nvPr/>
        </p:nvSpPr>
        <p:spPr>
          <a:xfrm>
            <a:off x="457200" y="3986784"/>
            <a:ext cx="3749040" cy="347472"/>
          </a:xfrm>
          <a:prstGeom prst="rect">
            <a:avLst/>
          </a:prstGeom>
          <a:solidFill>
            <a:srgbClr val="3A9E6E"/>
          </a:solidFill>
          <a:ln w="12700">
            <a:solidFill>
              <a:srgbClr val="3A9E6E"/>
            </a:solidFill>
            <a:prstDash val="solid"/>
          </a:ln>
        </p:spPr>
      </p:sp>
      <p:sp>
        <p:nvSpPr>
          <p:cNvPr id="28" name="Text 26"/>
          <p:cNvSpPr/>
          <p:nvPr/>
        </p:nvSpPr>
        <p:spPr>
          <a:xfrm>
            <a:off x="594360" y="4014216"/>
            <a:ext cx="2286000" cy="256032"/>
          </a:xfrm>
          <a:prstGeom prst="rect">
            <a:avLst/>
          </a:prstGeom>
          <a:noFill/>
          <a:ln/>
        </p:spPr>
        <p:txBody>
          <a:bodyPr wrap="square" rtlCol="0" anchor="ctr"/>
          <a:lstStyle/>
          <a:p>
            <a:pPr marL="0" indent="0">
              <a:buNone/>
            </a:pPr>
            <a:r>
              <a:rPr lang="en-US" sz="950" b="1" dirty="0">
                <a:solidFill>
                  <a:srgbClr val="FFFFFF"/>
                </a:solidFill>
              </a:rPr>
              <a:t>Refresh Token</a:t>
            </a:r>
            <a:endParaRPr lang="en-US" sz="950" dirty="0"/>
          </a:p>
        </p:txBody>
      </p:sp>
      <p:sp>
        <p:nvSpPr>
          <p:cNvPr id="29" name="Text 27"/>
          <p:cNvSpPr/>
          <p:nvPr/>
        </p:nvSpPr>
        <p:spPr>
          <a:xfrm>
            <a:off x="3200400" y="4014216"/>
            <a:ext cx="914400" cy="256032"/>
          </a:xfrm>
          <a:prstGeom prst="rect">
            <a:avLst/>
          </a:prstGeom>
          <a:noFill/>
          <a:ln/>
        </p:spPr>
        <p:txBody>
          <a:bodyPr wrap="square" rtlCol="0" anchor="ctr"/>
          <a:lstStyle/>
          <a:p>
            <a:pPr marL="0" indent="0" algn="r">
              <a:buNone/>
            </a:pPr>
            <a:r>
              <a:rPr lang="en-US" sz="950" b="1" dirty="0">
                <a:solidFill>
                  <a:srgbClr val="FFFFFF"/>
                </a:solidFill>
              </a:rPr>
              <a:t>7 jours</a:t>
            </a:r>
            <a:endParaRPr lang="en-US" sz="950" dirty="0"/>
          </a:p>
        </p:txBody>
      </p:sp>
      <p:sp>
        <p:nvSpPr>
          <p:cNvPr id="30" name="Shape 28"/>
          <p:cNvSpPr/>
          <p:nvPr/>
        </p:nvSpPr>
        <p:spPr>
          <a:xfrm>
            <a:off x="4663440" y="1170432"/>
            <a:ext cx="4206240" cy="3749040"/>
          </a:xfrm>
          <a:prstGeom prst="rect">
            <a:avLst/>
          </a:prstGeom>
          <a:solidFill>
            <a:srgbClr val="1C2E4A"/>
          </a:solidFill>
          <a:ln w="6350">
            <a:solidFill>
              <a:srgbClr val="2A4070"/>
            </a:solidFill>
            <a:prstDash val="solid"/>
          </a:ln>
        </p:spPr>
      </p:sp>
      <p:sp>
        <p:nvSpPr>
          <p:cNvPr id="31" name="Shape 29"/>
          <p:cNvSpPr/>
          <p:nvPr/>
        </p:nvSpPr>
        <p:spPr>
          <a:xfrm>
            <a:off x="4800600" y="1298448"/>
            <a:ext cx="822960" cy="502920"/>
          </a:xfrm>
          <a:prstGeom prst="rect">
            <a:avLst/>
          </a:prstGeom>
          <a:solidFill>
            <a:srgbClr val="7B68EE"/>
          </a:solidFill>
          <a:ln w="12700">
            <a:solidFill>
              <a:srgbClr val="7B68EE"/>
            </a:solidFill>
            <a:prstDash val="solid"/>
          </a:ln>
        </p:spPr>
      </p:sp>
      <p:sp>
        <p:nvSpPr>
          <p:cNvPr id="32" name="Text 30"/>
          <p:cNvSpPr/>
          <p:nvPr/>
        </p:nvSpPr>
        <p:spPr>
          <a:xfrm>
            <a:off x="4800600" y="1298448"/>
            <a:ext cx="822960" cy="502920"/>
          </a:xfrm>
          <a:prstGeom prst="rect">
            <a:avLst/>
          </a:prstGeom>
          <a:noFill/>
          <a:ln/>
        </p:spPr>
        <p:txBody>
          <a:bodyPr wrap="square" rtlCol="0" anchor="ctr"/>
          <a:lstStyle/>
          <a:p>
            <a:pPr marL="0" indent="0" algn="ctr">
              <a:buNone/>
            </a:pPr>
            <a:r>
              <a:rPr lang="en-US" sz="750" b="1" dirty="0">
                <a:solidFill>
                  <a:srgbClr val="FFFFFF"/>
                </a:solidFill>
              </a:rPr>
              <a:t>Next.js</a:t>
            </a:r>
            <a:endParaRPr lang="en-US" sz="750" dirty="0"/>
          </a:p>
          <a:p>
            <a:pPr marL="0" indent="0" algn="ctr">
              <a:buNone/>
            </a:pPr>
            <a:r>
              <a:rPr lang="en-US" sz="750" b="1" dirty="0">
                <a:solidFill>
                  <a:srgbClr val="FFFFFF"/>
                </a:solidFill>
              </a:rPr>
              <a:t>Client</a:t>
            </a:r>
            <a:endParaRPr lang="en-US" sz="750" dirty="0"/>
          </a:p>
        </p:txBody>
      </p:sp>
      <p:sp>
        <p:nvSpPr>
          <p:cNvPr id="33" name="Shape 31"/>
          <p:cNvSpPr/>
          <p:nvPr/>
        </p:nvSpPr>
        <p:spPr>
          <a:xfrm>
            <a:off x="5212080" y="1801368"/>
            <a:ext cx="0" cy="2926080"/>
          </a:xfrm>
          <a:prstGeom prst="line">
            <a:avLst/>
          </a:prstGeom>
          <a:noFill/>
          <a:ln w="10160">
            <a:solidFill>
              <a:srgbClr val="334466"/>
            </a:solidFill>
            <a:prstDash val="dash"/>
          </a:ln>
        </p:spPr>
      </p:sp>
      <p:sp>
        <p:nvSpPr>
          <p:cNvPr id="34" name="Shape 32"/>
          <p:cNvSpPr/>
          <p:nvPr/>
        </p:nvSpPr>
        <p:spPr>
          <a:xfrm>
            <a:off x="5806440" y="1298448"/>
            <a:ext cx="822960" cy="502920"/>
          </a:xfrm>
          <a:prstGeom prst="rect">
            <a:avLst/>
          </a:prstGeom>
          <a:solidFill>
            <a:srgbClr val="D97706"/>
          </a:solidFill>
          <a:ln w="12700">
            <a:solidFill>
              <a:srgbClr val="D97706"/>
            </a:solidFill>
            <a:prstDash val="solid"/>
          </a:ln>
        </p:spPr>
      </p:sp>
      <p:sp>
        <p:nvSpPr>
          <p:cNvPr id="35" name="Text 33"/>
          <p:cNvSpPr/>
          <p:nvPr/>
        </p:nvSpPr>
        <p:spPr>
          <a:xfrm>
            <a:off x="5806440" y="1298448"/>
            <a:ext cx="822960" cy="502920"/>
          </a:xfrm>
          <a:prstGeom prst="rect">
            <a:avLst/>
          </a:prstGeom>
          <a:noFill/>
          <a:ln/>
        </p:spPr>
        <p:txBody>
          <a:bodyPr wrap="square" rtlCol="0" anchor="ctr"/>
          <a:lstStyle/>
          <a:p>
            <a:pPr marL="0" indent="0" algn="ctr">
              <a:buNone/>
            </a:pPr>
            <a:r>
              <a:rPr lang="en-US" sz="750" b="1" dirty="0">
                <a:solidFill>
                  <a:srgbClr val="FFFFFF"/>
                </a:solidFill>
              </a:rPr>
              <a:t>JwtFilter</a:t>
            </a:r>
            <a:endParaRPr lang="en-US" sz="750" dirty="0"/>
          </a:p>
          <a:p>
            <a:pPr marL="0" indent="0" algn="ctr">
              <a:buNone/>
            </a:pPr>
            <a:r>
              <a:rPr lang="en-US" sz="750" b="1" dirty="0">
                <a:solidFill>
                  <a:srgbClr val="FFFFFF"/>
                </a:solidFill>
              </a:rPr>
              <a:t>Spring</a:t>
            </a:r>
            <a:endParaRPr lang="en-US" sz="750" dirty="0"/>
          </a:p>
        </p:txBody>
      </p:sp>
      <p:sp>
        <p:nvSpPr>
          <p:cNvPr id="36" name="Shape 34"/>
          <p:cNvSpPr/>
          <p:nvPr/>
        </p:nvSpPr>
        <p:spPr>
          <a:xfrm>
            <a:off x="6217920" y="1801368"/>
            <a:ext cx="0" cy="2926080"/>
          </a:xfrm>
          <a:prstGeom prst="line">
            <a:avLst/>
          </a:prstGeom>
          <a:noFill/>
          <a:ln w="10160">
            <a:solidFill>
              <a:srgbClr val="334466"/>
            </a:solidFill>
            <a:prstDash val="dash"/>
          </a:ln>
        </p:spPr>
      </p:sp>
      <p:sp>
        <p:nvSpPr>
          <p:cNvPr id="37" name="Shape 35"/>
          <p:cNvSpPr/>
          <p:nvPr/>
        </p:nvSpPr>
        <p:spPr>
          <a:xfrm>
            <a:off x="6766560" y="1298448"/>
            <a:ext cx="822960" cy="502920"/>
          </a:xfrm>
          <a:prstGeom prst="rect">
            <a:avLst/>
          </a:prstGeom>
          <a:solidFill>
            <a:srgbClr val="3A7BD5"/>
          </a:solidFill>
          <a:ln w="12700">
            <a:solidFill>
              <a:srgbClr val="3A7BD5"/>
            </a:solidFill>
            <a:prstDash val="solid"/>
          </a:ln>
        </p:spPr>
      </p:sp>
      <p:sp>
        <p:nvSpPr>
          <p:cNvPr id="38" name="Text 36"/>
          <p:cNvSpPr/>
          <p:nvPr/>
        </p:nvSpPr>
        <p:spPr>
          <a:xfrm>
            <a:off x="6766560" y="1298448"/>
            <a:ext cx="822960" cy="502920"/>
          </a:xfrm>
          <a:prstGeom prst="rect">
            <a:avLst/>
          </a:prstGeom>
          <a:noFill/>
          <a:ln/>
        </p:spPr>
        <p:txBody>
          <a:bodyPr wrap="square" rtlCol="0" anchor="ctr"/>
          <a:lstStyle/>
          <a:p>
            <a:pPr marL="0" indent="0" algn="ctr">
              <a:buNone/>
            </a:pPr>
            <a:r>
              <a:rPr lang="en-US" sz="750" b="1" dirty="0">
                <a:solidFill>
                  <a:srgbClr val="FFFFFF"/>
                </a:solidFill>
              </a:rPr>
              <a:t>Service</a:t>
            </a:r>
            <a:endParaRPr lang="en-US" sz="750" dirty="0"/>
          </a:p>
          <a:p>
            <a:pPr marL="0" indent="0" algn="ctr">
              <a:buNone/>
            </a:pPr>
            <a:r>
              <a:rPr lang="en-US" sz="750" b="1" dirty="0">
                <a:solidFill>
                  <a:srgbClr val="FFFFFF"/>
                </a:solidFill>
              </a:rPr>
              <a:t>Auth</a:t>
            </a:r>
            <a:endParaRPr lang="en-US" sz="750" dirty="0"/>
          </a:p>
        </p:txBody>
      </p:sp>
      <p:sp>
        <p:nvSpPr>
          <p:cNvPr id="39" name="Shape 37"/>
          <p:cNvSpPr/>
          <p:nvPr/>
        </p:nvSpPr>
        <p:spPr>
          <a:xfrm>
            <a:off x="7178040" y="1801368"/>
            <a:ext cx="0" cy="2926080"/>
          </a:xfrm>
          <a:prstGeom prst="line">
            <a:avLst/>
          </a:prstGeom>
          <a:noFill/>
          <a:ln w="10160">
            <a:solidFill>
              <a:srgbClr val="334466"/>
            </a:solidFill>
            <a:prstDash val="dash"/>
          </a:ln>
        </p:spPr>
      </p:sp>
      <p:sp>
        <p:nvSpPr>
          <p:cNvPr id="40" name="Shape 38"/>
          <p:cNvSpPr/>
          <p:nvPr/>
        </p:nvSpPr>
        <p:spPr>
          <a:xfrm>
            <a:off x="7726680" y="1298448"/>
            <a:ext cx="822960" cy="502920"/>
          </a:xfrm>
          <a:prstGeom prst="rect">
            <a:avLst/>
          </a:prstGeom>
          <a:solidFill>
            <a:srgbClr val="5B3F8C"/>
          </a:solidFill>
          <a:ln w="12700">
            <a:solidFill>
              <a:srgbClr val="5B3F8C"/>
            </a:solidFill>
            <a:prstDash val="solid"/>
          </a:ln>
        </p:spPr>
      </p:sp>
      <p:sp>
        <p:nvSpPr>
          <p:cNvPr id="41" name="Text 39"/>
          <p:cNvSpPr/>
          <p:nvPr/>
        </p:nvSpPr>
        <p:spPr>
          <a:xfrm>
            <a:off x="7726680" y="1298448"/>
            <a:ext cx="822960" cy="502920"/>
          </a:xfrm>
          <a:prstGeom prst="rect">
            <a:avLst/>
          </a:prstGeom>
          <a:noFill/>
          <a:ln/>
        </p:spPr>
        <p:txBody>
          <a:bodyPr wrap="square" rtlCol="0" anchor="ctr"/>
          <a:lstStyle/>
          <a:p>
            <a:pPr marL="0" indent="0" algn="ctr">
              <a:buNone/>
            </a:pPr>
            <a:r>
              <a:rPr lang="en-US" sz="750" b="1" dirty="0">
                <a:solidFill>
                  <a:srgbClr val="FFFFFF"/>
                </a:solidFill>
              </a:rPr>
              <a:t>Refresh</a:t>
            </a:r>
            <a:endParaRPr lang="en-US" sz="750" dirty="0"/>
          </a:p>
          <a:p>
            <a:pPr marL="0" indent="0" algn="ctr">
              <a:buNone/>
            </a:pPr>
            <a:r>
              <a:rPr lang="en-US" sz="750" b="1" dirty="0">
                <a:solidFill>
                  <a:srgbClr val="FFFFFF"/>
                </a:solidFill>
              </a:rPr>
              <a:t>Repository</a:t>
            </a:r>
            <a:endParaRPr lang="en-US" sz="750" dirty="0"/>
          </a:p>
        </p:txBody>
      </p:sp>
      <p:sp>
        <p:nvSpPr>
          <p:cNvPr id="42" name="Shape 40"/>
          <p:cNvSpPr/>
          <p:nvPr/>
        </p:nvSpPr>
        <p:spPr>
          <a:xfrm>
            <a:off x="8138160" y="1801368"/>
            <a:ext cx="0" cy="2926080"/>
          </a:xfrm>
          <a:prstGeom prst="line">
            <a:avLst/>
          </a:prstGeom>
          <a:noFill/>
          <a:ln w="10160">
            <a:solidFill>
              <a:srgbClr val="334466"/>
            </a:solidFill>
            <a:prstDash val="dash"/>
          </a:ln>
        </p:spPr>
      </p:sp>
      <p:sp>
        <p:nvSpPr>
          <p:cNvPr id="43" name="Shape 41"/>
          <p:cNvSpPr/>
          <p:nvPr/>
        </p:nvSpPr>
        <p:spPr>
          <a:xfrm>
            <a:off x="5212080" y="2011680"/>
            <a:ext cx="1005840" cy="0"/>
          </a:xfrm>
          <a:prstGeom prst="line">
            <a:avLst/>
          </a:prstGeom>
          <a:noFill/>
          <a:ln w="12700">
            <a:solidFill>
              <a:srgbClr val="FFFFFF"/>
            </a:solidFill>
            <a:prstDash val="solid"/>
          </a:ln>
        </p:spPr>
      </p:sp>
      <p:sp>
        <p:nvSpPr>
          <p:cNvPr id="44" name="Text 42"/>
          <p:cNvSpPr/>
          <p:nvPr/>
        </p:nvSpPr>
        <p:spPr>
          <a:xfrm>
            <a:off x="5074920" y="1847088"/>
            <a:ext cx="1463040" cy="182880"/>
          </a:xfrm>
          <a:prstGeom prst="rect">
            <a:avLst/>
          </a:prstGeom>
          <a:noFill/>
          <a:ln/>
        </p:spPr>
        <p:txBody>
          <a:bodyPr wrap="square" rtlCol="0" anchor="ctr"/>
          <a:lstStyle/>
          <a:p>
            <a:pPr marL="0" indent="0" algn="ctr">
              <a:buNone/>
            </a:pPr>
            <a:r>
              <a:rPr lang="en-US" sz="650" dirty="0">
                <a:solidFill>
                  <a:srgbClr val="FFFFFF"/>
                </a:solidFill>
              </a:rPr>
              <a:t>Requête + Bearer Token</a:t>
            </a:r>
            <a:endParaRPr lang="en-US" sz="650" dirty="0"/>
          </a:p>
        </p:txBody>
      </p:sp>
      <p:sp>
        <p:nvSpPr>
          <p:cNvPr id="45" name="Shape 43"/>
          <p:cNvSpPr/>
          <p:nvPr/>
        </p:nvSpPr>
        <p:spPr>
          <a:xfrm>
            <a:off x="6217920" y="2267712"/>
            <a:ext cx="960120" cy="0"/>
          </a:xfrm>
          <a:prstGeom prst="line">
            <a:avLst/>
          </a:prstGeom>
          <a:noFill/>
          <a:ln w="12700">
            <a:solidFill>
              <a:srgbClr val="FFFFFF"/>
            </a:solidFill>
            <a:prstDash val="solid"/>
          </a:ln>
        </p:spPr>
      </p:sp>
      <p:sp>
        <p:nvSpPr>
          <p:cNvPr id="46" name="Text 44"/>
          <p:cNvSpPr/>
          <p:nvPr/>
        </p:nvSpPr>
        <p:spPr>
          <a:xfrm>
            <a:off x="6057900" y="2103120"/>
            <a:ext cx="1463040" cy="182880"/>
          </a:xfrm>
          <a:prstGeom prst="rect">
            <a:avLst/>
          </a:prstGeom>
          <a:noFill/>
          <a:ln/>
        </p:spPr>
        <p:txBody>
          <a:bodyPr wrap="square" rtlCol="0" anchor="ctr"/>
          <a:lstStyle/>
          <a:p>
            <a:pPr marL="0" indent="0" algn="ctr">
              <a:buNone/>
            </a:pPr>
            <a:r>
              <a:rPr lang="en-US" sz="650" dirty="0">
                <a:solidFill>
                  <a:srgbClr val="FFFFFF"/>
                </a:solidFill>
              </a:rPr>
              <a:t>Valider le token JWT</a:t>
            </a:r>
            <a:endParaRPr lang="en-US" sz="650" dirty="0"/>
          </a:p>
        </p:txBody>
      </p:sp>
      <p:sp>
        <p:nvSpPr>
          <p:cNvPr id="47" name="Shape 45"/>
          <p:cNvSpPr/>
          <p:nvPr/>
        </p:nvSpPr>
        <p:spPr>
          <a:xfrm>
            <a:off x="6217920" y="2523744"/>
            <a:ext cx="960120" cy="0"/>
          </a:xfrm>
          <a:prstGeom prst="line">
            <a:avLst/>
          </a:prstGeom>
          <a:noFill/>
          <a:ln w="12700">
            <a:solidFill>
              <a:srgbClr val="AACCFF"/>
            </a:solidFill>
            <a:prstDash val="solid"/>
          </a:ln>
        </p:spPr>
      </p:sp>
      <p:sp>
        <p:nvSpPr>
          <p:cNvPr id="48" name="Text 46"/>
          <p:cNvSpPr/>
          <p:nvPr/>
        </p:nvSpPr>
        <p:spPr>
          <a:xfrm>
            <a:off x="6057900" y="2359152"/>
            <a:ext cx="1463040" cy="182880"/>
          </a:xfrm>
          <a:prstGeom prst="rect">
            <a:avLst/>
          </a:prstGeom>
          <a:noFill/>
          <a:ln/>
        </p:spPr>
        <p:txBody>
          <a:bodyPr wrap="square" rtlCol="0" anchor="ctr"/>
          <a:lstStyle/>
          <a:p>
            <a:pPr marL="0" indent="0" algn="ctr">
              <a:buNone/>
            </a:pPr>
            <a:r>
              <a:rPr lang="en-US" sz="650" dirty="0">
                <a:solidFill>
                  <a:srgbClr val="AACCFF"/>
                </a:solidFill>
              </a:rPr>
              <a:t>Utilisateur authentifié</a:t>
            </a:r>
            <a:endParaRPr lang="en-US" sz="650" dirty="0"/>
          </a:p>
        </p:txBody>
      </p:sp>
      <p:sp>
        <p:nvSpPr>
          <p:cNvPr id="49" name="Shape 47"/>
          <p:cNvSpPr/>
          <p:nvPr/>
        </p:nvSpPr>
        <p:spPr>
          <a:xfrm>
            <a:off x="5212080" y="2779776"/>
            <a:ext cx="1005840" cy="0"/>
          </a:xfrm>
          <a:prstGeom prst="line">
            <a:avLst/>
          </a:prstGeom>
          <a:noFill/>
          <a:ln w="12700">
            <a:solidFill>
              <a:srgbClr val="AACCFF"/>
            </a:solidFill>
            <a:prstDash val="solid"/>
          </a:ln>
        </p:spPr>
      </p:sp>
      <p:sp>
        <p:nvSpPr>
          <p:cNvPr id="50" name="Text 48"/>
          <p:cNvSpPr/>
          <p:nvPr/>
        </p:nvSpPr>
        <p:spPr>
          <a:xfrm>
            <a:off x="5074920" y="2615184"/>
            <a:ext cx="1463040" cy="182880"/>
          </a:xfrm>
          <a:prstGeom prst="rect">
            <a:avLst/>
          </a:prstGeom>
          <a:noFill/>
          <a:ln/>
        </p:spPr>
        <p:txBody>
          <a:bodyPr wrap="square" rtlCol="0" anchor="ctr"/>
          <a:lstStyle/>
          <a:p>
            <a:pPr marL="0" indent="0" algn="ctr">
              <a:buNone/>
            </a:pPr>
            <a:r>
              <a:rPr lang="en-US" sz="650" dirty="0">
                <a:solidFill>
                  <a:srgbClr val="AACCFF"/>
                </a:solidFill>
              </a:rPr>
              <a:t>Réponse 200 OK</a:t>
            </a:r>
            <a:endParaRPr lang="en-US" sz="650" dirty="0"/>
          </a:p>
        </p:txBody>
      </p:sp>
      <p:sp>
        <p:nvSpPr>
          <p:cNvPr id="51" name="Shape 49"/>
          <p:cNvSpPr/>
          <p:nvPr/>
        </p:nvSpPr>
        <p:spPr>
          <a:xfrm>
            <a:off x="5212080" y="3063240"/>
            <a:ext cx="1005840" cy="0"/>
          </a:xfrm>
          <a:prstGeom prst="line">
            <a:avLst/>
          </a:prstGeom>
          <a:noFill/>
          <a:ln w="12700">
            <a:solidFill>
              <a:srgbClr val="FF8866"/>
            </a:solidFill>
            <a:prstDash val="solid"/>
          </a:ln>
        </p:spPr>
      </p:sp>
      <p:sp>
        <p:nvSpPr>
          <p:cNvPr id="52" name="Text 50"/>
          <p:cNvSpPr/>
          <p:nvPr/>
        </p:nvSpPr>
        <p:spPr>
          <a:xfrm>
            <a:off x="5074920" y="2898648"/>
            <a:ext cx="1463040" cy="182880"/>
          </a:xfrm>
          <a:prstGeom prst="rect">
            <a:avLst/>
          </a:prstGeom>
          <a:noFill/>
          <a:ln/>
        </p:spPr>
        <p:txBody>
          <a:bodyPr wrap="square" rtlCol="0" anchor="ctr"/>
          <a:lstStyle/>
          <a:p>
            <a:pPr marL="0" indent="0" algn="ctr">
              <a:buNone/>
            </a:pPr>
            <a:r>
              <a:rPr lang="en-US" sz="650" dirty="0">
                <a:solidFill>
                  <a:srgbClr val="FF8866"/>
                </a:solidFill>
              </a:rPr>
              <a:t>Token expiré → 401</a:t>
            </a:r>
            <a:endParaRPr lang="en-US" sz="650" dirty="0"/>
          </a:p>
        </p:txBody>
      </p:sp>
      <p:sp>
        <p:nvSpPr>
          <p:cNvPr id="53" name="Shape 51"/>
          <p:cNvSpPr/>
          <p:nvPr/>
        </p:nvSpPr>
        <p:spPr>
          <a:xfrm>
            <a:off x="6217920" y="3310128"/>
            <a:ext cx="1920240" cy="0"/>
          </a:xfrm>
          <a:prstGeom prst="line">
            <a:avLst/>
          </a:prstGeom>
          <a:noFill/>
          <a:ln w="12700">
            <a:solidFill>
              <a:srgbClr val="C4A34B"/>
            </a:solidFill>
            <a:prstDash val="dash"/>
          </a:ln>
        </p:spPr>
      </p:sp>
      <p:sp>
        <p:nvSpPr>
          <p:cNvPr id="54" name="Text 52"/>
          <p:cNvSpPr/>
          <p:nvPr/>
        </p:nvSpPr>
        <p:spPr>
          <a:xfrm>
            <a:off x="6537960" y="3145536"/>
            <a:ext cx="1463040" cy="182880"/>
          </a:xfrm>
          <a:prstGeom prst="rect">
            <a:avLst/>
          </a:prstGeom>
          <a:noFill/>
          <a:ln/>
        </p:spPr>
        <p:txBody>
          <a:bodyPr wrap="square" rtlCol="0" anchor="ctr"/>
          <a:lstStyle/>
          <a:p>
            <a:pPr marL="0" indent="0" algn="ctr">
              <a:buNone/>
            </a:pPr>
            <a:r>
              <a:rPr lang="en-US" sz="650" dirty="0">
                <a:solidFill>
                  <a:srgbClr val="C4A34B"/>
                </a:solidFill>
              </a:rPr>
              <a:t>Refresh Token</a:t>
            </a:r>
            <a:endParaRPr lang="en-US" sz="650" dirty="0"/>
          </a:p>
        </p:txBody>
      </p:sp>
      <p:sp>
        <p:nvSpPr>
          <p:cNvPr id="55" name="Shape 53"/>
          <p:cNvSpPr/>
          <p:nvPr/>
        </p:nvSpPr>
        <p:spPr>
          <a:xfrm>
            <a:off x="7178040" y="3310128"/>
            <a:ext cx="960120" cy="0"/>
          </a:xfrm>
          <a:prstGeom prst="line">
            <a:avLst/>
          </a:prstGeom>
          <a:noFill/>
          <a:ln w="12700">
            <a:solidFill>
              <a:srgbClr val="C4A34B"/>
            </a:solidFill>
            <a:prstDash val="dash"/>
          </a:ln>
        </p:spPr>
      </p:sp>
      <p:sp>
        <p:nvSpPr>
          <p:cNvPr id="56" name="Text 54"/>
          <p:cNvSpPr/>
          <p:nvPr/>
        </p:nvSpPr>
        <p:spPr>
          <a:xfrm>
            <a:off x="7018020" y="3145536"/>
            <a:ext cx="1463040" cy="182880"/>
          </a:xfrm>
          <a:prstGeom prst="rect">
            <a:avLst/>
          </a:prstGeom>
          <a:noFill/>
          <a:ln/>
        </p:spPr>
        <p:txBody>
          <a:bodyPr wrap="square" rtlCol="0" anchor="ctr"/>
          <a:lstStyle/>
          <a:p>
            <a:pPr marL="0" indent="0" algn="ctr">
              <a:buNone/>
            </a:pPr>
            <a:r>
              <a:rPr lang="en-US" sz="650" dirty="0">
                <a:solidFill>
                  <a:srgbClr val="C4A34B"/>
                </a:solidFill>
              </a:rPr>
              <a:t>Vérifier en base</a:t>
            </a:r>
            <a:endParaRPr lang="en-US" sz="650" dirty="0"/>
          </a:p>
        </p:txBody>
      </p:sp>
      <p:sp>
        <p:nvSpPr>
          <p:cNvPr id="57" name="Shape 55"/>
          <p:cNvSpPr/>
          <p:nvPr/>
        </p:nvSpPr>
        <p:spPr>
          <a:xfrm>
            <a:off x="5212080" y="3566160"/>
            <a:ext cx="1965960" cy="0"/>
          </a:xfrm>
          <a:prstGeom prst="line">
            <a:avLst/>
          </a:prstGeom>
          <a:noFill/>
          <a:ln w="12700">
            <a:solidFill>
              <a:srgbClr val="C4A34B"/>
            </a:solidFill>
            <a:prstDash val="dash"/>
          </a:ln>
        </p:spPr>
      </p:sp>
      <p:sp>
        <p:nvSpPr>
          <p:cNvPr id="58" name="Text 56"/>
          <p:cNvSpPr/>
          <p:nvPr/>
        </p:nvSpPr>
        <p:spPr>
          <a:xfrm>
            <a:off x="5554980" y="3401568"/>
            <a:ext cx="1463040" cy="182880"/>
          </a:xfrm>
          <a:prstGeom prst="rect">
            <a:avLst/>
          </a:prstGeom>
          <a:noFill/>
          <a:ln/>
        </p:spPr>
        <p:txBody>
          <a:bodyPr wrap="square" rtlCol="0" anchor="ctr"/>
          <a:lstStyle/>
          <a:p>
            <a:pPr marL="0" indent="0" algn="ctr">
              <a:buNone/>
            </a:pPr>
            <a:r>
              <a:rPr lang="en-US" sz="650" dirty="0">
                <a:solidFill>
                  <a:srgbClr val="88FFAA"/>
                </a:solidFill>
              </a:rPr>
              <a:t>Nouveau Access Token → retry auto</a:t>
            </a:r>
            <a:endParaRPr lang="en-US" sz="650" dirty="0"/>
          </a:p>
        </p:txBody>
      </p:sp>
      <p:sp>
        <p:nvSpPr>
          <p:cNvPr id="59" name="Shape 57"/>
          <p:cNvSpPr/>
          <p:nvPr/>
        </p:nvSpPr>
        <p:spPr>
          <a:xfrm>
            <a:off x="4800600" y="4645152"/>
            <a:ext cx="320040" cy="0"/>
          </a:xfrm>
          <a:prstGeom prst="line">
            <a:avLst/>
          </a:prstGeom>
          <a:noFill/>
          <a:ln w="12700">
            <a:solidFill>
              <a:srgbClr val="FFFFFF"/>
            </a:solidFill>
            <a:prstDash val="solid"/>
          </a:ln>
        </p:spPr>
      </p:sp>
      <p:sp>
        <p:nvSpPr>
          <p:cNvPr id="60" name="Text 58"/>
          <p:cNvSpPr/>
          <p:nvPr/>
        </p:nvSpPr>
        <p:spPr>
          <a:xfrm>
            <a:off x="5166360" y="4590288"/>
            <a:ext cx="1280160" cy="182880"/>
          </a:xfrm>
          <a:prstGeom prst="rect">
            <a:avLst/>
          </a:prstGeom>
          <a:noFill/>
          <a:ln/>
        </p:spPr>
        <p:txBody>
          <a:bodyPr wrap="square" rtlCol="0" anchor="ctr"/>
          <a:lstStyle/>
          <a:p>
            <a:pPr marL="0" indent="0">
              <a:buNone/>
            </a:pPr>
            <a:r>
              <a:rPr lang="en-US" sz="700" dirty="0">
                <a:solidFill>
                  <a:srgbClr val="A0B4C8"/>
                </a:solidFill>
              </a:rPr>
              <a:t>Flux normal</a:t>
            </a:r>
            <a:endParaRPr lang="en-US" sz="700" dirty="0"/>
          </a:p>
        </p:txBody>
      </p:sp>
      <p:sp>
        <p:nvSpPr>
          <p:cNvPr id="61" name="Shape 59"/>
          <p:cNvSpPr/>
          <p:nvPr/>
        </p:nvSpPr>
        <p:spPr>
          <a:xfrm>
            <a:off x="6583680" y="4645152"/>
            <a:ext cx="320040" cy="0"/>
          </a:xfrm>
          <a:prstGeom prst="line">
            <a:avLst/>
          </a:prstGeom>
          <a:noFill/>
          <a:ln w="12700">
            <a:solidFill>
              <a:srgbClr val="C4A34B"/>
            </a:solidFill>
            <a:prstDash val="dash"/>
          </a:ln>
        </p:spPr>
      </p:sp>
      <p:sp>
        <p:nvSpPr>
          <p:cNvPr id="62" name="Text 60"/>
          <p:cNvSpPr/>
          <p:nvPr/>
        </p:nvSpPr>
        <p:spPr>
          <a:xfrm>
            <a:off x="6949440" y="4590288"/>
            <a:ext cx="1371600" cy="182880"/>
          </a:xfrm>
          <a:prstGeom prst="rect">
            <a:avLst/>
          </a:prstGeom>
          <a:noFill/>
          <a:ln/>
        </p:spPr>
        <p:txBody>
          <a:bodyPr wrap="square" rtlCol="0" anchor="ctr"/>
          <a:lstStyle/>
          <a:p>
            <a:pPr marL="0" indent="0">
              <a:buNone/>
            </a:pPr>
            <a:r>
              <a:rPr lang="en-US" sz="700" dirty="0">
                <a:solidFill>
                  <a:srgbClr val="A0B4C8"/>
                </a:solidFill>
              </a:rPr>
              <a:t>Flux refresh token</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B2E"/>
          </a:solidFill>
          <a:ln w="12700">
            <a:solidFill>
              <a:srgbClr val="0D1B2E"/>
            </a:solidFill>
            <a:prstDash val="solid"/>
          </a:ln>
        </p:spPr>
      </p:sp>
      <p:sp>
        <p:nvSpPr>
          <p:cNvPr id="3" name="Shape 1"/>
          <p:cNvSpPr/>
          <p:nvPr/>
        </p:nvSpPr>
        <p:spPr>
          <a:xfrm>
            <a:off x="0" y="1005840"/>
            <a:ext cx="9144000" cy="45720"/>
          </a:xfrm>
          <a:prstGeom prst="rect">
            <a:avLst/>
          </a:prstGeom>
          <a:solidFill>
            <a:srgbClr val="C4A34B"/>
          </a:solidFill>
          <a:ln w="12700">
            <a:solidFill>
              <a:srgbClr val="C4A34B"/>
            </a:solidFill>
            <a:prstDash val="solid"/>
          </a:ln>
        </p:spPr>
      </p:sp>
      <p:sp>
        <p:nvSpPr>
          <p:cNvPr id="4" name="Shape 2"/>
          <p:cNvSpPr/>
          <p:nvPr/>
        </p:nvSpPr>
        <p:spPr>
          <a:xfrm>
            <a:off x="320040" y="256032"/>
            <a:ext cx="502920" cy="502920"/>
          </a:xfrm>
          <a:prstGeom prst="ellipse">
            <a:avLst/>
          </a:prstGeom>
          <a:solidFill>
            <a:srgbClr val="C4A34B"/>
          </a:solidFill>
          <a:ln w="12700">
            <a:solidFill>
              <a:srgbClr val="C4A34B"/>
            </a:solidFill>
            <a:prstDash val="solid"/>
          </a:ln>
        </p:spPr>
      </p:sp>
      <p:sp>
        <p:nvSpPr>
          <p:cNvPr id="5" name="Text 3"/>
          <p:cNvSpPr/>
          <p:nvPr/>
        </p:nvSpPr>
        <p:spPr>
          <a:xfrm>
            <a:off x="320040" y="292608"/>
            <a:ext cx="502920" cy="411480"/>
          </a:xfrm>
          <a:prstGeom prst="rect">
            <a:avLst/>
          </a:prstGeom>
          <a:noFill/>
          <a:ln/>
        </p:spPr>
        <p:txBody>
          <a:bodyPr wrap="square" rtlCol="0" anchor="ctr"/>
          <a:lstStyle/>
          <a:p>
            <a:pPr marL="0" indent="0" algn="ctr">
              <a:buNone/>
            </a:pPr>
            <a:r>
              <a:rPr lang="en-US" sz="1600" b="1" dirty="0">
                <a:solidFill>
                  <a:srgbClr val="0D1B2E"/>
                </a:solidFill>
              </a:rPr>
              <a:t>05</a:t>
            </a:r>
            <a:endParaRPr lang="en-US" sz="1600" dirty="0"/>
          </a:p>
        </p:txBody>
      </p:sp>
      <p:sp>
        <p:nvSpPr>
          <p:cNvPr id="6" name="Text 4"/>
          <p:cNvSpPr/>
          <p:nvPr/>
        </p:nvSpPr>
        <p:spPr>
          <a:xfrm>
            <a:off x="960120" y="228600"/>
            <a:ext cx="7772400" cy="47548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Choix Technologiques</a:t>
            </a:r>
            <a:endParaRPr lang="en-US" sz="2400" dirty="0"/>
          </a:p>
        </p:txBody>
      </p:sp>
      <p:sp>
        <p:nvSpPr>
          <p:cNvPr id="7" name="Text 5"/>
          <p:cNvSpPr/>
          <p:nvPr/>
        </p:nvSpPr>
        <p:spPr>
          <a:xfrm>
            <a:off x="960120" y="685800"/>
            <a:ext cx="7772400" cy="274320"/>
          </a:xfrm>
          <a:prstGeom prst="rect">
            <a:avLst/>
          </a:prstGeom>
          <a:noFill/>
          <a:ln/>
        </p:spPr>
        <p:txBody>
          <a:bodyPr wrap="square" rtlCol="0" anchor="ctr"/>
          <a:lstStyle/>
          <a:p>
            <a:pPr marL="0" indent="0">
              <a:buNone/>
            </a:pPr>
            <a:r>
              <a:rPr lang="en-US" sz="1000" i="1" dirty="0">
                <a:solidFill>
                  <a:srgbClr val="A0B4C8"/>
                </a:solidFill>
              </a:rPr>
              <a:t>Pourquoi ces technologies pour ShopFlow ?</a:t>
            </a:r>
            <a:endParaRPr lang="en-US" sz="1000" dirty="0"/>
          </a:p>
        </p:txBody>
      </p:sp>
      <p:sp>
        <p:nvSpPr>
          <p:cNvPr id="8" name="Shape 6"/>
          <p:cNvSpPr/>
          <p:nvPr/>
        </p:nvSpPr>
        <p:spPr>
          <a:xfrm>
            <a:off x="274320" y="1170432"/>
            <a:ext cx="2743200" cy="3749040"/>
          </a:xfrm>
          <a:prstGeom prst="rect">
            <a:avLst/>
          </a:prstGeom>
          <a:solidFill>
            <a:srgbClr val="EFF4FB"/>
          </a:solidFill>
          <a:ln w="6350">
            <a:solidFill>
              <a:srgbClr val="DDDDDD"/>
            </a:solidFill>
            <a:prstDash val="solid"/>
          </a:ln>
          <a:effectLst>
            <a:outerShdw blurRad="101600" dist="38100" dir="8100000" algn="bl" rotWithShape="0">
              <a:srgbClr val="000000">
                <a:alpha val="18000"/>
              </a:srgbClr>
            </a:outerShdw>
          </a:effectLst>
        </p:spPr>
      </p:sp>
      <p:sp>
        <p:nvSpPr>
          <p:cNvPr id="9" name="Shape 7"/>
          <p:cNvSpPr/>
          <p:nvPr/>
        </p:nvSpPr>
        <p:spPr>
          <a:xfrm>
            <a:off x="274320" y="1170432"/>
            <a:ext cx="2743200" cy="548640"/>
          </a:xfrm>
          <a:prstGeom prst="rect">
            <a:avLst/>
          </a:prstGeom>
          <a:solidFill>
            <a:srgbClr val="3A7BD5"/>
          </a:solidFill>
          <a:ln w="12700">
            <a:solidFill>
              <a:srgbClr val="3A7BD5"/>
            </a:solidFill>
            <a:prstDash val="solid"/>
          </a:ln>
        </p:spPr>
      </p:sp>
      <p:sp>
        <p:nvSpPr>
          <p:cNvPr id="10" name="Text 8"/>
          <p:cNvSpPr/>
          <p:nvPr/>
        </p:nvSpPr>
        <p:spPr>
          <a:xfrm>
            <a:off x="384048" y="1280160"/>
            <a:ext cx="256032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  Spring Boot</a:t>
            </a:r>
            <a:endParaRPr lang="en-US" sz="1200" dirty="0"/>
          </a:p>
        </p:txBody>
      </p:sp>
      <p:sp>
        <p:nvSpPr>
          <p:cNvPr id="11" name="Text 9"/>
          <p:cNvSpPr/>
          <p:nvPr/>
        </p:nvSpPr>
        <p:spPr>
          <a:xfrm>
            <a:off x="384048" y="1828800"/>
            <a:ext cx="2560320" cy="228600"/>
          </a:xfrm>
          <a:prstGeom prst="rect">
            <a:avLst/>
          </a:prstGeom>
          <a:noFill/>
          <a:ln/>
        </p:spPr>
        <p:txBody>
          <a:bodyPr wrap="square" rtlCol="0" anchor="ctr"/>
          <a:lstStyle/>
          <a:p>
            <a:pPr marL="0" indent="0">
              <a:buNone/>
            </a:pPr>
            <a:r>
              <a:rPr lang="en-US" sz="900" b="1" dirty="0">
                <a:solidFill>
                  <a:srgbClr val="3A7BD5"/>
                </a:solidFill>
              </a:rPr>
              <a:t>Pourquoi ce choix ?</a:t>
            </a:r>
            <a:endParaRPr lang="en-US" sz="900" dirty="0"/>
          </a:p>
        </p:txBody>
      </p:sp>
      <p:sp>
        <p:nvSpPr>
          <p:cNvPr id="12" name="Text 10"/>
          <p:cNvSpPr/>
          <p:nvPr/>
        </p:nvSpPr>
        <p:spPr>
          <a:xfrm>
            <a:off x="384048" y="2066544"/>
            <a:ext cx="2560320" cy="320040"/>
          </a:xfrm>
          <a:prstGeom prst="rect">
            <a:avLst/>
          </a:prstGeom>
          <a:noFill/>
          <a:ln/>
        </p:spPr>
        <p:txBody>
          <a:bodyPr wrap="square" rtlCol="0" anchor="ctr"/>
          <a:lstStyle/>
          <a:p>
            <a:pPr marL="0" indent="0">
              <a:buNone/>
            </a:pPr>
            <a:r>
              <a:rPr lang="en-US" sz="850" dirty="0">
                <a:solidFill>
                  <a:srgbClr val="4A6080"/>
                </a:solidFill>
              </a:rPr>
              <a:t>Framework Java mature, auto-configuration, démarrage rapide</a:t>
            </a:r>
            <a:endParaRPr lang="en-US" sz="850" dirty="0"/>
          </a:p>
        </p:txBody>
      </p:sp>
      <p:sp>
        <p:nvSpPr>
          <p:cNvPr id="13" name="Text 11"/>
          <p:cNvSpPr/>
          <p:nvPr/>
        </p:nvSpPr>
        <p:spPr>
          <a:xfrm>
            <a:off x="384048" y="2468880"/>
            <a:ext cx="2560320" cy="219456"/>
          </a:xfrm>
          <a:prstGeom prst="rect">
            <a:avLst/>
          </a:prstGeom>
          <a:noFill/>
          <a:ln/>
        </p:spPr>
        <p:txBody>
          <a:bodyPr wrap="square" rtlCol="0" anchor="ctr"/>
          <a:lstStyle/>
          <a:p>
            <a:pPr marL="0" indent="0">
              <a:buNone/>
            </a:pPr>
            <a:r>
              <a:rPr lang="en-US" sz="900" b="1" dirty="0">
                <a:solidFill>
                  <a:srgbClr val="0D1B2E"/>
                </a:solidFill>
              </a:rPr>
              <a:t>Avantages :</a:t>
            </a:r>
            <a:endParaRPr lang="en-US" sz="900" dirty="0"/>
          </a:p>
        </p:txBody>
      </p:sp>
      <p:sp>
        <p:nvSpPr>
          <p:cNvPr id="14" name="Shape 12"/>
          <p:cNvSpPr/>
          <p:nvPr/>
        </p:nvSpPr>
        <p:spPr>
          <a:xfrm>
            <a:off x="384048" y="2743200"/>
            <a:ext cx="73152" cy="73152"/>
          </a:xfrm>
          <a:prstGeom prst="ellipse">
            <a:avLst/>
          </a:prstGeom>
          <a:solidFill>
            <a:srgbClr val="3A7BD5"/>
          </a:solidFill>
          <a:ln w="12700">
            <a:solidFill>
              <a:srgbClr val="3A7BD5"/>
            </a:solidFill>
            <a:prstDash val="solid"/>
          </a:ln>
        </p:spPr>
      </p:sp>
      <p:sp>
        <p:nvSpPr>
          <p:cNvPr id="15" name="Text 13"/>
          <p:cNvSpPr/>
          <p:nvPr/>
        </p:nvSpPr>
        <p:spPr>
          <a:xfrm>
            <a:off x="512064" y="2688336"/>
            <a:ext cx="2377440" cy="292608"/>
          </a:xfrm>
          <a:prstGeom prst="rect">
            <a:avLst/>
          </a:prstGeom>
          <a:noFill/>
          <a:ln/>
        </p:spPr>
        <p:txBody>
          <a:bodyPr wrap="square" rtlCol="0" anchor="ctr"/>
          <a:lstStyle/>
          <a:p>
            <a:pPr marL="0" indent="0">
              <a:buNone/>
            </a:pPr>
            <a:r>
              <a:rPr lang="en-US" sz="800" dirty="0">
                <a:solidFill>
                  <a:srgbClr val="0D1B2E"/>
                </a:solidFill>
              </a:rPr>
              <a:t>Architecture en couches claire (@Controller / @Service / @Repository)</a:t>
            </a:r>
            <a:endParaRPr lang="en-US" sz="800" dirty="0"/>
          </a:p>
        </p:txBody>
      </p:sp>
      <p:sp>
        <p:nvSpPr>
          <p:cNvPr id="16" name="Shape 14"/>
          <p:cNvSpPr/>
          <p:nvPr/>
        </p:nvSpPr>
        <p:spPr>
          <a:xfrm>
            <a:off x="384048" y="3090672"/>
            <a:ext cx="73152" cy="73152"/>
          </a:xfrm>
          <a:prstGeom prst="ellipse">
            <a:avLst/>
          </a:prstGeom>
          <a:solidFill>
            <a:srgbClr val="3A7BD5"/>
          </a:solidFill>
          <a:ln w="12700">
            <a:solidFill>
              <a:srgbClr val="3A7BD5"/>
            </a:solidFill>
            <a:prstDash val="solid"/>
          </a:ln>
        </p:spPr>
      </p:sp>
      <p:sp>
        <p:nvSpPr>
          <p:cNvPr id="17" name="Text 15"/>
          <p:cNvSpPr/>
          <p:nvPr/>
        </p:nvSpPr>
        <p:spPr>
          <a:xfrm>
            <a:off x="512064" y="3035808"/>
            <a:ext cx="2377440" cy="292608"/>
          </a:xfrm>
          <a:prstGeom prst="rect">
            <a:avLst/>
          </a:prstGeom>
          <a:noFill/>
          <a:ln/>
        </p:spPr>
        <p:txBody>
          <a:bodyPr wrap="square" rtlCol="0" anchor="ctr"/>
          <a:lstStyle/>
          <a:p>
            <a:pPr marL="0" indent="0">
              <a:buNone/>
            </a:pPr>
            <a:r>
              <a:rPr lang="en-US" sz="800" dirty="0">
                <a:solidFill>
                  <a:srgbClr val="0D1B2E"/>
                </a:solidFill>
              </a:rPr>
              <a:t>Intégration native Spring Security pour JWT</a:t>
            </a:r>
            <a:endParaRPr lang="en-US" sz="800" dirty="0"/>
          </a:p>
        </p:txBody>
      </p:sp>
      <p:sp>
        <p:nvSpPr>
          <p:cNvPr id="18" name="Shape 16"/>
          <p:cNvSpPr/>
          <p:nvPr/>
        </p:nvSpPr>
        <p:spPr>
          <a:xfrm>
            <a:off x="384048" y="3438144"/>
            <a:ext cx="73152" cy="73152"/>
          </a:xfrm>
          <a:prstGeom prst="ellipse">
            <a:avLst/>
          </a:prstGeom>
          <a:solidFill>
            <a:srgbClr val="3A7BD5"/>
          </a:solidFill>
          <a:ln w="12700">
            <a:solidFill>
              <a:srgbClr val="3A7BD5"/>
            </a:solidFill>
            <a:prstDash val="solid"/>
          </a:ln>
        </p:spPr>
      </p:sp>
      <p:sp>
        <p:nvSpPr>
          <p:cNvPr id="19" name="Text 17"/>
          <p:cNvSpPr/>
          <p:nvPr/>
        </p:nvSpPr>
        <p:spPr>
          <a:xfrm>
            <a:off x="512064" y="3383280"/>
            <a:ext cx="2377440" cy="292608"/>
          </a:xfrm>
          <a:prstGeom prst="rect">
            <a:avLst/>
          </a:prstGeom>
          <a:noFill/>
          <a:ln/>
        </p:spPr>
        <p:txBody>
          <a:bodyPr wrap="square" rtlCol="0" anchor="ctr"/>
          <a:lstStyle/>
          <a:p>
            <a:pPr marL="0" indent="0">
              <a:buNone/>
            </a:pPr>
            <a:r>
              <a:rPr lang="en-US" sz="800" dirty="0">
                <a:solidFill>
                  <a:srgbClr val="0D1B2E"/>
                </a:solidFill>
              </a:rPr>
              <a:t>Gestion transactions @Transactional</a:t>
            </a:r>
            <a:endParaRPr lang="en-US" sz="800" dirty="0"/>
          </a:p>
        </p:txBody>
      </p:sp>
      <p:sp>
        <p:nvSpPr>
          <p:cNvPr id="20" name="Shape 18"/>
          <p:cNvSpPr/>
          <p:nvPr/>
        </p:nvSpPr>
        <p:spPr>
          <a:xfrm>
            <a:off x="384048" y="3785616"/>
            <a:ext cx="73152" cy="73152"/>
          </a:xfrm>
          <a:prstGeom prst="ellipse">
            <a:avLst/>
          </a:prstGeom>
          <a:solidFill>
            <a:srgbClr val="3A7BD5"/>
          </a:solidFill>
          <a:ln w="12700">
            <a:solidFill>
              <a:srgbClr val="3A7BD5"/>
            </a:solidFill>
            <a:prstDash val="solid"/>
          </a:ln>
        </p:spPr>
      </p:sp>
      <p:sp>
        <p:nvSpPr>
          <p:cNvPr id="21" name="Text 19"/>
          <p:cNvSpPr/>
          <p:nvPr/>
        </p:nvSpPr>
        <p:spPr>
          <a:xfrm>
            <a:off x="512064" y="3730752"/>
            <a:ext cx="2377440" cy="292608"/>
          </a:xfrm>
          <a:prstGeom prst="rect">
            <a:avLst/>
          </a:prstGeom>
          <a:noFill/>
          <a:ln/>
        </p:spPr>
        <p:txBody>
          <a:bodyPr wrap="square" rtlCol="0" anchor="ctr"/>
          <a:lstStyle/>
          <a:p>
            <a:pPr marL="0" indent="0">
              <a:buNone/>
            </a:pPr>
            <a:r>
              <a:rPr lang="en-US" sz="800" dirty="0">
                <a:solidFill>
                  <a:srgbClr val="0D1B2E"/>
                </a:solidFill>
              </a:rPr>
              <a:t>Swagger/OpenAPI intégré pour doc API</a:t>
            </a:r>
            <a:endParaRPr lang="en-US" sz="800" dirty="0"/>
          </a:p>
        </p:txBody>
      </p:sp>
      <p:sp>
        <p:nvSpPr>
          <p:cNvPr id="22" name="Shape 20"/>
          <p:cNvSpPr/>
          <p:nvPr/>
        </p:nvSpPr>
        <p:spPr>
          <a:xfrm>
            <a:off x="274320" y="4416552"/>
            <a:ext cx="2743200" cy="502920"/>
          </a:xfrm>
          <a:prstGeom prst="rect">
            <a:avLst/>
          </a:prstGeom>
          <a:solidFill>
            <a:srgbClr val="3A7BD5">
              <a:alpha val="15000"/>
            </a:srgbClr>
          </a:solidFill>
          <a:ln w="6350">
            <a:solidFill>
              <a:srgbClr val="CCCCCC"/>
            </a:solidFill>
            <a:prstDash val="solid"/>
          </a:ln>
        </p:spPr>
      </p:sp>
      <p:sp>
        <p:nvSpPr>
          <p:cNvPr id="23" name="Shape 21"/>
          <p:cNvSpPr/>
          <p:nvPr/>
        </p:nvSpPr>
        <p:spPr>
          <a:xfrm>
            <a:off x="274320" y="4416552"/>
            <a:ext cx="45720" cy="502920"/>
          </a:xfrm>
          <a:prstGeom prst="rect">
            <a:avLst/>
          </a:prstGeom>
          <a:solidFill>
            <a:srgbClr val="3A7BD5"/>
          </a:solidFill>
          <a:ln w="12700">
            <a:solidFill>
              <a:srgbClr val="3A7BD5"/>
            </a:solidFill>
            <a:prstDash val="solid"/>
          </a:ln>
        </p:spPr>
      </p:sp>
      <p:sp>
        <p:nvSpPr>
          <p:cNvPr id="24" name="Text 22"/>
          <p:cNvSpPr/>
          <p:nvPr/>
        </p:nvSpPr>
        <p:spPr>
          <a:xfrm>
            <a:off x="411480" y="4462272"/>
            <a:ext cx="2514600" cy="411480"/>
          </a:xfrm>
          <a:prstGeom prst="rect">
            <a:avLst/>
          </a:prstGeom>
          <a:noFill/>
          <a:ln/>
        </p:spPr>
        <p:txBody>
          <a:bodyPr wrap="square" rtlCol="0" anchor="ctr"/>
          <a:lstStyle/>
          <a:p>
            <a:pPr marL="0" indent="0">
              <a:buNone/>
            </a:pPr>
            <a:r>
              <a:rPr lang="en-US" sz="750" i="1" dirty="0">
                <a:solidFill>
                  <a:srgbClr val="4A6080"/>
                </a:solidFill>
              </a:rPr>
              <a:t>Idéal pour une API REST robuste avec gestion des rôles SELLER / CUSTOMER</a:t>
            </a:r>
            <a:endParaRPr lang="en-US" sz="750" dirty="0"/>
          </a:p>
        </p:txBody>
      </p:sp>
      <p:sp>
        <p:nvSpPr>
          <p:cNvPr id="25" name="Shape 23"/>
          <p:cNvSpPr/>
          <p:nvPr/>
        </p:nvSpPr>
        <p:spPr>
          <a:xfrm>
            <a:off x="3154680" y="1170432"/>
            <a:ext cx="2743200" cy="3749040"/>
          </a:xfrm>
          <a:prstGeom prst="rect">
            <a:avLst/>
          </a:prstGeom>
          <a:solidFill>
            <a:srgbClr val="F5F5FA"/>
          </a:solidFill>
          <a:ln w="6350">
            <a:solidFill>
              <a:srgbClr val="DDDDDD"/>
            </a:solidFill>
            <a:prstDash val="solid"/>
          </a:ln>
          <a:effectLst>
            <a:outerShdw blurRad="101600" dist="38100" dir="8100000" algn="bl" rotWithShape="0">
              <a:srgbClr val="000000">
                <a:alpha val="18000"/>
              </a:srgbClr>
            </a:outerShdw>
          </a:effectLst>
        </p:spPr>
      </p:sp>
      <p:sp>
        <p:nvSpPr>
          <p:cNvPr id="26" name="Shape 24"/>
          <p:cNvSpPr/>
          <p:nvPr/>
        </p:nvSpPr>
        <p:spPr>
          <a:xfrm>
            <a:off x="3154680" y="1170432"/>
            <a:ext cx="2743200" cy="548640"/>
          </a:xfrm>
          <a:prstGeom prst="rect">
            <a:avLst/>
          </a:prstGeom>
          <a:solidFill>
            <a:srgbClr val="1A1A2E"/>
          </a:solidFill>
          <a:ln w="12700">
            <a:solidFill>
              <a:srgbClr val="1A1A2E"/>
            </a:solidFill>
            <a:prstDash val="solid"/>
          </a:ln>
        </p:spPr>
      </p:sp>
      <p:sp>
        <p:nvSpPr>
          <p:cNvPr id="27" name="Text 25"/>
          <p:cNvSpPr/>
          <p:nvPr/>
        </p:nvSpPr>
        <p:spPr>
          <a:xfrm>
            <a:off x="3264408" y="1280160"/>
            <a:ext cx="256032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Next.js 14</a:t>
            </a:r>
            <a:endParaRPr lang="en-US" sz="1200" dirty="0"/>
          </a:p>
        </p:txBody>
      </p:sp>
      <p:sp>
        <p:nvSpPr>
          <p:cNvPr id="28" name="Text 26"/>
          <p:cNvSpPr/>
          <p:nvPr/>
        </p:nvSpPr>
        <p:spPr>
          <a:xfrm>
            <a:off x="3264408" y="1828800"/>
            <a:ext cx="2560320" cy="228600"/>
          </a:xfrm>
          <a:prstGeom prst="rect">
            <a:avLst/>
          </a:prstGeom>
          <a:noFill/>
          <a:ln/>
        </p:spPr>
        <p:txBody>
          <a:bodyPr wrap="square" rtlCol="0" anchor="ctr"/>
          <a:lstStyle/>
          <a:p>
            <a:pPr marL="0" indent="0">
              <a:buNone/>
            </a:pPr>
            <a:r>
              <a:rPr lang="en-US" sz="900" b="1" dirty="0">
                <a:solidFill>
                  <a:srgbClr val="1A1A2E"/>
                </a:solidFill>
              </a:rPr>
              <a:t>Pourquoi ce choix ?</a:t>
            </a:r>
            <a:endParaRPr lang="en-US" sz="900" dirty="0"/>
          </a:p>
        </p:txBody>
      </p:sp>
      <p:sp>
        <p:nvSpPr>
          <p:cNvPr id="29" name="Text 27"/>
          <p:cNvSpPr/>
          <p:nvPr/>
        </p:nvSpPr>
        <p:spPr>
          <a:xfrm>
            <a:off x="3264408" y="2066544"/>
            <a:ext cx="2560320" cy="320040"/>
          </a:xfrm>
          <a:prstGeom prst="rect">
            <a:avLst/>
          </a:prstGeom>
          <a:noFill/>
          <a:ln/>
        </p:spPr>
        <p:txBody>
          <a:bodyPr wrap="square" rtlCol="0" anchor="ctr"/>
          <a:lstStyle/>
          <a:p>
            <a:pPr marL="0" indent="0">
              <a:buNone/>
            </a:pPr>
            <a:r>
              <a:rPr lang="en-US" sz="850" dirty="0">
                <a:solidFill>
                  <a:srgbClr val="4A6080"/>
                </a:solidFill>
              </a:rPr>
              <a:t>React framework full-stack, App Router, SSR natif</a:t>
            </a:r>
            <a:endParaRPr lang="en-US" sz="850" dirty="0"/>
          </a:p>
        </p:txBody>
      </p:sp>
      <p:sp>
        <p:nvSpPr>
          <p:cNvPr id="30" name="Text 28"/>
          <p:cNvSpPr/>
          <p:nvPr/>
        </p:nvSpPr>
        <p:spPr>
          <a:xfrm>
            <a:off x="3264408" y="2468880"/>
            <a:ext cx="2560320" cy="219456"/>
          </a:xfrm>
          <a:prstGeom prst="rect">
            <a:avLst/>
          </a:prstGeom>
          <a:noFill/>
          <a:ln/>
        </p:spPr>
        <p:txBody>
          <a:bodyPr wrap="square" rtlCol="0" anchor="ctr"/>
          <a:lstStyle/>
          <a:p>
            <a:pPr marL="0" indent="0">
              <a:buNone/>
            </a:pPr>
            <a:r>
              <a:rPr lang="en-US" sz="900" b="1" dirty="0">
                <a:solidFill>
                  <a:srgbClr val="0D1B2E"/>
                </a:solidFill>
              </a:rPr>
              <a:t>Avantages :</a:t>
            </a:r>
            <a:endParaRPr lang="en-US" sz="900" dirty="0"/>
          </a:p>
        </p:txBody>
      </p:sp>
      <p:sp>
        <p:nvSpPr>
          <p:cNvPr id="31" name="Shape 29"/>
          <p:cNvSpPr/>
          <p:nvPr/>
        </p:nvSpPr>
        <p:spPr>
          <a:xfrm>
            <a:off x="3264408" y="2743200"/>
            <a:ext cx="73152" cy="73152"/>
          </a:xfrm>
          <a:prstGeom prst="ellipse">
            <a:avLst/>
          </a:prstGeom>
          <a:solidFill>
            <a:srgbClr val="1A1A2E"/>
          </a:solidFill>
          <a:ln w="12700">
            <a:solidFill>
              <a:srgbClr val="1A1A2E"/>
            </a:solidFill>
            <a:prstDash val="solid"/>
          </a:ln>
        </p:spPr>
      </p:sp>
      <p:sp>
        <p:nvSpPr>
          <p:cNvPr id="32" name="Text 30"/>
          <p:cNvSpPr/>
          <p:nvPr/>
        </p:nvSpPr>
        <p:spPr>
          <a:xfrm>
            <a:off x="3392424" y="2688336"/>
            <a:ext cx="2377440" cy="292608"/>
          </a:xfrm>
          <a:prstGeom prst="rect">
            <a:avLst/>
          </a:prstGeom>
          <a:noFill/>
          <a:ln/>
        </p:spPr>
        <p:txBody>
          <a:bodyPr wrap="square" rtlCol="0" anchor="ctr"/>
          <a:lstStyle/>
          <a:p>
            <a:pPr marL="0" indent="0">
              <a:buNone/>
            </a:pPr>
            <a:r>
              <a:rPr lang="en-US" sz="800" dirty="0">
                <a:solidFill>
                  <a:srgbClr val="0D1B2E"/>
                </a:solidFill>
              </a:rPr>
              <a:t>File-based routing (une page = un fichier)</a:t>
            </a:r>
            <a:endParaRPr lang="en-US" sz="800" dirty="0"/>
          </a:p>
        </p:txBody>
      </p:sp>
      <p:sp>
        <p:nvSpPr>
          <p:cNvPr id="33" name="Shape 31"/>
          <p:cNvSpPr/>
          <p:nvPr/>
        </p:nvSpPr>
        <p:spPr>
          <a:xfrm>
            <a:off x="3264408" y="3090672"/>
            <a:ext cx="73152" cy="73152"/>
          </a:xfrm>
          <a:prstGeom prst="ellipse">
            <a:avLst/>
          </a:prstGeom>
          <a:solidFill>
            <a:srgbClr val="1A1A2E"/>
          </a:solidFill>
          <a:ln w="12700">
            <a:solidFill>
              <a:srgbClr val="1A1A2E"/>
            </a:solidFill>
            <a:prstDash val="solid"/>
          </a:ln>
        </p:spPr>
      </p:sp>
      <p:sp>
        <p:nvSpPr>
          <p:cNvPr id="34" name="Text 32"/>
          <p:cNvSpPr/>
          <p:nvPr/>
        </p:nvSpPr>
        <p:spPr>
          <a:xfrm>
            <a:off x="3392424" y="3035808"/>
            <a:ext cx="2377440" cy="292608"/>
          </a:xfrm>
          <a:prstGeom prst="rect">
            <a:avLst/>
          </a:prstGeom>
          <a:noFill/>
          <a:ln/>
        </p:spPr>
        <p:txBody>
          <a:bodyPr wrap="square" rtlCol="0" anchor="ctr"/>
          <a:lstStyle/>
          <a:p>
            <a:pPr marL="0" indent="0">
              <a:buNone/>
            </a:pPr>
            <a:r>
              <a:rPr lang="en-US" sz="800" dirty="0">
                <a:solidFill>
                  <a:srgbClr val="0D1B2E"/>
                </a:solidFill>
              </a:rPr>
              <a:t>Axios avec intercepteur JWT automatique</a:t>
            </a:r>
            <a:endParaRPr lang="en-US" sz="800" dirty="0"/>
          </a:p>
        </p:txBody>
      </p:sp>
      <p:sp>
        <p:nvSpPr>
          <p:cNvPr id="35" name="Shape 33"/>
          <p:cNvSpPr/>
          <p:nvPr/>
        </p:nvSpPr>
        <p:spPr>
          <a:xfrm>
            <a:off x="3264408" y="3438144"/>
            <a:ext cx="73152" cy="73152"/>
          </a:xfrm>
          <a:prstGeom prst="ellipse">
            <a:avLst/>
          </a:prstGeom>
          <a:solidFill>
            <a:srgbClr val="1A1A2E"/>
          </a:solidFill>
          <a:ln w="12700">
            <a:solidFill>
              <a:srgbClr val="1A1A2E"/>
            </a:solidFill>
            <a:prstDash val="solid"/>
          </a:ln>
        </p:spPr>
      </p:sp>
      <p:sp>
        <p:nvSpPr>
          <p:cNvPr id="36" name="Text 34"/>
          <p:cNvSpPr/>
          <p:nvPr/>
        </p:nvSpPr>
        <p:spPr>
          <a:xfrm>
            <a:off x="3392424" y="3383280"/>
            <a:ext cx="2377440" cy="292608"/>
          </a:xfrm>
          <a:prstGeom prst="rect">
            <a:avLst/>
          </a:prstGeom>
          <a:noFill/>
          <a:ln/>
        </p:spPr>
        <p:txBody>
          <a:bodyPr wrap="square" rtlCol="0" anchor="ctr"/>
          <a:lstStyle/>
          <a:p>
            <a:pPr marL="0" indent="0">
              <a:buNone/>
            </a:pPr>
            <a:r>
              <a:rPr lang="en-US" sz="800" dirty="0">
                <a:solidFill>
                  <a:srgbClr val="0D1B2E"/>
                </a:solidFill>
              </a:rPr>
              <a:t>Zustand pour état global (panier, auth)</a:t>
            </a:r>
            <a:endParaRPr lang="en-US" sz="800" dirty="0"/>
          </a:p>
        </p:txBody>
      </p:sp>
      <p:sp>
        <p:nvSpPr>
          <p:cNvPr id="37" name="Shape 35"/>
          <p:cNvSpPr/>
          <p:nvPr/>
        </p:nvSpPr>
        <p:spPr>
          <a:xfrm>
            <a:off x="3264408" y="3785616"/>
            <a:ext cx="73152" cy="73152"/>
          </a:xfrm>
          <a:prstGeom prst="ellipse">
            <a:avLst/>
          </a:prstGeom>
          <a:solidFill>
            <a:srgbClr val="1A1A2E"/>
          </a:solidFill>
          <a:ln w="12700">
            <a:solidFill>
              <a:srgbClr val="1A1A2E"/>
            </a:solidFill>
            <a:prstDash val="solid"/>
          </a:ln>
        </p:spPr>
      </p:sp>
      <p:sp>
        <p:nvSpPr>
          <p:cNvPr id="38" name="Text 36"/>
          <p:cNvSpPr/>
          <p:nvPr/>
        </p:nvSpPr>
        <p:spPr>
          <a:xfrm>
            <a:off x="3392424" y="3730752"/>
            <a:ext cx="2377440" cy="292608"/>
          </a:xfrm>
          <a:prstGeom prst="rect">
            <a:avLst/>
          </a:prstGeom>
          <a:noFill/>
          <a:ln/>
        </p:spPr>
        <p:txBody>
          <a:bodyPr wrap="square" rtlCol="0" anchor="ctr"/>
          <a:lstStyle/>
          <a:p>
            <a:pPr marL="0" indent="0">
              <a:buNone/>
            </a:pPr>
            <a:r>
              <a:rPr lang="en-US" sz="800" dirty="0">
                <a:solidFill>
                  <a:srgbClr val="0D1B2E"/>
                </a:solidFill>
              </a:rPr>
              <a:t>Design responsive sans framework CSS externe</a:t>
            </a:r>
            <a:endParaRPr lang="en-US" sz="800" dirty="0"/>
          </a:p>
        </p:txBody>
      </p:sp>
      <p:sp>
        <p:nvSpPr>
          <p:cNvPr id="39" name="Shape 37"/>
          <p:cNvSpPr/>
          <p:nvPr/>
        </p:nvSpPr>
        <p:spPr>
          <a:xfrm>
            <a:off x="3154680" y="4416552"/>
            <a:ext cx="2743200" cy="502920"/>
          </a:xfrm>
          <a:prstGeom prst="rect">
            <a:avLst/>
          </a:prstGeom>
          <a:solidFill>
            <a:srgbClr val="1A1A2E">
              <a:alpha val="15000"/>
            </a:srgbClr>
          </a:solidFill>
          <a:ln w="6350">
            <a:solidFill>
              <a:srgbClr val="CCCCCC"/>
            </a:solidFill>
            <a:prstDash val="solid"/>
          </a:ln>
        </p:spPr>
      </p:sp>
      <p:sp>
        <p:nvSpPr>
          <p:cNvPr id="40" name="Shape 38"/>
          <p:cNvSpPr/>
          <p:nvPr/>
        </p:nvSpPr>
        <p:spPr>
          <a:xfrm>
            <a:off x="3154680" y="4416552"/>
            <a:ext cx="45720" cy="502920"/>
          </a:xfrm>
          <a:prstGeom prst="rect">
            <a:avLst/>
          </a:prstGeom>
          <a:solidFill>
            <a:srgbClr val="1A1A2E"/>
          </a:solidFill>
          <a:ln w="12700">
            <a:solidFill>
              <a:srgbClr val="1A1A2E"/>
            </a:solidFill>
            <a:prstDash val="solid"/>
          </a:ln>
        </p:spPr>
      </p:sp>
      <p:sp>
        <p:nvSpPr>
          <p:cNvPr id="41" name="Text 39"/>
          <p:cNvSpPr/>
          <p:nvPr/>
        </p:nvSpPr>
        <p:spPr>
          <a:xfrm>
            <a:off x="3291840" y="4462272"/>
            <a:ext cx="2514600" cy="411480"/>
          </a:xfrm>
          <a:prstGeom prst="rect">
            <a:avLst/>
          </a:prstGeom>
          <a:noFill/>
          <a:ln/>
        </p:spPr>
        <p:txBody>
          <a:bodyPr wrap="square" rtlCol="0" anchor="ctr"/>
          <a:lstStyle/>
          <a:p>
            <a:pPr marL="0" indent="0">
              <a:buNone/>
            </a:pPr>
            <a:r>
              <a:rPr lang="en-US" sz="750" i="1" dirty="0">
                <a:solidFill>
                  <a:srgbClr val="4A6080"/>
                </a:solidFill>
              </a:rPr>
              <a:t>Parfait pour une SPA avec navigation rapide et gestion d'état persistante</a:t>
            </a:r>
            <a:endParaRPr lang="en-US" sz="750" dirty="0"/>
          </a:p>
        </p:txBody>
      </p:sp>
      <p:sp>
        <p:nvSpPr>
          <p:cNvPr id="42" name="Shape 40"/>
          <p:cNvSpPr/>
          <p:nvPr/>
        </p:nvSpPr>
        <p:spPr>
          <a:xfrm>
            <a:off x="6035040" y="1170432"/>
            <a:ext cx="2743200" cy="3749040"/>
          </a:xfrm>
          <a:prstGeom prst="rect">
            <a:avLst/>
          </a:prstGeom>
          <a:solidFill>
            <a:srgbClr val="F5F5F5"/>
          </a:solidFill>
          <a:ln w="6350">
            <a:solidFill>
              <a:srgbClr val="DDDDDD"/>
            </a:solidFill>
            <a:prstDash val="solid"/>
          </a:ln>
          <a:effectLst>
            <a:outerShdw blurRad="101600" dist="38100" dir="8100000" algn="bl" rotWithShape="0">
              <a:srgbClr val="000000">
                <a:alpha val="18000"/>
              </a:srgbClr>
            </a:outerShdw>
          </a:effectLst>
        </p:spPr>
      </p:sp>
      <p:sp>
        <p:nvSpPr>
          <p:cNvPr id="43" name="Shape 41"/>
          <p:cNvSpPr/>
          <p:nvPr/>
        </p:nvSpPr>
        <p:spPr>
          <a:xfrm>
            <a:off x="6035040" y="1170432"/>
            <a:ext cx="2743200" cy="548640"/>
          </a:xfrm>
          <a:prstGeom prst="rect">
            <a:avLst/>
          </a:prstGeom>
          <a:solidFill>
            <a:srgbClr val="6E6E6E"/>
          </a:solidFill>
          <a:ln w="12700">
            <a:solidFill>
              <a:srgbClr val="6E6E6E"/>
            </a:solidFill>
            <a:prstDash val="solid"/>
          </a:ln>
        </p:spPr>
      </p:sp>
      <p:sp>
        <p:nvSpPr>
          <p:cNvPr id="44" name="Text 42"/>
          <p:cNvSpPr/>
          <p:nvPr/>
        </p:nvSpPr>
        <p:spPr>
          <a:xfrm>
            <a:off x="6144768" y="1280160"/>
            <a:ext cx="256032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H2 Database</a:t>
            </a:r>
            <a:endParaRPr lang="en-US" sz="1200" dirty="0"/>
          </a:p>
        </p:txBody>
      </p:sp>
      <p:sp>
        <p:nvSpPr>
          <p:cNvPr id="45" name="Text 43"/>
          <p:cNvSpPr/>
          <p:nvPr/>
        </p:nvSpPr>
        <p:spPr>
          <a:xfrm>
            <a:off x="6144768" y="1828800"/>
            <a:ext cx="2560320" cy="228600"/>
          </a:xfrm>
          <a:prstGeom prst="rect">
            <a:avLst/>
          </a:prstGeom>
          <a:noFill/>
          <a:ln/>
        </p:spPr>
        <p:txBody>
          <a:bodyPr wrap="square" rtlCol="0" anchor="ctr"/>
          <a:lstStyle/>
          <a:p>
            <a:pPr marL="0" indent="0">
              <a:buNone/>
            </a:pPr>
            <a:r>
              <a:rPr lang="en-US" sz="900" b="1" dirty="0">
                <a:solidFill>
                  <a:srgbClr val="6E6E6E"/>
                </a:solidFill>
              </a:rPr>
              <a:t>Pourquoi ce choix ?</a:t>
            </a:r>
            <a:endParaRPr lang="en-US" sz="900" dirty="0"/>
          </a:p>
        </p:txBody>
      </p:sp>
      <p:sp>
        <p:nvSpPr>
          <p:cNvPr id="46" name="Text 44"/>
          <p:cNvSpPr/>
          <p:nvPr/>
        </p:nvSpPr>
        <p:spPr>
          <a:xfrm>
            <a:off x="6144768" y="2066544"/>
            <a:ext cx="2560320" cy="320040"/>
          </a:xfrm>
          <a:prstGeom prst="rect">
            <a:avLst/>
          </a:prstGeom>
          <a:noFill/>
          <a:ln/>
        </p:spPr>
        <p:txBody>
          <a:bodyPr wrap="square" rtlCol="0" anchor="ctr"/>
          <a:lstStyle/>
          <a:p>
            <a:pPr marL="0" indent="0">
              <a:buNone/>
            </a:pPr>
            <a:r>
              <a:rPr lang="en-US" sz="850" dirty="0">
                <a:solidFill>
                  <a:srgbClr val="4A6080"/>
                </a:solidFill>
              </a:rPr>
              <a:t>Base en mémoire, zéro configuration, idéale en développement</a:t>
            </a:r>
            <a:endParaRPr lang="en-US" sz="850" dirty="0"/>
          </a:p>
        </p:txBody>
      </p:sp>
      <p:sp>
        <p:nvSpPr>
          <p:cNvPr id="47" name="Text 45"/>
          <p:cNvSpPr/>
          <p:nvPr/>
        </p:nvSpPr>
        <p:spPr>
          <a:xfrm>
            <a:off x="6144768" y="2468880"/>
            <a:ext cx="2560320" cy="219456"/>
          </a:xfrm>
          <a:prstGeom prst="rect">
            <a:avLst/>
          </a:prstGeom>
          <a:noFill/>
          <a:ln/>
        </p:spPr>
        <p:txBody>
          <a:bodyPr wrap="square" rtlCol="0" anchor="ctr"/>
          <a:lstStyle/>
          <a:p>
            <a:pPr marL="0" indent="0">
              <a:buNone/>
            </a:pPr>
            <a:r>
              <a:rPr lang="en-US" sz="900" b="1" dirty="0">
                <a:solidFill>
                  <a:srgbClr val="0D1B2E"/>
                </a:solidFill>
              </a:rPr>
              <a:t>Avantages :</a:t>
            </a:r>
            <a:endParaRPr lang="en-US" sz="900" dirty="0"/>
          </a:p>
        </p:txBody>
      </p:sp>
      <p:sp>
        <p:nvSpPr>
          <p:cNvPr id="48" name="Shape 46"/>
          <p:cNvSpPr/>
          <p:nvPr/>
        </p:nvSpPr>
        <p:spPr>
          <a:xfrm>
            <a:off x="6144768" y="2743200"/>
            <a:ext cx="73152" cy="73152"/>
          </a:xfrm>
          <a:prstGeom prst="ellipse">
            <a:avLst/>
          </a:prstGeom>
          <a:solidFill>
            <a:srgbClr val="6E6E6E"/>
          </a:solidFill>
          <a:ln w="12700">
            <a:solidFill>
              <a:srgbClr val="6E6E6E"/>
            </a:solidFill>
            <a:prstDash val="solid"/>
          </a:ln>
        </p:spPr>
      </p:sp>
      <p:sp>
        <p:nvSpPr>
          <p:cNvPr id="49" name="Text 47"/>
          <p:cNvSpPr/>
          <p:nvPr/>
        </p:nvSpPr>
        <p:spPr>
          <a:xfrm>
            <a:off x="6272784" y="2688336"/>
            <a:ext cx="2377440" cy="292608"/>
          </a:xfrm>
          <a:prstGeom prst="rect">
            <a:avLst/>
          </a:prstGeom>
          <a:noFill/>
          <a:ln/>
        </p:spPr>
        <p:txBody>
          <a:bodyPr wrap="square" rtlCol="0" anchor="ctr"/>
          <a:lstStyle/>
          <a:p>
            <a:pPr marL="0" indent="0">
              <a:buNone/>
            </a:pPr>
            <a:r>
              <a:rPr lang="en-US" sz="800" dirty="0">
                <a:solidFill>
                  <a:srgbClr val="0D1B2E"/>
                </a:solidFill>
              </a:rPr>
              <a:t>Console web intégrée (/h2-console)</a:t>
            </a:r>
            <a:endParaRPr lang="en-US" sz="800" dirty="0"/>
          </a:p>
        </p:txBody>
      </p:sp>
      <p:sp>
        <p:nvSpPr>
          <p:cNvPr id="50" name="Shape 48"/>
          <p:cNvSpPr/>
          <p:nvPr/>
        </p:nvSpPr>
        <p:spPr>
          <a:xfrm>
            <a:off x="6144768" y="3090672"/>
            <a:ext cx="73152" cy="73152"/>
          </a:xfrm>
          <a:prstGeom prst="ellipse">
            <a:avLst/>
          </a:prstGeom>
          <a:solidFill>
            <a:srgbClr val="6E6E6E"/>
          </a:solidFill>
          <a:ln w="12700">
            <a:solidFill>
              <a:srgbClr val="6E6E6E"/>
            </a:solidFill>
            <a:prstDash val="solid"/>
          </a:ln>
        </p:spPr>
      </p:sp>
      <p:sp>
        <p:nvSpPr>
          <p:cNvPr id="51" name="Text 49"/>
          <p:cNvSpPr/>
          <p:nvPr/>
        </p:nvSpPr>
        <p:spPr>
          <a:xfrm>
            <a:off x="6272784" y="3035808"/>
            <a:ext cx="2377440" cy="292608"/>
          </a:xfrm>
          <a:prstGeom prst="rect">
            <a:avLst/>
          </a:prstGeom>
          <a:noFill/>
          <a:ln/>
        </p:spPr>
        <p:txBody>
          <a:bodyPr wrap="square" rtlCol="0" anchor="ctr"/>
          <a:lstStyle/>
          <a:p>
            <a:pPr marL="0" indent="0">
              <a:buNone/>
            </a:pPr>
            <a:r>
              <a:rPr lang="en-US" sz="800" dirty="0">
                <a:solidFill>
                  <a:srgbClr val="0D1B2E"/>
                </a:solidFill>
              </a:rPr>
              <a:t>Démarrage instantané sans serveur</a:t>
            </a:r>
            <a:endParaRPr lang="en-US" sz="800" dirty="0"/>
          </a:p>
        </p:txBody>
      </p:sp>
      <p:sp>
        <p:nvSpPr>
          <p:cNvPr id="52" name="Shape 50"/>
          <p:cNvSpPr/>
          <p:nvPr/>
        </p:nvSpPr>
        <p:spPr>
          <a:xfrm>
            <a:off x="6144768" y="3438144"/>
            <a:ext cx="73152" cy="73152"/>
          </a:xfrm>
          <a:prstGeom prst="ellipse">
            <a:avLst/>
          </a:prstGeom>
          <a:solidFill>
            <a:srgbClr val="6E6E6E"/>
          </a:solidFill>
          <a:ln w="12700">
            <a:solidFill>
              <a:srgbClr val="6E6E6E"/>
            </a:solidFill>
            <a:prstDash val="solid"/>
          </a:ln>
        </p:spPr>
      </p:sp>
      <p:sp>
        <p:nvSpPr>
          <p:cNvPr id="53" name="Text 51"/>
          <p:cNvSpPr/>
          <p:nvPr/>
        </p:nvSpPr>
        <p:spPr>
          <a:xfrm>
            <a:off x="6272784" y="3383280"/>
            <a:ext cx="2377440" cy="292608"/>
          </a:xfrm>
          <a:prstGeom prst="rect">
            <a:avLst/>
          </a:prstGeom>
          <a:noFill/>
          <a:ln/>
        </p:spPr>
        <p:txBody>
          <a:bodyPr wrap="square" rtlCol="0" anchor="ctr"/>
          <a:lstStyle/>
          <a:p>
            <a:pPr marL="0" indent="0">
              <a:buNone/>
            </a:pPr>
            <a:r>
              <a:rPr lang="en-US" sz="800" dirty="0">
                <a:solidFill>
                  <a:srgbClr val="0D1B2E"/>
                </a:solidFill>
              </a:rPr>
              <a:t>Compatible Hibernate / JPA</a:t>
            </a:r>
            <a:endParaRPr lang="en-US" sz="800" dirty="0"/>
          </a:p>
        </p:txBody>
      </p:sp>
      <p:sp>
        <p:nvSpPr>
          <p:cNvPr id="54" name="Shape 52"/>
          <p:cNvSpPr/>
          <p:nvPr/>
        </p:nvSpPr>
        <p:spPr>
          <a:xfrm>
            <a:off x="6144768" y="3785616"/>
            <a:ext cx="73152" cy="73152"/>
          </a:xfrm>
          <a:prstGeom prst="ellipse">
            <a:avLst/>
          </a:prstGeom>
          <a:solidFill>
            <a:srgbClr val="6E6E6E"/>
          </a:solidFill>
          <a:ln w="12700">
            <a:solidFill>
              <a:srgbClr val="6E6E6E"/>
            </a:solidFill>
            <a:prstDash val="solid"/>
          </a:ln>
        </p:spPr>
      </p:sp>
      <p:sp>
        <p:nvSpPr>
          <p:cNvPr id="55" name="Text 53"/>
          <p:cNvSpPr/>
          <p:nvPr/>
        </p:nvSpPr>
        <p:spPr>
          <a:xfrm>
            <a:off x="6272784" y="3730752"/>
            <a:ext cx="2377440" cy="292608"/>
          </a:xfrm>
          <a:prstGeom prst="rect">
            <a:avLst/>
          </a:prstGeom>
          <a:noFill/>
          <a:ln/>
        </p:spPr>
        <p:txBody>
          <a:bodyPr wrap="square" rtlCol="0" anchor="ctr"/>
          <a:lstStyle/>
          <a:p>
            <a:pPr marL="0" indent="0">
              <a:buNone/>
            </a:pPr>
            <a:r>
              <a:rPr lang="en-US" sz="800" dirty="0">
                <a:solidFill>
                  <a:srgbClr val="0D1B2E"/>
                </a:solidFill>
              </a:rPr>
              <a:t>Facilite les tests et démos</a:t>
            </a:r>
            <a:endParaRPr lang="en-US" sz="800" dirty="0"/>
          </a:p>
        </p:txBody>
      </p:sp>
      <p:sp>
        <p:nvSpPr>
          <p:cNvPr id="56" name="Shape 54"/>
          <p:cNvSpPr/>
          <p:nvPr/>
        </p:nvSpPr>
        <p:spPr>
          <a:xfrm>
            <a:off x="6035040" y="4416552"/>
            <a:ext cx="2743200" cy="502920"/>
          </a:xfrm>
          <a:prstGeom prst="rect">
            <a:avLst/>
          </a:prstGeom>
          <a:solidFill>
            <a:srgbClr val="6E6E6E">
              <a:alpha val="15000"/>
            </a:srgbClr>
          </a:solidFill>
          <a:ln w="6350">
            <a:solidFill>
              <a:srgbClr val="CCCCCC"/>
            </a:solidFill>
            <a:prstDash val="solid"/>
          </a:ln>
        </p:spPr>
      </p:sp>
      <p:sp>
        <p:nvSpPr>
          <p:cNvPr id="57" name="Shape 55"/>
          <p:cNvSpPr/>
          <p:nvPr/>
        </p:nvSpPr>
        <p:spPr>
          <a:xfrm>
            <a:off x="6035040" y="4416552"/>
            <a:ext cx="45720" cy="502920"/>
          </a:xfrm>
          <a:prstGeom prst="rect">
            <a:avLst/>
          </a:prstGeom>
          <a:solidFill>
            <a:srgbClr val="6E6E6E"/>
          </a:solidFill>
          <a:ln w="12700">
            <a:solidFill>
              <a:srgbClr val="6E6E6E"/>
            </a:solidFill>
            <a:prstDash val="solid"/>
          </a:ln>
        </p:spPr>
      </p:sp>
      <p:sp>
        <p:nvSpPr>
          <p:cNvPr id="58" name="Text 56"/>
          <p:cNvSpPr/>
          <p:nvPr/>
        </p:nvSpPr>
        <p:spPr>
          <a:xfrm>
            <a:off x="6172200" y="4462272"/>
            <a:ext cx="2514600" cy="411480"/>
          </a:xfrm>
          <a:prstGeom prst="rect">
            <a:avLst/>
          </a:prstGeom>
          <a:noFill/>
          <a:ln/>
        </p:spPr>
        <p:txBody>
          <a:bodyPr wrap="square" rtlCol="0" anchor="ctr"/>
          <a:lstStyle/>
          <a:p>
            <a:pPr marL="0" indent="0">
              <a:buNone/>
            </a:pPr>
            <a:r>
              <a:rPr lang="en-US" sz="750" i="1" dirty="0">
                <a:solidFill>
                  <a:srgbClr val="4A6080"/>
                </a:solidFill>
              </a:rPr>
              <a:t>Permet de tester l'app sans installer PostgreSQL — remplacé facilement en prod</a:t>
            </a:r>
            <a:endParaRPr lang="en-US" sz="750" dirty="0"/>
          </a:p>
        </p:txBody>
      </p:sp>
      <p:sp>
        <p:nvSpPr>
          <p:cNvPr id="60" name="Shape 58"/>
          <p:cNvSpPr/>
          <p:nvPr/>
        </p:nvSpPr>
        <p:spPr>
          <a:xfrm>
            <a:off x="274320" y="4645152"/>
            <a:ext cx="45720" cy="384048"/>
          </a:xfrm>
          <a:prstGeom prst="rect">
            <a:avLst/>
          </a:prstGeom>
          <a:solidFill>
            <a:srgbClr val="C4A34B"/>
          </a:solidFill>
          <a:ln w="12700">
            <a:solidFill>
              <a:srgbClr val="C4A34B"/>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B2E"/>
          </a:solidFill>
          <a:ln w="12700">
            <a:solidFill>
              <a:srgbClr val="0D1B2E"/>
            </a:solidFill>
            <a:prstDash val="solid"/>
          </a:ln>
        </p:spPr>
      </p:sp>
      <p:sp>
        <p:nvSpPr>
          <p:cNvPr id="3" name="Shape 1"/>
          <p:cNvSpPr/>
          <p:nvPr/>
        </p:nvSpPr>
        <p:spPr>
          <a:xfrm>
            <a:off x="0" y="1005840"/>
            <a:ext cx="9144000" cy="45720"/>
          </a:xfrm>
          <a:prstGeom prst="rect">
            <a:avLst/>
          </a:prstGeom>
          <a:solidFill>
            <a:srgbClr val="C4A34B"/>
          </a:solidFill>
          <a:ln w="12700">
            <a:solidFill>
              <a:srgbClr val="C4A34B"/>
            </a:solidFill>
            <a:prstDash val="solid"/>
          </a:ln>
        </p:spPr>
      </p:sp>
      <p:sp>
        <p:nvSpPr>
          <p:cNvPr id="4" name="Shape 2"/>
          <p:cNvSpPr/>
          <p:nvPr/>
        </p:nvSpPr>
        <p:spPr>
          <a:xfrm>
            <a:off x="320040" y="256032"/>
            <a:ext cx="502920" cy="502920"/>
          </a:xfrm>
          <a:prstGeom prst="ellipse">
            <a:avLst/>
          </a:prstGeom>
          <a:solidFill>
            <a:srgbClr val="C4A34B"/>
          </a:solidFill>
          <a:ln w="12700">
            <a:solidFill>
              <a:srgbClr val="C4A34B"/>
            </a:solidFill>
            <a:prstDash val="solid"/>
          </a:ln>
        </p:spPr>
      </p:sp>
      <p:sp>
        <p:nvSpPr>
          <p:cNvPr id="5" name="Text 3"/>
          <p:cNvSpPr/>
          <p:nvPr/>
        </p:nvSpPr>
        <p:spPr>
          <a:xfrm>
            <a:off x="320040" y="292608"/>
            <a:ext cx="502920" cy="411480"/>
          </a:xfrm>
          <a:prstGeom prst="rect">
            <a:avLst/>
          </a:prstGeom>
          <a:noFill/>
          <a:ln/>
        </p:spPr>
        <p:txBody>
          <a:bodyPr wrap="square" rtlCol="0" anchor="ctr"/>
          <a:lstStyle/>
          <a:p>
            <a:pPr marL="0" indent="0" algn="ctr">
              <a:buNone/>
            </a:pPr>
            <a:r>
              <a:rPr lang="en-US" sz="1600" b="1" dirty="0">
                <a:solidFill>
                  <a:srgbClr val="0D1B2E"/>
                </a:solidFill>
              </a:rPr>
              <a:t>06</a:t>
            </a:r>
            <a:endParaRPr lang="en-US" sz="1600" dirty="0"/>
          </a:p>
        </p:txBody>
      </p:sp>
      <p:sp>
        <p:nvSpPr>
          <p:cNvPr id="6" name="Text 4"/>
          <p:cNvSpPr/>
          <p:nvPr/>
        </p:nvSpPr>
        <p:spPr>
          <a:xfrm>
            <a:off x="960120" y="228600"/>
            <a:ext cx="7772400" cy="475488"/>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Difficultés Rencontrées &amp; Solutions Apportées</a:t>
            </a:r>
            <a:endParaRPr lang="en-US" sz="2100" dirty="0"/>
          </a:p>
        </p:txBody>
      </p:sp>
      <p:sp>
        <p:nvSpPr>
          <p:cNvPr id="7" name="Text 5"/>
          <p:cNvSpPr/>
          <p:nvPr/>
        </p:nvSpPr>
        <p:spPr>
          <a:xfrm>
            <a:off x="960120" y="685800"/>
            <a:ext cx="7772400" cy="274320"/>
          </a:xfrm>
          <a:prstGeom prst="rect">
            <a:avLst/>
          </a:prstGeom>
          <a:noFill/>
          <a:ln/>
        </p:spPr>
        <p:txBody>
          <a:bodyPr wrap="square" rtlCol="0" anchor="ctr"/>
          <a:lstStyle/>
          <a:p>
            <a:pPr marL="0" indent="0">
              <a:buNone/>
            </a:pPr>
            <a:r>
              <a:rPr lang="en-US" sz="1000" i="1" dirty="0">
                <a:solidFill>
                  <a:srgbClr val="A0B4C8"/>
                </a:solidFill>
              </a:rPr>
              <a:t>Apprentissage · Problèmes techniques · Dépassements</a:t>
            </a:r>
            <a:endParaRPr lang="en-US" sz="1000" dirty="0"/>
          </a:p>
        </p:txBody>
      </p:sp>
      <p:sp>
        <p:nvSpPr>
          <p:cNvPr id="8" name="Shape 6"/>
          <p:cNvSpPr/>
          <p:nvPr/>
        </p:nvSpPr>
        <p:spPr>
          <a:xfrm>
            <a:off x="274320" y="1188720"/>
            <a:ext cx="4206240" cy="1783080"/>
          </a:xfrm>
          <a:prstGeom prst="rect">
            <a:avLst/>
          </a:prstGeom>
          <a:solidFill>
            <a:srgbClr val="FFFFFF"/>
          </a:solidFill>
          <a:ln w="6350">
            <a:solidFill>
              <a:srgbClr val="DDDDDD"/>
            </a:solidFill>
            <a:prstDash val="solid"/>
          </a:ln>
          <a:effectLst>
            <a:outerShdw blurRad="101600" dist="38100" dir="8100000" algn="bl" rotWithShape="0">
              <a:srgbClr val="000000">
                <a:alpha val="18000"/>
              </a:srgbClr>
            </a:outerShdw>
          </a:effectLst>
        </p:spPr>
      </p:sp>
      <p:sp>
        <p:nvSpPr>
          <p:cNvPr id="9" name="Shape 7"/>
          <p:cNvSpPr/>
          <p:nvPr/>
        </p:nvSpPr>
        <p:spPr>
          <a:xfrm>
            <a:off x="274320" y="1188720"/>
            <a:ext cx="4206240" cy="384048"/>
          </a:xfrm>
          <a:prstGeom prst="rect">
            <a:avLst/>
          </a:prstGeom>
          <a:solidFill>
            <a:srgbClr val="0D1B2E"/>
          </a:solidFill>
          <a:ln w="12700">
            <a:solidFill>
              <a:srgbClr val="0D1B2E"/>
            </a:solidFill>
            <a:prstDash val="solid"/>
          </a:ln>
        </p:spPr>
      </p:sp>
      <p:sp>
        <p:nvSpPr>
          <p:cNvPr id="10" name="Text 8"/>
          <p:cNvSpPr/>
          <p:nvPr/>
        </p:nvSpPr>
        <p:spPr>
          <a:xfrm>
            <a:off x="749808" y="1243584"/>
            <a:ext cx="3566160" cy="274320"/>
          </a:xfrm>
          <a:prstGeom prst="rect">
            <a:avLst/>
          </a:prstGeom>
          <a:noFill/>
          <a:ln/>
        </p:spPr>
        <p:txBody>
          <a:bodyPr wrap="square" rtlCol="0" anchor="ctr"/>
          <a:lstStyle/>
          <a:p>
            <a:pPr marL="0" indent="0">
              <a:buNone/>
            </a:pPr>
            <a:r>
              <a:rPr lang="en-US" sz="950" b="1" dirty="0">
                <a:solidFill>
                  <a:srgbClr val="FFFFFF"/>
                </a:solidFill>
              </a:rPr>
              <a:t>🏗  Compréhension de l’architecture Full-Stack</a:t>
            </a:r>
            <a:endParaRPr lang="en-US" sz="950" dirty="0"/>
          </a:p>
        </p:txBody>
      </p:sp>
      <p:sp>
        <p:nvSpPr>
          <p:cNvPr id="11" name="Shape 9"/>
          <p:cNvSpPr/>
          <p:nvPr/>
        </p:nvSpPr>
        <p:spPr>
          <a:xfrm>
            <a:off x="347472" y="1243584"/>
            <a:ext cx="274320" cy="274320"/>
          </a:xfrm>
          <a:prstGeom prst="ellipse">
            <a:avLst/>
          </a:prstGeom>
          <a:solidFill>
            <a:srgbClr val="C4A34B"/>
          </a:solidFill>
          <a:ln w="12700">
            <a:solidFill>
              <a:srgbClr val="C4A34B"/>
            </a:solidFill>
            <a:prstDash val="solid"/>
          </a:ln>
        </p:spPr>
      </p:sp>
      <p:sp>
        <p:nvSpPr>
          <p:cNvPr id="12" name="Text 10"/>
          <p:cNvSpPr/>
          <p:nvPr/>
        </p:nvSpPr>
        <p:spPr>
          <a:xfrm>
            <a:off x="347472" y="1261872"/>
            <a:ext cx="274320" cy="237744"/>
          </a:xfrm>
          <a:prstGeom prst="rect">
            <a:avLst/>
          </a:prstGeom>
          <a:noFill/>
          <a:ln/>
        </p:spPr>
        <p:txBody>
          <a:bodyPr wrap="square" rtlCol="0" anchor="ctr"/>
          <a:lstStyle/>
          <a:p>
            <a:pPr marL="0" indent="0" algn="ctr">
              <a:buNone/>
            </a:pPr>
            <a:r>
              <a:rPr lang="en-US" sz="800" b="1" dirty="0">
                <a:solidFill>
                  <a:srgbClr val="0D1B2E"/>
                </a:solidFill>
              </a:rPr>
              <a:t>01</a:t>
            </a:r>
            <a:endParaRPr lang="en-US" sz="800" dirty="0"/>
          </a:p>
        </p:txBody>
      </p:sp>
      <p:sp>
        <p:nvSpPr>
          <p:cNvPr id="13" name="Shape 11"/>
          <p:cNvSpPr/>
          <p:nvPr/>
        </p:nvSpPr>
        <p:spPr>
          <a:xfrm>
            <a:off x="384048" y="1645920"/>
            <a:ext cx="73152" cy="73152"/>
          </a:xfrm>
          <a:prstGeom prst="rect">
            <a:avLst/>
          </a:prstGeom>
          <a:solidFill>
            <a:srgbClr val="C0392B"/>
          </a:solidFill>
          <a:ln w="12700">
            <a:solidFill>
              <a:srgbClr val="C0392B"/>
            </a:solidFill>
            <a:prstDash val="solid"/>
          </a:ln>
        </p:spPr>
      </p:sp>
      <p:sp>
        <p:nvSpPr>
          <p:cNvPr id="14" name="Text 12"/>
          <p:cNvSpPr/>
          <p:nvPr/>
        </p:nvSpPr>
        <p:spPr>
          <a:xfrm>
            <a:off x="530352" y="1618488"/>
            <a:ext cx="1371600" cy="182880"/>
          </a:xfrm>
          <a:prstGeom prst="rect">
            <a:avLst/>
          </a:prstGeom>
          <a:noFill/>
          <a:ln/>
        </p:spPr>
        <p:txBody>
          <a:bodyPr wrap="square" rtlCol="0" anchor="ctr"/>
          <a:lstStyle/>
          <a:p>
            <a:pPr marL="0" indent="0">
              <a:buNone/>
            </a:pPr>
            <a:r>
              <a:rPr lang="en-US" sz="850" b="1" dirty="0">
                <a:solidFill>
                  <a:srgbClr val="C0392B"/>
                </a:solidFill>
              </a:rPr>
              <a:t>Problème :</a:t>
            </a:r>
            <a:endParaRPr lang="en-US" sz="850" dirty="0"/>
          </a:p>
        </p:txBody>
      </p:sp>
      <p:sp>
        <p:nvSpPr>
          <p:cNvPr id="15" name="Text 13"/>
          <p:cNvSpPr/>
          <p:nvPr/>
        </p:nvSpPr>
        <p:spPr>
          <a:xfrm>
            <a:off x="384048" y="1801368"/>
            <a:ext cx="3931920" cy="411480"/>
          </a:xfrm>
          <a:prstGeom prst="rect">
            <a:avLst/>
          </a:prstGeom>
          <a:noFill/>
          <a:ln/>
        </p:spPr>
        <p:txBody>
          <a:bodyPr wrap="square" rtlCol="0" anchor="ctr"/>
          <a:lstStyle/>
          <a:p>
            <a:pPr marL="0" indent="0">
              <a:buNone/>
            </a:pPr>
            <a:r>
              <a:rPr lang="en-US" sz="800" dirty="0">
                <a:solidFill>
                  <a:srgbClr val="0D1B2E"/>
                </a:solidFill>
              </a:rPr>
              <a:t>Première expérience avec une application full-stack : difficulté à comprendre la séparation backend/frontend, le rôle de chaque couche et la circulation des données entre client et serveur (Spring Boot + Next.js).</a:t>
            </a:r>
            <a:endParaRPr lang="en-US" sz="800" dirty="0"/>
          </a:p>
        </p:txBody>
      </p:sp>
      <p:sp>
        <p:nvSpPr>
          <p:cNvPr id="16" name="Shape 14"/>
          <p:cNvSpPr/>
          <p:nvPr/>
        </p:nvSpPr>
        <p:spPr>
          <a:xfrm>
            <a:off x="384048" y="2240280"/>
            <a:ext cx="73152" cy="73152"/>
          </a:xfrm>
          <a:prstGeom prst="rect">
            <a:avLst/>
          </a:prstGeom>
          <a:solidFill>
            <a:srgbClr val="2E7D52"/>
          </a:solidFill>
          <a:ln w="12700">
            <a:solidFill>
              <a:srgbClr val="2E7D52"/>
            </a:solidFill>
            <a:prstDash val="solid"/>
          </a:ln>
        </p:spPr>
      </p:sp>
      <p:sp>
        <p:nvSpPr>
          <p:cNvPr id="17" name="Text 15"/>
          <p:cNvSpPr/>
          <p:nvPr/>
        </p:nvSpPr>
        <p:spPr>
          <a:xfrm>
            <a:off x="530352" y="2212848"/>
            <a:ext cx="1371600" cy="182880"/>
          </a:xfrm>
          <a:prstGeom prst="rect">
            <a:avLst/>
          </a:prstGeom>
          <a:noFill/>
          <a:ln/>
        </p:spPr>
        <p:txBody>
          <a:bodyPr wrap="square" rtlCol="0" anchor="ctr"/>
          <a:lstStyle/>
          <a:p>
            <a:pPr marL="0" indent="0">
              <a:buNone/>
            </a:pPr>
            <a:r>
              <a:rPr lang="en-US" sz="850" b="1" dirty="0">
                <a:solidFill>
                  <a:srgbClr val="2E7D52"/>
                </a:solidFill>
              </a:rPr>
              <a:t>Solution :</a:t>
            </a:r>
            <a:endParaRPr lang="en-US" sz="850" dirty="0"/>
          </a:p>
        </p:txBody>
      </p:sp>
      <p:sp>
        <p:nvSpPr>
          <p:cNvPr id="18" name="Text 16"/>
          <p:cNvSpPr/>
          <p:nvPr/>
        </p:nvSpPr>
        <p:spPr>
          <a:xfrm>
            <a:off x="384048" y="2404872"/>
            <a:ext cx="3931920" cy="457200"/>
          </a:xfrm>
          <a:prstGeom prst="rect">
            <a:avLst/>
          </a:prstGeom>
          <a:noFill/>
          <a:ln/>
        </p:spPr>
        <p:txBody>
          <a:bodyPr wrap="square" rtlCol="0" anchor="ctr"/>
          <a:lstStyle/>
          <a:p>
            <a:pPr marL="0" indent="0">
              <a:buNone/>
            </a:pPr>
            <a:r>
              <a:rPr lang="en-US" sz="800" dirty="0">
                <a:solidFill>
                  <a:srgbClr val="0D1B2E"/>
                </a:solidFill>
              </a:rPr>
              <a:t>Adoption d’une approche structurée : étude d’exemples concrets, documentation officielle et tests des API avec Postman pour valider chaque étape de la communication client-serveur.</a:t>
            </a:r>
            <a:endParaRPr lang="en-US" sz="800" dirty="0"/>
          </a:p>
        </p:txBody>
      </p:sp>
      <p:sp>
        <p:nvSpPr>
          <p:cNvPr id="19" name="Shape 17"/>
          <p:cNvSpPr/>
          <p:nvPr/>
        </p:nvSpPr>
        <p:spPr>
          <a:xfrm>
            <a:off x="4754880" y="1188720"/>
            <a:ext cx="4206240" cy="1783080"/>
          </a:xfrm>
          <a:prstGeom prst="rect">
            <a:avLst/>
          </a:prstGeom>
          <a:solidFill>
            <a:srgbClr val="FFFFFF"/>
          </a:solidFill>
          <a:ln w="6350">
            <a:solidFill>
              <a:srgbClr val="DDDDDD"/>
            </a:solidFill>
            <a:prstDash val="solid"/>
          </a:ln>
          <a:effectLst>
            <a:outerShdw blurRad="101600" dist="38100" dir="8100000" algn="bl" rotWithShape="0">
              <a:srgbClr val="000000">
                <a:alpha val="18000"/>
              </a:srgbClr>
            </a:outerShdw>
          </a:effectLst>
        </p:spPr>
      </p:sp>
      <p:sp>
        <p:nvSpPr>
          <p:cNvPr id="20" name="Shape 18"/>
          <p:cNvSpPr/>
          <p:nvPr/>
        </p:nvSpPr>
        <p:spPr>
          <a:xfrm>
            <a:off x="4754880" y="1188720"/>
            <a:ext cx="4206240" cy="384048"/>
          </a:xfrm>
          <a:prstGeom prst="rect">
            <a:avLst/>
          </a:prstGeom>
          <a:solidFill>
            <a:srgbClr val="0D1B2E"/>
          </a:solidFill>
          <a:ln w="12700">
            <a:solidFill>
              <a:srgbClr val="0D1B2E"/>
            </a:solidFill>
            <a:prstDash val="solid"/>
          </a:ln>
        </p:spPr>
      </p:sp>
      <p:sp>
        <p:nvSpPr>
          <p:cNvPr id="21" name="Text 19"/>
          <p:cNvSpPr/>
          <p:nvPr/>
        </p:nvSpPr>
        <p:spPr>
          <a:xfrm>
            <a:off x="5230368" y="1243584"/>
            <a:ext cx="3566160" cy="274320"/>
          </a:xfrm>
          <a:prstGeom prst="rect">
            <a:avLst/>
          </a:prstGeom>
          <a:noFill/>
          <a:ln/>
        </p:spPr>
        <p:txBody>
          <a:bodyPr wrap="square" rtlCol="0" anchor="ctr"/>
          <a:lstStyle/>
          <a:p>
            <a:pPr marL="0" indent="0">
              <a:buNone/>
            </a:pPr>
            <a:r>
              <a:rPr lang="en-US" sz="950" b="1" dirty="0">
                <a:solidFill>
                  <a:srgbClr val="FFFFFF"/>
                </a:solidFill>
              </a:rPr>
              <a:t>🔒  Implémentation de la sécurité avec JWT</a:t>
            </a:r>
            <a:endParaRPr lang="en-US" sz="950" dirty="0"/>
          </a:p>
        </p:txBody>
      </p:sp>
      <p:sp>
        <p:nvSpPr>
          <p:cNvPr id="22" name="Shape 20"/>
          <p:cNvSpPr/>
          <p:nvPr/>
        </p:nvSpPr>
        <p:spPr>
          <a:xfrm>
            <a:off x="4828032" y="1243584"/>
            <a:ext cx="274320" cy="274320"/>
          </a:xfrm>
          <a:prstGeom prst="ellipse">
            <a:avLst/>
          </a:prstGeom>
          <a:solidFill>
            <a:srgbClr val="C4A34B"/>
          </a:solidFill>
          <a:ln w="12700">
            <a:solidFill>
              <a:srgbClr val="C4A34B"/>
            </a:solidFill>
            <a:prstDash val="solid"/>
          </a:ln>
        </p:spPr>
      </p:sp>
      <p:sp>
        <p:nvSpPr>
          <p:cNvPr id="23" name="Text 21"/>
          <p:cNvSpPr/>
          <p:nvPr/>
        </p:nvSpPr>
        <p:spPr>
          <a:xfrm>
            <a:off x="4828032" y="1261872"/>
            <a:ext cx="274320" cy="237744"/>
          </a:xfrm>
          <a:prstGeom prst="rect">
            <a:avLst/>
          </a:prstGeom>
          <a:noFill/>
          <a:ln/>
        </p:spPr>
        <p:txBody>
          <a:bodyPr wrap="square" rtlCol="0" anchor="ctr"/>
          <a:lstStyle/>
          <a:p>
            <a:pPr marL="0" indent="0" algn="ctr">
              <a:buNone/>
            </a:pPr>
            <a:r>
              <a:rPr lang="en-US" sz="800" b="1" dirty="0">
                <a:solidFill>
                  <a:srgbClr val="0D1B2E"/>
                </a:solidFill>
              </a:rPr>
              <a:t>02</a:t>
            </a:r>
            <a:endParaRPr lang="en-US" sz="800" dirty="0"/>
          </a:p>
        </p:txBody>
      </p:sp>
      <p:sp>
        <p:nvSpPr>
          <p:cNvPr id="24" name="Shape 22"/>
          <p:cNvSpPr/>
          <p:nvPr/>
        </p:nvSpPr>
        <p:spPr>
          <a:xfrm>
            <a:off x="4864608" y="1645920"/>
            <a:ext cx="73152" cy="73152"/>
          </a:xfrm>
          <a:prstGeom prst="rect">
            <a:avLst/>
          </a:prstGeom>
          <a:solidFill>
            <a:srgbClr val="D97706"/>
          </a:solidFill>
          <a:ln w="12700">
            <a:solidFill>
              <a:srgbClr val="D97706"/>
            </a:solidFill>
            <a:prstDash val="solid"/>
          </a:ln>
        </p:spPr>
      </p:sp>
      <p:sp>
        <p:nvSpPr>
          <p:cNvPr id="25" name="Text 23"/>
          <p:cNvSpPr/>
          <p:nvPr/>
        </p:nvSpPr>
        <p:spPr>
          <a:xfrm>
            <a:off x="5010912" y="1618488"/>
            <a:ext cx="1371600" cy="182880"/>
          </a:xfrm>
          <a:prstGeom prst="rect">
            <a:avLst/>
          </a:prstGeom>
          <a:noFill/>
          <a:ln/>
        </p:spPr>
        <p:txBody>
          <a:bodyPr wrap="square" rtlCol="0" anchor="ctr"/>
          <a:lstStyle/>
          <a:p>
            <a:pPr marL="0" indent="0">
              <a:buNone/>
            </a:pPr>
            <a:r>
              <a:rPr lang="en-US" sz="850" b="1" dirty="0">
                <a:solidFill>
                  <a:srgbClr val="D97706"/>
                </a:solidFill>
              </a:rPr>
              <a:t>Problème :</a:t>
            </a:r>
            <a:endParaRPr lang="en-US" sz="850" dirty="0"/>
          </a:p>
        </p:txBody>
      </p:sp>
      <p:sp>
        <p:nvSpPr>
          <p:cNvPr id="26" name="Text 24"/>
          <p:cNvSpPr/>
          <p:nvPr/>
        </p:nvSpPr>
        <p:spPr>
          <a:xfrm>
            <a:off x="4864608" y="1801368"/>
            <a:ext cx="3931920" cy="411480"/>
          </a:xfrm>
          <a:prstGeom prst="rect">
            <a:avLst/>
          </a:prstGeom>
          <a:noFill/>
          <a:ln/>
        </p:spPr>
        <p:txBody>
          <a:bodyPr wrap="square" rtlCol="0" anchor="ctr"/>
          <a:lstStyle/>
          <a:p>
            <a:pPr marL="0" indent="0">
              <a:buNone/>
            </a:pPr>
            <a:r>
              <a:rPr lang="en-US" sz="800" dirty="0">
                <a:solidFill>
                  <a:srgbClr val="0D1B2E"/>
                </a:solidFill>
              </a:rPr>
              <a:t>La gestion des tokens JWT (génération, validation, requêtes protégées) et la configuration de Spring Security ont causé des erreurs dans la protection des endpoints et la gestion des autorisations selon les rôles.</a:t>
            </a:r>
            <a:endParaRPr lang="en-US" sz="800" dirty="0"/>
          </a:p>
        </p:txBody>
      </p:sp>
      <p:sp>
        <p:nvSpPr>
          <p:cNvPr id="27" name="Shape 25"/>
          <p:cNvSpPr/>
          <p:nvPr/>
        </p:nvSpPr>
        <p:spPr>
          <a:xfrm>
            <a:off x="4864608" y="2240280"/>
            <a:ext cx="73152" cy="73152"/>
          </a:xfrm>
          <a:prstGeom prst="rect">
            <a:avLst/>
          </a:prstGeom>
          <a:solidFill>
            <a:srgbClr val="2E7D52"/>
          </a:solidFill>
          <a:ln w="12700">
            <a:solidFill>
              <a:srgbClr val="2E7D52"/>
            </a:solidFill>
            <a:prstDash val="solid"/>
          </a:ln>
        </p:spPr>
      </p:sp>
      <p:sp>
        <p:nvSpPr>
          <p:cNvPr id="28" name="Text 26"/>
          <p:cNvSpPr/>
          <p:nvPr/>
        </p:nvSpPr>
        <p:spPr>
          <a:xfrm>
            <a:off x="5010912" y="2212848"/>
            <a:ext cx="1371600" cy="182880"/>
          </a:xfrm>
          <a:prstGeom prst="rect">
            <a:avLst/>
          </a:prstGeom>
          <a:noFill/>
          <a:ln/>
        </p:spPr>
        <p:txBody>
          <a:bodyPr wrap="square" rtlCol="0" anchor="ctr"/>
          <a:lstStyle/>
          <a:p>
            <a:pPr marL="0" indent="0">
              <a:buNone/>
            </a:pPr>
            <a:r>
              <a:rPr lang="en-US" sz="850" b="1" dirty="0">
                <a:solidFill>
                  <a:srgbClr val="2E7D52"/>
                </a:solidFill>
              </a:rPr>
              <a:t>Solution :</a:t>
            </a:r>
            <a:endParaRPr lang="en-US" sz="850" dirty="0"/>
          </a:p>
        </p:txBody>
      </p:sp>
      <p:sp>
        <p:nvSpPr>
          <p:cNvPr id="29" name="Text 27"/>
          <p:cNvSpPr/>
          <p:nvPr/>
        </p:nvSpPr>
        <p:spPr>
          <a:xfrm>
            <a:off x="4864608" y="2404872"/>
            <a:ext cx="3931920" cy="457200"/>
          </a:xfrm>
          <a:prstGeom prst="rect">
            <a:avLst/>
          </a:prstGeom>
          <a:noFill/>
          <a:ln/>
        </p:spPr>
        <p:txBody>
          <a:bodyPr wrap="square" rtlCol="0" anchor="ctr"/>
          <a:lstStyle/>
          <a:p>
            <a:pPr marL="0" indent="0">
              <a:buNone/>
            </a:pPr>
            <a:r>
              <a:rPr lang="en-US" sz="800" dirty="0">
                <a:solidFill>
                  <a:srgbClr val="0D1B2E"/>
                </a:solidFill>
              </a:rPr>
              <a:t>Étude approfondie du fonctionnement de JWT réalisée, puis mise en place progressive : authentification, filtrage des requêtes et gestion des rôles (ADMIN / VENDEUR / CLIENT).</a:t>
            </a:r>
            <a:endParaRPr lang="en-US" sz="800" dirty="0"/>
          </a:p>
        </p:txBody>
      </p:sp>
      <p:sp>
        <p:nvSpPr>
          <p:cNvPr id="30" name="Shape 28"/>
          <p:cNvSpPr/>
          <p:nvPr/>
        </p:nvSpPr>
        <p:spPr>
          <a:xfrm>
            <a:off x="274320" y="3108960"/>
            <a:ext cx="4206240" cy="1783080"/>
          </a:xfrm>
          <a:prstGeom prst="rect">
            <a:avLst/>
          </a:prstGeom>
          <a:solidFill>
            <a:srgbClr val="FFFFFF"/>
          </a:solidFill>
          <a:ln w="6350">
            <a:solidFill>
              <a:srgbClr val="DDDDDD"/>
            </a:solidFill>
            <a:prstDash val="solid"/>
          </a:ln>
          <a:effectLst>
            <a:outerShdw blurRad="101600" dist="38100" dir="8100000" algn="bl" rotWithShape="0">
              <a:srgbClr val="000000">
                <a:alpha val="18000"/>
              </a:srgbClr>
            </a:outerShdw>
          </a:effectLst>
        </p:spPr>
      </p:sp>
      <p:sp>
        <p:nvSpPr>
          <p:cNvPr id="31" name="Shape 29"/>
          <p:cNvSpPr/>
          <p:nvPr/>
        </p:nvSpPr>
        <p:spPr>
          <a:xfrm>
            <a:off x="274320" y="3108960"/>
            <a:ext cx="4206240" cy="384048"/>
          </a:xfrm>
          <a:prstGeom prst="rect">
            <a:avLst/>
          </a:prstGeom>
          <a:solidFill>
            <a:srgbClr val="0D1B2E"/>
          </a:solidFill>
          <a:ln w="12700">
            <a:solidFill>
              <a:srgbClr val="0D1B2E"/>
            </a:solidFill>
            <a:prstDash val="solid"/>
          </a:ln>
        </p:spPr>
      </p:sp>
      <p:sp>
        <p:nvSpPr>
          <p:cNvPr id="32" name="Text 30"/>
          <p:cNvSpPr/>
          <p:nvPr/>
        </p:nvSpPr>
        <p:spPr>
          <a:xfrm>
            <a:off x="749808" y="3163824"/>
            <a:ext cx="3566160" cy="274320"/>
          </a:xfrm>
          <a:prstGeom prst="rect">
            <a:avLst/>
          </a:prstGeom>
          <a:noFill/>
          <a:ln/>
        </p:spPr>
        <p:txBody>
          <a:bodyPr wrap="square" rtlCol="0" anchor="ctr"/>
          <a:lstStyle/>
          <a:p>
            <a:pPr marL="0" indent="0">
              <a:buNone/>
            </a:pPr>
            <a:r>
              <a:rPr lang="en-US" sz="950" b="1" dirty="0">
                <a:solidFill>
                  <a:srgbClr val="FFFFFF"/>
                </a:solidFill>
              </a:rPr>
              <a:t>🌐  Communication Frontend / Backend</a:t>
            </a:r>
            <a:endParaRPr lang="en-US" sz="950" dirty="0"/>
          </a:p>
        </p:txBody>
      </p:sp>
      <p:sp>
        <p:nvSpPr>
          <p:cNvPr id="33" name="Shape 31"/>
          <p:cNvSpPr/>
          <p:nvPr/>
        </p:nvSpPr>
        <p:spPr>
          <a:xfrm>
            <a:off x="347472" y="3163824"/>
            <a:ext cx="274320" cy="274320"/>
          </a:xfrm>
          <a:prstGeom prst="ellipse">
            <a:avLst/>
          </a:prstGeom>
          <a:solidFill>
            <a:srgbClr val="C4A34B"/>
          </a:solidFill>
          <a:ln w="12700">
            <a:solidFill>
              <a:srgbClr val="C4A34B"/>
            </a:solidFill>
            <a:prstDash val="solid"/>
          </a:ln>
        </p:spPr>
      </p:sp>
      <p:sp>
        <p:nvSpPr>
          <p:cNvPr id="34" name="Text 32"/>
          <p:cNvSpPr/>
          <p:nvPr/>
        </p:nvSpPr>
        <p:spPr>
          <a:xfrm>
            <a:off x="347472" y="3182112"/>
            <a:ext cx="274320" cy="237744"/>
          </a:xfrm>
          <a:prstGeom prst="rect">
            <a:avLst/>
          </a:prstGeom>
          <a:noFill/>
          <a:ln/>
        </p:spPr>
        <p:txBody>
          <a:bodyPr wrap="square" rtlCol="0" anchor="ctr"/>
          <a:lstStyle/>
          <a:p>
            <a:pPr marL="0" indent="0" algn="ctr">
              <a:buNone/>
            </a:pPr>
            <a:r>
              <a:rPr lang="en-US" sz="800" b="1" dirty="0">
                <a:solidFill>
                  <a:srgbClr val="0D1B2E"/>
                </a:solidFill>
              </a:rPr>
              <a:t>03</a:t>
            </a:r>
            <a:endParaRPr lang="en-US" sz="800" dirty="0"/>
          </a:p>
        </p:txBody>
      </p:sp>
      <p:sp>
        <p:nvSpPr>
          <p:cNvPr id="35" name="Shape 33"/>
          <p:cNvSpPr/>
          <p:nvPr/>
        </p:nvSpPr>
        <p:spPr>
          <a:xfrm>
            <a:off x="384048" y="3566160"/>
            <a:ext cx="73152" cy="73152"/>
          </a:xfrm>
          <a:prstGeom prst="rect">
            <a:avLst/>
          </a:prstGeom>
          <a:solidFill>
            <a:srgbClr val="5B3F8C"/>
          </a:solidFill>
          <a:ln w="12700">
            <a:solidFill>
              <a:srgbClr val="5B3F8C"/>
            </a:solidFill>
            <a:prstDash val="solid"/>
          </a:ln>
        </p:spPr>
      </p:sp>
      <p:sp>
        <p:nvSpPr>
          <p:cNvPr id="36" name="Text 34"/>
          <p:cNvSpPr/>
          <p:nvPr/>
        </p:nvSpPr>
        <p:spPr>
          <a:xfrm>
            <a:off x="530352" y="3538728"/>
            <a:ext cx="1371600" cy="182880"/>
          </a:xfrm>
          <a:prstGeom prst="rect">
            <a:avLst/>
          </a:prstGeom>
          <a:noFill/>
          <a:ln/>
        </p:spPr>
        <p:txBody>
          <a:bodyPr wrap="square" rtlCol="0" anchor="ctr"/>
          <a:lstStyle/>
          <a:p>
            <a:pPr marL="0" indent="0">
              <a:buNone/>
            </a:pPr>
            <a:r>
              <a:rPr lang="en-US" sz="850" b="1" dirty="0">
                <a:solidFill>
                  <a:srgbClr val="5B3F8C"/>
                </a:solidFill>
              </a:rPr>
              <a:t>Problème :</a:t>
            </a:r>
            <a:endParaRPr lang="en-US" sz="850" dirty="0"/>
          </a:p>
        </p:txBody>
      </p:sp>
      <p:sp>
        <p:nvSpPr>
          <p:cNvPr id="37" name="Text 35"/>
          <p:cNvSpPr/>
          <p:nvPr/>
        </p:nvSpPr>
        <p:spPr>
          <a:xfrm>
            <a:off x="384048" y="3721608"/>
            <a:ext cx="3931920" cy="411480"/>
          </a:xfrm>
          <a:prstGeom prst="rect">
            <a:avLst/>
          </a:prstGeom>
          <a:noFill/>
          <a:ln/>
        </p:spPr>
        <p:txBody>
          <a:bodyPr wrap="square" rtlCol="0" anchor="ctr"/>
          <a:lstStyle/>
          <a:p>
            <a:pPr marL="0" indent="0">
              <a:buNone/>
            </a:pPr>
            <a:r>
              <a:rPr lang="en-US" sz="800" dirty="0">
                <a:solidFill>
                  <a:srgbClr val="0D1B2E"/>
                </a:solidFill>
              </a:rPr>
              <a:t>Problèmes lors de l’envoi des requêtes HTTP : gestion des réponses JSON, erreurs CORS entre Next.js (port 3000) et Spring Boot (port 8080), et intégration du token JWT dans les appels API.</a:t>
            </a:r>
            <a:endParaRPr lang="en-US" sz="800" dirty="0"/>
          </a:p>
        </p:txBody>
      </p:sp>
      <p:sp>
        <p:nvSpPr>
          <p:cNvPr id="38" name="Shape 36"/>
          <p:cNvSpPr/>
          <p:nvPr/>
        </p:nvSpPr>
        <p:spPr>
          <a:xfrm>
            <a:off x="384048" y="4160520"/>
            <a:ext cx="73152" cy="73152"/>
          </a:xfrm>
          <a:prstGeom prst="rect">
            <a:avLst/>
          </a:prstGeom>
          <a:solidFill>
            <a:srgbClr val="2E7D52"/>
          </a:solidFill>
          <a:ln w="12700">
            <a:solidFill>
              <a:srgbClr val="2E7D52"/>
            </a:solidFill>
            <a:prstDash val="solid"/>
          </a:ln>
        </p:spPr>
      </p:sp>
      <p:sp>
        <p:nvSpPr>
          <p:cNvPr id="39" name="Text 37"/>
          <p:cNvSpPr/>
          <p:nvPr/>
        </p:nvSpPr>
        <p:spPr>
          <a:xfrm>
            <a:off x="530352" y="4133088"/>
            <a:ext cx="1371600" cy="182880"/>
          </a:xfrm>
          <a:prstGeom prst="rect">
            <a:avLst/>
          </a:prstGeom>
          <a:noFill/>
          <a:ln/>
        </p:spPr>
        <p:txBody>
          <a:bodyPr wrap="square" rtlCol="0" anchor="ctr"/>
          <a:lstStyle/>
          <a:p>
            <a:pPr marL="0" indent="0">
              <a:buNone/>
            </a:pPr>
            <a:r>
              <a:rPr lang="en-US" sz="850" b="1" dirty="0">
                <a:solidFill>
                  <a:srgbClr val="2E7D52"/>
                </a:solidFill>
              </a:rPr>
              <a:t>Solution :</a:t>
            </a:r>
            <a:endParaRPr lang="en-US" sz="850" dirty="0"/>
          </a:p>
        </p:txBody>
      </p:sp>
      <p:sp>
        <p:nvSpPr>
          <p:cNvPr id="40" name="Text 38"/>
          <p:cNvSpPr/>
          <p:nvPr/>
        </p:nvSpPr>
        <p:spPr>
          <a:xfrm>
            <a:off x="384048" y="4325112"/>
            <a:ext cx="3931920" cy="457200"/>
          </a:xfrm>
          <a:prstGeom prst="rect">
            <a:avLst/>
          </a:prstGeom>
          <a:noFill/>
          <a:ln/>
        </p:spPr>
        <p:txBody>
          <a:bodyPr wrap="square" rtlCol="0" anchor="ctr"/>
          <a:lstStyle/>
          <a:p>
            <a:pPr marL="0" indent="0">
              <a:buNone/>
            </a:pPr>
            <a:r>
              <a:rPr lang="en-US" sz="800" dirty="0">
                <a:solidFill>
                  <a:srgbClr val="0D1B2E"/>
                </a:solidFill>
              </a:rPr>
              <a:t>Configuration CORS du backend, gestion centralisée des appels API côté frontend et utilisation d’intercepteurs pour ajouter automatiquement le token JWT à chaque requête protégée.</a:t>
            </a:r>
            <a:endParaRPr lang="en-US" sz="800" dirty="0"/>
          </a:p>
        </p:txBody>
      </p:sp>
      <p:sp>
        <p:nvSpPr>
          <p:cNvPr id="41" name="Shape 39"/>
          <p:cNvSpPr/>
          <p:nvPr/>
        </p:nvSpPr>
        <p:spPr>
          <a:xfrm>
            <a:off x="4754880" y="3108960"/>
            <a:ext cx="4206240" cy="1783080"/>
          </a:xfrm>
          <a:prstGeom prst="rect">
            <a:avLst/>
          </a:prstGeom>
          <a:solidFill>
            <a:srgbClr val="FFFFFF"/>
          </a:solidFill>
          <a:ln w="6350">
            <a:solidFill>
              <a:srgbClr val="DDDDDD"/>
            </a:solidFill>
            <a:prstDash val="solid"/>
          </a:ln>
          <a:effectLst>
            <a:outerShdw blurRad="101600" dist="38100" dir="8100000" algn="bl" rotWithShape="0">
              <a:srgbClr val="000000">
                <a:alpha val="18000"/>
              </a:srgbClr>
            </a:outerShdw>
          </a:effectLst>
        </p:spPr>
      </p:sp>
      <p:sp>
        <p:nvSpPr>
          <p:cNvPr id="42" name="Shape 40"/>
          <p:cNvSpPr/>
          <p:nvPr/>
        </p:nvSpPr>
        <p:spPr>
          <a:xfrm>
            <a:off x="4754880" y="3108960"/>
            <a:ext cx="4206240" cy="384048"/>
          </a:xfrm>
          <a:prstGeom prst="rect">
            <a:avLst/>
          </a:prstGeom>
          <a:solidFill>
            <a:srgbClr val="0D1B2E"/>
          </a:solidFill>
          <a:ln w="12700">
            <a:solidFill>
              <a:srgbClr val="0D1B2E"/>
            </a:solidFill>
            <a:prstDash val="solid"/>
          </a:ln>
        </p:spPr>
      </p:sp>
      <p:sp>
        <p:nvSpPr>
          <p:cNvPr id="43" name="Text 41"/>
          <p:cNvSpPr/>
          <p:nvPr/>
        </p:nvSpPr>
        <p:spPr>
          <a:xfrm>
            <a:off x="5230368" y="3163824"/>
            <a:ext cx="3566160" cy="274320"/>
          </a:xfrm>
          <a:prstGeom prst="rect">
            <a:avLst/>
          </a:prstGeom>
          <a:noFill/>
          <a:ln/>
        </p:spPr>
        <p:txBody>
          <a:bodyPr wrap="square" rtlCol="0" anchor="ctr"/>
          <a:lstStyle/>
          <a:p>
            <a:pPr marL="0" indent="0">
              <a:buNone/>
            </a:pPr>
            <a:r>
              <a:rPr lang="en-US" sz="950" b="1" dirty="0">
                <a:solidFill>
                  <a:srgbClr val="FFFFFF"/>
                </a:solidFill>
              </a:rPr>
              <a:t>💡  Bilan des difficultés rencontrées</a:t>
            </a:r>
            <a:endParaRPr lang="en-US" sz="950" dirty="0"/>
          </a:p>
        </p:txBody>
      </p:sp>
      <p:sp>
        <p:nvSpPr>
          <p:cNvPr id="44" name="Shape 42"/>
          <p:cNvSpPr/>
          <p:nvPr/>
        </p:nvSpPr>
        <p:spPr>
          <a:xfrm>
            <a:off x="4828032" y="3163824"/>
            <a:ext cx="274320" cy="274320"/>
          </a:xfrm>
          <a:prstGeom prst="ellipse">
            <a:avLst/>
          </a:prstGeom>
          <a:solidFill>
            <a:srgbClr val="C4A34B"/>
          </a:solidFill>
          <a:ln w="12700">
            <a:solidFill>
              <a:srgbClr val="C4A34B"/>
            </a:solidFill>
            <a:prstDash val="solid"/>
          </a:ln>
        </p:spPr>
      </p:sp>
      <p:sp>
        <p:nvSpPr>
          <p:cNvPr id="45" name="Text 43"/>
          <p:cNvSpPr/>
          <p:nvPr/>
        </p:nvSpPr>
        <p:spPr>
          <a:xfrm>
            <a:off x="4828032" y="3182112"/>
            <a:ext cx="274320" cy="237744"/>
          </a:xfrm>
          <a:prstGeom prst="rect">
            <a:avLst/>
          </a:prstGeom>
          <a:noFill/>
          <a:ln/>
        </p:spPr>
        <p:txBody>
          <a:bodyPr wrap="square" rtlCol="0" anchor="ctr"/>
          <a:lstStyle/>
          <a:p>
            <a:pPr marL="0" indent="0" algn="ctr">
              <a:buNone/>
            </a:pPr>
            <a:r>
              <a:rPr lang="en-US" sz="800" b="1" dirty="0">
                <a:solidFill>
                  <a:srgbClr val="0D1B2E"/>
                </a:solidFill>
              </a:rPr>
              <a:t>04</a:t>
            </a:r>
            <a:endParaRPr lang="en-US" sz="800" dirty="0"/>
          </a:p>
        </p:txBody>
      </p:sp>
      <p:sp>
        <p:nvSpPr>
          <p:cNvPr id="46" name="Shape 44"/>
          <p:cNvSpPr/>
          <p:nvPr/>
        </p:nvSpPr>
        <p:spPr>
          <a:xfrm>
            <a:off x="4864608" y="3566160"/>
            <a:ext cx="73152" cy="73152"/>
          </a:xfrm>
          <a:prstGeom prst="rect">
            <a:avLst/>
          </a:prstGeom>
          <a:solidFill>
            <a:srgbClr val="1565C0"/>
          </a:solidFill>
          <a:ln w="12700">
            <a:solidFill>
              <a:srgbClr val="1565C0"/>
            </a:solidFill>
            <a:prstDash val="solid"/>
          </a:ln>
        </p:spPr>
      </p:sp>
      <p:sp>
        <p:nvSpPr>
          <p:cNvPr id="47" name="Text 45"/>
          <p:cNvSpPr/>
          <p:nvPr/>
        </p:nvSpPr>
        <p:spPr>
          <a:xfrm>
            <a:off x="5010912" y="3538728"/>
            <a:ext cx="1371600" cy="182880"/>
          </a:xfrm>
          <a:prstGeom prst="rect">
            <a:avLst/>
          </a:prstGeom>
          <a:noFill/>
          <a:ln/>
        </p:spPr>
        <p:txBody>
          <a:bodyPr wrap="square" rtlCol="0" anchor="ctr"/>
          <a:lstStyle/>
          <a:p>
            <a:pPr marL="0" indent="0">
              <a:buNone/>
            </a:pPr>
            <a:r>
              <a:rPr lang="en-US" sz="850" b="1" dirty="0">
                <a:solidFill>
                  <a:srgbClr val="1565C0"/>
                </a:solidFill>
              </a:rPr>
              <a:t>Problème :</a:t>
            </a:r>
            <a:endParaRPr lang="en-US" sz="850" dirty="0"/>
          </a:p>
        </p:txBody>
      </p:sp>
      <p:sp>
        <p:nvSpPr>
          <p:cNvPr id="48" name="Text 46"/>
          <p:cNvSpPr/>
          <p:nvPr/>
        </p:nvSpPr>
        <p:spPr>
          <a:xfrm>
            <a:off x="4864608" y="3721608"/>
            <a:ext cx="3931920" cy="411480"/>
          </a:xfrm>
          <a:prstGeom prst="rect">
            <a:avLst/>
          </a:prstGeom>
          <a:noFill/>
          <a:ln/>
        </p:spPr>
        <p:txBody>
          <a:bodyPr wrap="square" rtlCol="0" anchor="ctr"/>
          <a:lstStyle/>
          <a:p>
            <a:pPr marL="0" indent="0">
              <a:buNone/>
            </a:pPr>
            <a:r>
              <a:rPr lang="en-US" sz="800" dirty="0">
                <a:solidFill>
                  <a:srgbClr val="0D1B2E"/>
                </a:solidFill>
              </a:rPr>
              <a:t>Ces trois difficultés ont toutes un point commun : elles émergent de l’interaction entre plusieurs technologies modernes (Java EE, Spring Boot, Next.js, JWT) utilisées ensemble pour la première fois.</a:t>
            </a:r>
            <a:endParaRPr lang="en-US" sz="800" dirty="0"/>
          </a:p>
        </p:txBody>
      </p:sp>
      <p:sp>
        <p:nvSpPr>
          <p:cNvPr id="49" name="Shape 47"/>
          <p:cNvSpPr/>
          <p:nvPr/>
        </p:nvSpPr>
        <p:spPr>
          <a:xfrm>
            <a:off x="4864608" y="4160520"/>
            <a:ext cx="73152" cy="73152"/>
          </a:xfrm>
          <a:prstGeom prst="rect">
            <a:avLst/>
          </a:prstGeom>
          <a:solidFill>
            <a:srgbClr val="2E7D52"/>
          </a:solidFill>
          <a:ln w="12700">
            <a:solidFill>
              <a:srgbClr val="2E7D52"/>
            </a:solidFill>
            <a:prstDash val="solid"/>
          </a:ln>
        </p:spPr>
      </p:sp>
      <p:sp>
        <p:nvSpPr>
          <p:cNvPr id="50" name="Text 48"/>
          <p:cNvSpPr/>
          <p:nvPr/>
        </p:nvSpPr>
        <p:spPr>
          <a:xfrm>
            <a:off x="5010912" y="4133088"/>
            <a:ext cx="1371600" cy="182880"/>
          </a:xfrm>
          <a:prstGeom prst="rect">
            <a:avLst/>
          </a:prstGeom>
          <a:noFill/>
          <a:ln/>
        </p:spPr>
        <p:txBody>
          <a:bodyPr wrap="square" rtlCol="0" anchor="ctr"/>
          <a:lstStyle/>
          <a:p>
            <a:pPr marL="0" indent="0">
              <a:buNone/>
            </a:pPr>
            <a:r>
              <a:rPr lang="en-US" sz="850" b="1" dirty="0">
                <a:solidFill>
                  <a:srgbClr val="2E7D52"/>
                </a:solidFill>
              </a:rPr>
              <a:t>Solution :</a:t>
            </a:r>
            <a:endParaRPr lang="en-US" sz="850" dirty="0"/>
          </a:p>
        </p:txBody>
      </p:sp>
      <p:sp>
        <p:nvSpPr>
          <p:cNvPr id="51" name="Text 49"/>
          <p:cNvSpPr/>
          <p:nvPr/>
        </p:nvSpPr>
        <p:spPr>
          <a:xfrm>
            <a:off x="4864608" y="4325112"/>
            <a:ext cx="3931920" cy="457200"/>
          </a:xfrm>
          <a:prstGeom prst="rect">
            <a:avLst/>
          </a:prstGeom>
          <a:noFill/>
          <a:ln/>
        </p:spPr>
        <p:txBody>
          <a:bodyPr wrap="square" rtlCol="0" anchor="ctr"/>
          <a:lstStyle/>
          <a:p>
            <a:pPr marL="0" indent="0">
              <a:buNone/>
            </a:pPr>
            <a:r>
              <a:rPr lang="en-US" sz="800" dirty="0">
                <a:solidFill>
                  <a:srgbClr val="0D1B2E"/>
                </a:solidFill>
              </a:rPr>
              <a:t>Chaque obstacle surmonté a renforcé la maîtrise des outils et la compréhension de l’architecture full-stack. Ce projet a été une expérience d’apprentissage concrète et enrichissante.</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B2E"/>
          </a:solidFill>
          <a:ln w="12700">
            <a:solidFill>
              <a:srgbClr val="0D1B2E"/>
            </a:solidFill>
            <a:prstDash val="solid"/>
          </a:ln>
        </p:spPr>
      </p:sp>
      <p:sp>
        <p:nvSpPr>
          <p:cNvPr id="3" name="Shape 1"/>
          <p:cNvSpPr/>
          <p:nvPr/>
        </p:nvSpPr>
        <p:spPr>
          <a:xfrm>
            <a:off x="0" y="1005840"/>
            <a:ext cx="9144000" cy="45720"/>
          </a:xfrm>
          <a:prstGeom prst="rect">
            <a:avLst/>
          </a:prstGeom>
          <a:solidFill>
            <a:srgbClr val="C4A34B"/>
          </a:solidFill>
          <a:ln w="12700">
            <a:solidFill>
              <a:srgbClr val="C4A34B"/>
            </a:solidFill>
            <a:prstDash val="solid"/>
          </a:ln>
        </p:spPr>
      </p:sp>
      <p:sp>
        <p:nvSpPr>
          <p:cNvPr id="4" name="Shape 2"/>
          <p:cNvSpPr/>
          <p:nvPr/>
        </p:nvSpPr>
        <p:spPr>
          <a:xfrm>
            <a:off x="320040" y="256032"/>
            <a:ext cx="502920" cy="502920"/>
          </a:xfrm>
          <a:prstGeom prst="ellipse">
            <a:avLst/>
          </a:prstGeom>
          <a:solidFill>
            <a:srgbClr val="C4A34B"/>
          </a:solidFill>
          <a:ln w="12700">
            <a:solidFill>
              <a:srgbClr val="C4A34B"/>
            </a:solidFill>
            <a:prstDash val="solid"/>
          </a:ln>
        </p:spPr>
      </p:sp>
      <p:sp>
        <p:nvSpPr>
          <p:cNvPr id="5" name="Text 3"/>
          <p:cNvSpPr/>
          <p:nvPr/>
        </p:nvSpPr>
        <p:spPr>
          <a:xfrm>
            <a:off x="320040" y="292608"/>
            <a:ext cx="502920" cy="411480"/>
          </a:xfrm>
          <a:prstGeom prst="rect">
            <a:avLst/>
          </a:prstGeom>
          <a:noFill/>
          <a:ln/>
        </p:spPr>
        <p:txBody>
          <a:bodyPr wrap="square" rtlCol="0" anchor="ctr"/>
          <a:lstStyle/>
          <a:p>
            <a:pPr marL="0" indent="0" algn="ctr">
              <a:buNone/>
            </a:pPr>
            <a:r>
              <a:rPr lang="en-US" sz="1600" b="1" dirty="0">
                <a:solidFill>
                  <a:srgbClr val="0D1B2E"/>
                </a:solidFill>
              </a:rPr>
              <a:t>06</a:t>
            </a:r>
            <a:endParaRPr lang="en-US" sz="1600" dirty="0"/>
          </a:p>
        </p:txBody>
      </p:sp>
      <p:sp>
        <p:nvSpPr>
          <p:cNvPr id="6" name="Text 4"/>
          <p:cNvSpPr/>
          <p:nvPr/>
        </p:nvSpPr>
        <p:spPr>
          <a:xfrm>
            <a:off x="960120" y="228600"/>
            <a:ext cx="7772400" cy="47548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Bilan &amp; Perspectives</a:t>
            </a:r>
            <a:endParaRPr lang="en-US" sz="2400" dirty="0"/>
          </a:p>
        </p:txBody>
      </p:sp>
      <p:sp>
        <p:nvSpPr>
          <p:cNvPr id="7" name="Text 5"/>
          <p:cNvSpPr/>
          <p:nvPr/>
        </p:nvSpPr>
        <p:spPr>
          <a:xfrm>
            <a:off x="960120" y="685800"/>
            <a:ext cx="7772400" cy="274320"/>
          </a:xfrm>
          <a:prstGeom prst="rect">
            <a:avLst/>
          </a:prstGeom>
          <a:noFill/>
          <a:ln/>
        </p:spPr>
        <p:txBody>
          <a:bodyPr wrap="square" rtlCol="0" anchor="ctr"/>
          <a:lstStyle/>
          <a:p>
            <a:pPr marL="0" indent="0">
              <a:buNone/>
            </a:pPr>
            <a:r>
              <a:rPr lang="en-US" sz="1000" i="1" dirty="0">
                <a:solidFill>
                  <a:srgbClr val="A0B4C8"/>
                </a:solidFill>
              </a:rPr>
              <a:t>Acquis · Améliorations · Évolutions futures</a:t>
            </a:r>
            <a:endParaRPr lang="en-US" sz="1000" dirty="0"/>
          </a:p>
        </p:txBody>
      </p:sp>
      <p:sp>
        <p:nvSpPr>
          <p:cNvPr id="8" name="Shape 6"/>
          <p:cNvSpPr/>
          <p:nvPr/>
        </p:nvSpPr>
        <p:spPr>
          <a:xfrm>
            <a:off x="274320" y="1170432"/>
            <a:ext cx="4206240" cy="3749040"/>
          </a:xfrm>
          <a:prstGeom prst="rect">
            <a:avLst/>
          </a:prstGeom>
          <a:solidFill>
            <a:srgbClr val="FFFFFF"/>
          </a:solidFill>
          <a:ln w="6350">
            <a:solidFill>
              <a:srgbClr val="DDDDDD"/>
            </a:solidFill>
            <a:prstDash val="solid"/>
          </a:ln>
          <a:effectLst>
            <a:outerShdw blurRad="101600" dist="38100" dir="8100000" algn="bl" rotWithShape="0">
              <a:srgbClr val="000000">
                <a:alpha val="18000"/>
              </a:srgbClr>
            </a:outerShdw>
          </a:effectLst>
        </p:spPr>
      </p:sp>
      <p:sp>
        <p:nvSpPr>
          <p:cNvPr id="9" name="Shape 7"/>
          <p:cNvSpPr/>
          <p:nvPr/>
        </p:nvSpPr>
        <p:spPr>
          <a:xfrm>
            <a:off x="274320" y="1170432"/>
            <a:ext cx="4206240" cy="457200"/>
          </a:xfrm>
          <a:prstGeom prst="rect">
            <a:avLst/>
          </a:prstGeom>
          <a:solidFill>
            <a:srgbClr val="2E7D52"/>
          </a:solidFill>
          <a:ln w="12700">
            <a:solidFill>
              <a:srgbClr val="2E7D52"/>
            </a:solidFill>
            <a:prstDash val="solid"/>
          </a:ln>
        </p:spPr>
      </p:sp>
      <p:sp>
        <p:nvSpPr>
          <p:cNvPr id="10" name="Text 8"/>
          <p:cNvSpPr/>
          <p:nvPr/>
        </p:nvSpPr>
        <p:spPr>
          <a:xfrm>
            <a:off x="438912" y="1234440"/>
            <a:ext cx="3840480" cy="320040"/>
          </a:xfrm>
          <a:prstGeom prst="rect">
            <a:avLst/>
          </a:prstGeom>
          <a:noFill/>
          <a:ln/>
        </p:spPr>
        <p:txBody>
          <a:bodyPr wrap="square" rtlCol="0" anchor="ctr"/>
          <a:lstStyle/>
          <a:p>
            <a:pPr marL="0" indent="0">
              <a:buNone/>
            </a:pPr>
            <a:r>
              <a:rPr lang="en-US" sz="1100" b="1" dirty="0">
                <a:solidFill>
                  <a:srgbClr val="FFFFFF"/>
                </a:solidFill>
              </a:rPr>
              <a:t xml:space="preserve"> Compétences Acquises</a:t>
            </a:r>
            <a:endParaRPr lang="en-US" sz="1100" dirty="0"/>
          </a:p>
        </p:txBody>
      </p:sp>
      <p:sp>
        <p:nvSpPr>
          <p:cNvPr id="11" name="Shape 9"/>
          <p:cNvSpPr/>
          <p:nvPr/>
        </p:nvSpPr>
        <p:spPr>
          <a:xfrm>
            <a:off x="365760" y="1719072"/>
            <a:ext cx="54864" cy="201168"/>
          </a:xfrm>
          <a:prstGeom prst="rect">
            <a:avLst/>
          </a:prstGeom>
          <a:solidFill>
            <a:srgbClr val="2E7D52"/>
          </a:solidFill>
          <a:ln w="12700">
            <a:solidFill>
              <a:srgbClr val="2E7D52"/>
            </a:solidFill>
            <a:prstDash val="solid"/>
          </a:ln>
        </p:spPr>
      </p:sp>
      <p:sp>
        <p:nvSpPr>
          <p:cNvPr id="12" name="Text 10"/>
          <p:cNvSpPr/>
          <p:nvPr/>
        </p:nvSpPr>
        <p:spPr>
          <a:xfrm>
            <a:off x="502920" y="1700784"/>
            <a:ext cx="3840480" cy="274320"/>
          </a:xfrm>
          <a:prstGeom prst="rect">
            <a:avLst/>
          </a:prstGeom>
          <a:noFill/>
          <a:ln/>
        </p:spPr>
        <p:txBody>
          <a:bodyPr wrap="square" rtlCol="0" anchor="ctr"/>
          <a:lstStyle/>
          <a:p>
            <a:pPr marL="0" indent="0">
              <a:buNone/>
            </a:pPr>
            <a:r>
              <a:rPr lang="en-US" sz="900" dirty="0">
                <a:solidFill>
                  <a:srgbClr val="0D1B2E"/>
                </a:solidFill>
              </a:rPr>
              <a:t>Architecture full-stack Java / TypeScript</a:t>
            </a:r>
            <a:endParaRPr lang="en-US" sz="900" dirty="0"/>
          </a:p>
        </p:txBody>
      </p:sp>
      <p:sp>
        <p:nvSpPr>
          <p:cNvPr id="13" name="Shape 11"/>
          <p:cNvSpPr/>
          <p:nvPr/>
        </p:nvSpPr>
        <p:spPr>
          <a:xfrm>
            <a:off x="365760" y="2057400"/>
            <a:ext cx="54864" cy="201168"/>
          </a:xfrm>
          <a:prstGeom prst="rect">
            <a:avLst/>
          </a:prstGeom>
          <a:solidFill>
            <a:srgbClr val="2E7D52"/>
          </a:solidFill>
          <a:ln w="12700">
            <a:solidFill>
              <a:srgbClr val="2E7D52"/>
            </a:solidFill>
            <a:prstDash val="solid"/>
          </a:ln>
        </p:spPr>
      </p:sp>
      <p:sp>
        <p:nvSpPr>
          <p:cNvPr id="14" name="Text 12"/>
          <p:cNvSpPr/>
          <p:nvPr/>
        </p:nvSpPr>
        <p:spPr>
          <a:xfrm>
            <a:off x="502920" y="2039112"/>
            <a:ext cx="3840480" cy="274320"/>
          </a:xfrm>
          <a:prstGeom prst="rect">
            <a:avLst/>
          </a:prstGeom>
          <a:noFill/>
          <a:ln/>
        </p:spPr>
        <p:txBody>
          <a:bodyPr wrap="square" rtlCol="0" anchor="ctr"/>
          <a:lstStyle/>
          <a:p>
            <a:pPr marL="0" indent="0">
              <a:buNone/>
            </a:pPr>
            <a:r>
              <a:rPr lang="en-US" sz="900" dirty="0">
                <a:solidFill>
                  <a:srgbClr val="0D1B2E"/>
                </a:solidFill>
              </a:rPr>
              <a:t>Sécurité JWT stateless (Spring Security 6)</a:t>
            </a:r>
            <a:endParaRPr lang="en-US" sz="900" dirty="0"/>
          </a:p>
        </p:txBody>
      </p:sp>
      <p:sp>
        <p:nvSpPr>
          <p:cNvPr id="15" name="Shape 13"/>
          <p:cNvSpPr/>
          <p:nvPr/>
        </p:nvSpPr>
        <p:spPr>
          <a:xfrm>
            <a:off x="365760" y="2395728"/>
            <a:ext cx="54864" cy="201168"/>
          </a:xfrm>
          <a:prstGeom prst="rect">
            <a:avLst/>
          </a:prstGeom>
          <a:solidFill>
            <a:srgbClr val="2E7D52"/>
          </a:solidFill>
          <a:ln w="12700">
            <a:solidFill>
              <a:srgbClr val="2E7D52"/>
            </a:solidFill>
            <a:prstDash val="solid"/>
          </a:ln>
        </p:spPr>
      </p:sp>
      <p:sp>
        <p:nvSpPr>
          <p:cNvPr id="16" name="Text 14"/>
          <p:cNvSpPr/>
          <p:nvPr/>
        </p:nvSpPr>
        <p:spPr>
          <a:xfrm>
            <a:off x="502920" y="2377440"/>
            <a:ext cx="3840480" cy="274320"/>
          </a:xfrm>
          <a:prstGeom prst="rect">
            <a:avLst/>
          </a:prstGeom>
          <a:noFill/>
          <a:ln/>
        </p:spPr>
        <p:txBody>
          <a:bodyPr wrap="square" rtlCol="0" anchor="ctr"/>
          <a:lstStyle/>
          <a:p>
            <a:pPr marL="0" indent="0">
              <a:buNone/>
            </a:pPr>
            <a:r>
              <a:rPr lang="en-US" sz="900" dirty="0">
                <a:solidFill>
                  <a:srgbClr val="0D1B2E"/>
                </a:solidFill>
              </a:rPr>
              <a:t>ORM JPA/Hibernate + requêtes JPQL</a:t>
            </a:r>
            <a:endParaRPr lang="en-US" sz="900" dirty="0"/>
          </a:p>
        </p:txBody>
      </p:sp>
      <p:sp>
        <p:nvSpPr>
          <p:cNvPr id="17" name="Shape 15"/>
          <p:cNvSpPr/>
          <p:nvPr/>
        </p:nvSpPr>
        <p:spPr>
          <a:xfrm>
            <a:off x="365760" y="2734056"/>
            <a:ext cx="54864" cy="201168"/>
          </a:xfrm>
          <a:prstGeom prst="rect">
            <a:avLst/>
          </a:prstGeom>
          <a:solidFill>
            <a:srgbClr val="2E7D52"/>
          </a:solidFill>
          <a:ln w="12700">
            <a:solidFill>
              <a:srgbClr val="2E7D52"/>
            </a:solidFill>
            <a:prstDash val="solid"/>
          </a:ln>
        </p:spPr>
      </p:sp>
      <p:sp>
        <p:nvSpPr>
          <p:cNvPr id="18" name="Text 16"/>
          <p:cNvSpPr/>
          <p:nvPr/>
        </p:nvSpPr>
        <p:spPr>
          <a:xfrm>
            <a:off x="502920" y="2715768"/>
            <a:ext cx="3840480" cy="274320"/>
          </a:xfrm>
          <a:prstGeom prst="rect">
            <a:avLst/>
          </a:prstGeom>
          <a:noFill/>
          <a:ln/>
        </p:spPr>
        <p:txBody>
          <a:bodyPr wrap="square" rtlCol="0" anchor="ctr"/>
          <a:lstStyle/>
          <a:p>
            <a:pPr marL="0" indent="0">
              <a:buNone/>
            </a:pPr>
            <a:r>
              <a:rPr lang="en-US" sz="900" dirty="0">
                <a:solidFill>
                  <a:srgbClr val="0D1B2E"/>
                </a:solidFill>
              </a:rPr>
              <a:t>API REST conforme HTTP + Swagger</a:t>
            </a:r>
            <a:endParaRPr lang="en-US" sz="900" dirty="0"/>
          </a:p>
        </p:txBody>
      </p:sp>
      <p:sp>
        <p:nvSpPr>
          <p:cNvPr id="19" name="Shape 17"/>
          <p:cNvSpPr/>
          <p:nvPr/>
        </p:nvSpPr>
        <p:spPr>
          <a:xfrm>
            <a:off x="365760" y="3072384"/>
            <a:ext cx="54864" cy="201168"/>
          </a:xfrm>
          <a:prstGeom prst="rect">
            <a:avLst/>
          </a:prstGeom>
          <a:solidFill>
            <a:srgbClr val="2E7D52"/>
          </a:solidFill>
          <a:ln w="12700">
            <a:solidFill>
              <a:srgbClr val="2E7D52"/>
            </a:solidFill>
            <a:prstDash val="solid"/>
          </a:ln>
        </p:spPr>
      </p:sp>
      <p:sp>
        <p:nvSpPr>
          <p:cNvPr id="20" name="Text 18"/>
          <p:cNvSpPr/>
          <p:nvPr/>
        </p:nvSpPr>
        <p:spPr>
          <a:xfrm>
            <a:off x="502920" y="3054096"/>
            <a:ext cx="3840480" cy="274320"/>
          </a:xfrm>
          <a:prstGeom prst="rect">
            <a:avLst/>
          </a:prstGeom>
          <a:noFill/>
          <a:ln/>
        </p:spPr>
        <p:txBody>
          <a:bodyPr wrap="square" rtlCol="0" anchor="ctr"/>
          <a:lstStyle/>
          <a:p>
            <a:pPr marL="0" indent="0">
              <a:buNone/>
            </a:pPr>
            <a:r>
              <a:rPr lang="en-US" sz="900" dirty="0">
                <a:solidFill>
                  <a:srgbClr val="0D1B2E"/>
                </a:solidFill>
              </a:rPr>
              <a:t>Gestion d'état Next.js (Zustand persist)</a:t>
            </a:r>
            <a:endParaRPr lang="en-US" sz="900" dirty="0"/>
          </a:p>
        </p:txBody>
      </p:sp>
      <p:sp>
        <p:nvSpPr>
          <p:cNvPr id="21" name="Shape 19"/>
          <p:cNvSpPr/>
          <p:nvPr/>
        </p:nvSpPr>
        <p:spPr>
          <a:xfrm>
            <a:off x="365760" y="3410712"/>
            <a:ext cx="54864" cy="201168"/>
          </a:xfrm>
          <a:prstGeom prst="rect">
            <a:avLst/>
          </a:prstGeom>
          <a:solidFill>
            <a:srgbClr val="2E7D52"/>
          </a:solidFill>
          <a:ln w="12700">
            <a:solidFill>
              <a:srgbClr val="2E7D52"/>
            </a:solidFill>
            <a:prstDash val="solid"/>
          </a:ln>
        </p:spPr>
      </p:sp>
      <p:sp>
        <p:nvSpPr>
          <p:cNvPr id="22" name="Text 20"/>
          <p:cNvSpPr/>
          <p:nvPr/>
        </p:nvSpPr>
        <p:spPr>
          <a:xfrm>
            <a:off x="502920" y="3392424"/>
            <a:ext cx="3840480" cy="274320"/>
          </a:xfrm>
          <a:prstGeom prst="rect">
            <a:avLst/>
          </a:prstGeom>
          <a:noFill/>
          <a:ln/>
        </p:spPr>
        <p:txBody>
          <a:bodyPr wrap="square" rtlCol="0" anchor="ctr"/>
          <a:lstStyle/>
          <a:p>
            <a:pPr marL="0" indent="0">
              <a:buNone/>
            </a:pPr>
            <a:r>
              <a:rPr lang="en-US" sz="900" dirty="0">
                <a:solidFill>
                  <a:srgbClr val="0D1B2E"/>
                </a:solidFill>
              </a:rPr>
              <a:t>Design system CSS (tokens, animations)</a:t>
            </a:r>
            <a:endParaRPr lang="en-US" sz="900" dirty="0"/>
          </a:p>
        </p:txBody>
      </p:sp>
      <p:sp>
        <p:nvSpPr>
          <p:cNvPr id="23" name="Shape 21"/>
          <p:cNvSpPr/>
          <p:nvPr/>
        </p:nvSpPr>
        <p:spPr>
          <a:xfrm>
            <a:off x="365760" y="3749040"/>
            <a:ext cx="54864" cy="201168"/>
          </a:xfrm>
          <a:prstGeom prst="rect">
            <a:avLst/>
          </a:prstGeom>
          <a:solidFill>
            <a:srgbClr val="2E7D52"/>
          </a:solidFill>
          <a:ln w="12700">
            <a:solidFill>
              <a:srgbClr val="2E7D52"/>
            </a:solidFill>
            <a:prstDash val="solid"/>
          </a:ln>
        </p:spPr>
      </p:sp>
      <p:sp>
        <p:nvSpPr>
          <p:cNvPr id="24" name="Text 22"/>
          <p:cNvSpPr/>
          <p:nvPr/>
        </p:nvSpPr>
        <p:spPr>
          <a:xfrm>
            <a:off x="502920" y="3730752"/>
            <a:ext cx="3840480" cy="274320"/>
          </a:xfrm>
          <a:prstGeom prst="rect">
            <a:avLst/>
          </a:prstGeom>
          <a:noFill/>
          <a:ln/>
        </p:spPr>
        <p:txBody>
          <a:bodyPr wrap="square" rtlCol="0" anchor="ctr"/>
          <a:lstStyle/>
          <a:p>
            <a:pPr marL="0" indent="0">
              <a:buNone/>
            </a:pPr>
            <a:r>
              <a:rPr lang="en-US" sz="900" dirty="0">
                <a:solidFill>
                  <a:srgbClr val="0D1B2E"/>
                </a:solidFill>
              </a:rPr>
              <a:t>Gestion de versions Git &amp; organisation projet</a:t>
            </a:r>
            <a:endParaRPr lang="en-US" sz="900" dirty="0"/>
          </a:p>
        </p:txBody>
      </p:sp>
      <p:sp>
        <p:nvSpPr>
          <p:cNvPr id="25" name="Shape 23"/>
          <p:cNvSpPr/>
          <p:nvPr/>
        </p:nvSpPr>
        <p:spPr>
          <a:xfrm>
            <a:off x="4663440" y="1170432"/>
            <a:ext cx="4206240" cy="3749040"/>
          </a:xfrm>
          <a:prstGeom prst="rect">
            <a:avLst/>
          </a:prstGeom>
          <a:solidFill>
            <a:srgbClr val="FFFFFF"/>
          </a:solidFill>
          <a:ln w="6350">
            <a:solidFill>
              <a:srgbClr val="DDDDDD"/>
            </a:solidFill>
            <a:prstDash val="solid"/>
          </a:ln>
          <a:effectLst>
            <a:outerShdw blurRad="101600" dist="38100" dir="8100000" algn="bl" rotWithShape="0">
              <a:srgbClr val="000000">
                <a:alpha val="18000"/>
              </a:srgbClr>
            </a:outerShdw>
          </a:effectLst>
        </p:spPr>
      </p:sp>
      <p:sp>
        <p:nvSpPr>
          <p:cNvPr id="26" name="Shape 24"/>
          <p:cNvSpPr/>
          <p:nvPr/>
        </p:nvSpPr>
        <p:spPr>
          <a:xfrm>
            <a:off x="4663440" y="1170432"/>
            <a:ext cx="4206240" cy="457200"/>
          </a:xfrm>
          <a:prstGeom prst="rect">
            <a:avLst/>
          </a:prstGeom>
          <a:solidFill>
            <a:srgbClr val="1565C0"/>
          </a:solidFill>
          <a:ln w="12700">
            <a:solidFill>
              <a:srgbClr val="1565C0"/>
            </a:solidFill>
            <a:prstDash val="solid"/>
          </a:ln>
        </p:spPr>
      </p:sp>
      <p:sp>
        <p:nvSpPr>
          <p:cNvPr id="27" name="Text 25"/>
          <p:cNvSpPr/>
          <p:nvPr/>
        </p:nvSpPr>
        <p:spPr>
          <a:xfrm>
            <a:off x="4828032" y="1234440"/>
            <a:ext cx="3840480" cy="320040"/>
          </a:xfrm>
          <a:prstGeom prst="rect">
            <a:avLst/>
          </a:prstGeom>
          <a:noFill/>
          <a:ln/>
        </p:spPr>
        <p:txBody>
          <a:bodyPr wrap="square" rtlCol="0" anchor="ctr"/>
          <a:lstStyle/>
          <a:p>
            <a:pPr marL="0" indent="0">
              <a:buNone/>
            </a:pPr>
            <a:r>
              <a:rPr lang="en-US" sz="1100" b="1" dirty="0">
                <a:solidFill>
                  <a:srgbClr val="FFFFFF"/>
                </a:solidFill>
              </a:rPr>
              <a:t xml:space="preserve">  Améliorations &amp; Évolutions</a:t>
            </a:r>
            <a:endParaRPr lang="en-US" sz="1100" dirty="0"/>
          </a:p>
        </p:txBody>
      </p:sp>
      <p:sp>
        <p:nvSpPr>
          <p:cNvPr id="28" name="Shape 26"/>
          <p:cNvSpPr/>
          <p:nvPr/>
        </p:nvSpPr>
        <p:spPr>
          <a:xfrm>
            <a:off x="4754880" y="1737360"/>
            <a:ext cx="3977640" cy="274320"/>
          </a:xfrm>
          <a:prstGeom prst="rect">
            <a:avLst/>
          </a:prstGeom>
          <a:solidFill>
            <a:srgbClr val="D97706">
              <a:alpha val="12000"/>
            </a:srgbClr>
          </a:solidFill>
          <a:ln w="6350">
            <a:solidFill>
              <a:srgbClr val="D97706">
                <a:alpha val="40000"/>
              </a:srgbClr>
            </a:solidFill>
            <a:prstDash val="solid"/>
          </a:ln>
        </p:spPr>
      </p:sp>
      <p:sp>
        <p:nvSpPr>
          <p:cNvPr id="29" name="Shape 27"/>
          <p:cNvSpPr/>
          <p:nvPr/>
        </p:nvSpPr>
        <p:spPr>
          <a:xfrm>
            <a:off x="4754880" y="1737360"/>
            <a:ext cx="45720" cy="274320"/>
          </a:xfrm>
          <a:prstGeom prst="rect">
            <a:avLst/>
          </a:prstGeom>
          <a:solidFill>
            <a:srgbClr val="D97706"/>
          </a:solidFill>
          <a:ln w="12700">
            <a:solidFill>
              <a:srgbClr val="D97706"/>
            </a:solidFill>
            <a:prstDash val="solid"/>
          </a:ln>
        </p:spPr>
      </p:sp>
      <p:sp>
        <p:nvSpPr>
          <p:cNvPr id="30" name="Text 28"/>
          <p:cNvSpPr/>
          <p:nvPr/>
        </p:nvSpPr>
        <p:spPr>
          <a:xfrm>
            <a:off x="4864608" y="1764792"/>
            <a:ext cx="1554480" cy="201168"/>
          </a:xfrm>
          <a:prstGeom prst="rect">
            <a:avLst/>
          </a:prstGeom>
          <a:noFill/>
          <a:ln/>
        </p:spPr>
        <p:txBody>
          <a:bodyPr wrap="square" rtlCol="0" anchor="ctr"/>
          <a:lstStyle/>
          <a:p>
            <a:pPr marL="0" indent="0">
              <a:buNone/>
            </a:pPr>
            <a:r>
              <a:rPr lang="en-US" sz="850" b="1" dirty="0">
                <a:solidFill>
                  <a:srgbClr val="0D1B2E"/>
                </a:solidFill>
              </a:rPr>
              <a:t>Paiement en ligne</a:t>
            </a:r>
            <a:endParaRPr lang="en-US" sz="850" dirty="0"/>
          </a:p>
        </p:txBody>
      </p:sp>
      <p:sp>
        <p:nvSpPr>
          <p:cNvPr id="31" name="Text 29"/>
          <p:cNvSpPr/>
          <p:nvPr/>
        </p:nvSpPr>
        <p:spPr>
          <a:xfrm>
            <a:off x="6446520" y="1764792"/>
            <a:ext cx="2194560" cy="201168"/>
          </a:xfrm>
          <a:prstGeom prst="rect">
            <a:avLst/>
          </a:prstGeom>
          <a:noFill/>
          <a:ln/>
        </p:spPr>
        <p:txBody>
          <a:bodyPr wrap="square" rtlCol="0" anchor="ctr"/>
          <a:lstStyle/>
          <a:p>
            <a:pPr marL="0" indent="0">
              <a:buNone/>
            </a:pPr>
            <a:r>
              <a:rPr lang="en-US" sz="800" dirty="0">
                <a:solidFill>
                  <a:srgbClr val="4A6080"/>
                </a:solidFill>
              </a:rPr>
              <a:t>Intégration Stripe / Konnect</a:t>
            </a:r>
            <a:endParaRPr lang="en-US" sz="800" dirty="0"/>
          </a:p>
        </p:txBody>
      </p:sp>
      <p:sp>
        <p:nvSpPr>
          <p:cNvPr id="32" name="Shape 30"/>
          <p:cNvSpPr/>
          <p:nvPr/>
        </p:nvSpPr>
        <p:spPr>
          <a:xfrm>
            <a:off x="4754880" y="2084832"/>
            <a:ext cx="3977640" cy="274320"/>
          </a:xfrm>
          <a:prstGeom prst="rect">
            <a:avLst/>
          </a:prstGeom>
          <a:solidFill>
            <a:srgbClr val="5B3F8C">
              <a:alpha val="12000"/>
            </a:srgbClr>
          </a:solidFill>
          <a:ln w="6350">
            <a:solidFill>
              <a:srgbClr val="5B3F8C">
                <a:alpha val="40000"/>
              </a:srgbClr>
            </a:solidFill>
            <a:prstDash val="solid"/>
          </a:ln>
        </p:spPr>
      </p:sp>
      <p:sp>
        <p:nvSpPr>
          <p:cNvPr id="33" name="Shape 31"/>
          <p:cNvSpPr/>
          <p:nvPr/>
        </p:nvSpPr>
        <p:spPr>
          <a:xfrm>
            <a:off x="4754880" y="2084832"/>
            <a:ext cx="45720" cy="274320"/>
          </a:xfrm>
          <a:prstGeom prst="rect">
            <a:avLst/>
          </a:prstGeom>
          <a:solidFill>
            <a:srgbClr val="5B3F8C"/>
          </a:solidFill>
          <a:ln w="12700">
            <a:solidFill>
              <a:srgbClr val="5B3F8C"/>
            </a:solidFill>
            <a:prstDash val="solid"/>
          </a:ln>
        </p:spPr>
      </p:sp>
      <p:sp>
        <p:nvSpPr>
          <p:cNvPr id="34" name="Text 32"/>
          <p:cNvSpPr/>
          <p:nvPr/>
        </p:nvSpPr>
        <p:spPr>
          <a:xfrm>
            <a:off x="4864608" y="2112264"/>
            <a:ext cx="1554480" cy="201168"/>
          </a:xfrm>
          <a:prstGeom prst="rect">
            <a:avLst/>
          </a:prstGeom>
          <a:noFill/>
          <a:ln/>
        </p:spPr>
        <p:txBody>
          <a:bodyPr wrap="square" rtlCol="0" anchor="ctr"/>
          <a:lstStyle/>
          <a:p>
            <a:pPr marL="0" indent="0">
              <a:buNone/>
            </a:pPr>
            <a:r>
              <a:rPr lang="en-US" sz="850" b="1" dirty="0">
                <a:solidFill>
                  <a:srgbClr val="0D1B2E"/>
                </a:solidFill>
              </a:rPr>
              <a:t>Recherche avancée</a:t>
            </a:r>
            <a:endParaRPr lang="en-US" sz="850" dirty="0"/>
          </a:p>
        </p:txBody>
      </p:sp>
      <p:sp>
        <p:nvSpPr>
          <p:cNvPr id="35" name="Text 33"/>
          <p:cNvSpPr/>
          <p:nvPr/>
        </p:nvSpPr>
        <p:spPr>
          <a:xfrm>
            <a:off x="6446520" y="2112264"/>
            <a:ext cx="2194560" cy="201168"/>
          </a:xfrm>
          <a:prstGeom prst="rect">
            <a:avLst/>
          </a:prstGeom>
          <a:noFill/>
          <a:ln/>
        </p:spPr>
        <p:txBody>
          <a:bodyPr wrap="square" rtlCol="0" anchor="ctr"/>
          <a:lstStyle/>
          <a:p>
            <a:pPr marL="0" indent="0">
              <a:buNone/>
            </a:pPr>
            <a:r>
              <a:rPr lang="en-US" sz="800" dirty="0">
                <a:solidFill>
                  <a:srgbClr val="4A6080"/>
                </a:solidFill>
              </a:rPr>
              <a:t>Elasticsearch + facettes</a:t>
            </a:r>
            <a:endParaRPr lang="en-US" sz="800" dirty="0"/>
          </a:p>
        </p:txBody>
      </p:sp>
      <p:sp>
        <p:nvSpPr>
          <p:cNvPr id="36" name="Shape 34"/>
          <p:cNvSpPr/>
          <p:nvPr/>
        </p:nvSpPr>
        <p:spPr>
          <a:xfrm>
            <a:off x="4754880" y="2432304"/>
            <a:ext cx="3977640" cy="274320"/>
          </a:xfrm>
          <a:prstGeom prst="rect">
            <a:avLst/>
          </a:prstGeom>
          <a:solidFill>
            <a:srgbClr val="1565C0">
              <a:alpha val="12000"/>
            </a:srgbClr>
          </a:solidFill>
          <a:ln w="6350">
            <a:solidFill>
              <a:srgbClr val="1565C0">
                <a:alpha val="40000"/>
              </a:srgbClr>
            </a:solidFill>
            <a:prstDash val="solid"/>
          </a:ln>
        </p:spPr>
      </p:sp>
      <p:sp>
        <p:nvSpPr>
          <p:cNvPr id="37" name="Shape 35"/>
          <p:cNvSpPr/>
          <p:nvPr/>
        </p:nvSpPr>
        <p:spPr>
          <a:xfrm>
            <a:off x="4754880" y="2432304"/>
            <a:ext cx="45720" cy="274320"/>
          </a:xfrm>
          <a:prstGeom prst="rect">
            <a:avLst/>
          </a:prstGeom>
          <a:solidFill>
            <a:srgbClr val="1565C0"/>
          </a:solidFill>
          <a:ln w="12700">
            <a:solidFill>
              <a:srgbClr val="1565C0"/>
            </a:solidFill>
            <a:prstDash val="solid"/>
          </a:ln>
        </p:spPr>
      </p:sp>
      <p:sp>
        <p:nvSpPr>
          <p:cNvPr id="38" name="Text 36"/>
          <p:cNvSpPr/>
          <p:nvPr/>
        </p:nvSpPr>
        <p:spPr>
          <a:xfrm>
            <a:off x="4864608" y="2459736"/>
            <a:ext cx="1554480" cy="201168"/>
          </a:xfrm>
          <a:prstGeom prst="rect">
            <a:avLst/>
          </a:prstGeom>
          <a:noFill/>
          <a:ln/>
        </p:spPr>
        <p:txBody>
          <a:bodyPr wrap="square" rtlCol="0" anchor="ctr"/>
          <a:lstStyle/>
          <a:p>
            <a:pPr marL="0" indent="0">
              <a:buNone/>
            </a:pPr>
            <a:r>
              <a:rPr lang="en-US" sz="850" b="1" dirty="0">
                <a:solidFill>
                  <a:srgbClr val="0D1B2E"/>
                </a:solidFill>
              </a:rPr>
              <a:t>Notifications temps réel</a:t>
            </a:r>
            <a:endParaRPr lang="en-US" sz="850" dirty="0"/>
          </a:p>
        </p:txBody>
      </p:sp>
      <p:sp>
        <p:nvSpPr>
          <p:cNvPr id="39" name="Text 37"/>
          <p:cNvSpPr/>
          <p:nvPr/>
        </p:nvSpPr>
        <p:spPr>
          <a:xfrm>
            <a:off x="6446520" y="2459736"/>
            <a:ext cx="2194560" cy="201168"/>
          </a:xfrm>
          <a:prstGeom prst="rect">
            <a:avLst/>
          </a:prstGeom>
          <a:noFill/>
          <a:ln/>
        </p:spPr>
        <p:txBody>
          <a:bodyPr wrap="square" rtlCol="0" anchor="ctr"/>
          <a:lstStyle/>
          <a:p>
            <a:pPr marL="0" indent="0">
              <a:buNone/>
            </a:pPr>
            <a:r>
              <a:rPr lang="en-US" sz="800" dirty="0">
                <a:solidFill>
                  <a:srgbClr val="4A6080"/>
                </a:solidFill>
              </a:rPr>
              <a:t>WebSocket (STOMP)</a:t>
            </a:r>
            <a:endParaRPr lang="en-US" sz="800" dirty="0"/>
          </a:p>
        </p:txBody>
      </p:sp>
      <p:sp>
        <p:nvSpPr>
          <p:cNvPr id="40" name="Shape 38"/>
          <p:cNvSpPr/>
          <p:nvPr/>
        </p:nvSpPr>
        <p:spPr>
          <a:xfrm>
            <a:off x="4754880" y="2779776"/>
            <a:ext cx="3977640" cy="274320"/>
          </a:xfrm>
          <a:prstGeom prst="rect">
            <a:avLst/>
          </a:prstGeom>
          <a:solidFill>
            <a:srgbClr val="C0392B">
              <a:alpha val="12000"/>
            </a:srgbClr>
          </a:solidFill>
          <a:ln w="6350">
            <a:solidFill>
              <a:srgbClr val="C0392B">
                <a:alpha val="40000"/>
              </a:srgbClr>
            </a:solidFill>
            <a:prstDash val="solid"/>
          </a:ln>
        </p:spPr>
      </p:sp>
      <p:sp>
        <p:nvSpPr>
          <p:cNvPr id="41" name="Shape 39"/>
          <p:cNvSpPr/>
          <p:nvPr/>
        </p:nvSpPr>
        <p:spPr>
          <a:xfrm>
            <a:off x="4754880" y="2779776"/>
            <a:ext cx="45720" cy="274320"/>
          </a:xfrm>
          <a:prstGeom prst="rect">
            <a:avLst/>
          </a:prstGeom>
          <a:solidFill>
            <a:srgbClr val="C0392B"/>
          </a:solidFill>
          <a:ln w="12700">
            <a:solidFill>
              <a:srgbClr val="C0392B"/>
            </a:solidFill>
            <a:prstDash val="solid"/>
          </a:ln>
        </p:spPr>
      </p:sp>
      <p:sp>
        <p:nvSpPr>
          <p:cNvPr id="42" name="Text 40"/>
          <p:cNvSpPr/>
          <p:nvPr/>
        </p:nvSpPr>
        <p:spPr>
          <a:xfrm>
            <a:off x="4864608" y="2807208"/>
            <a:ext cx="1554480" cy="201168"/>
          </a:xfrm>
          <a:prstGeom prst="rect">
            <a:avLst/>
          </a:prstGeom>
          <a:noFill/>
          <a:ln/>
        </p:spPr>
        <p:txBody>
          <a:bodyPr wrap="square" rtlCol="0" anchor="ctr"/>
          <a:lstStyle/>
          <a:p>
            <a:pPr marL="0" indent="0">
              <a:buNone/>
            </a:pPr>
            <a:r>
              <a:rPr lang="en-US" sz="850" b="1" dirty="0">
                <a:solidFill>
                  <a:srgbClr val="0D1B2E"/>
                </a:solidFill>
              </a:rPr>
              <a:t>Cache Redis</a:t>
            </a:r>
            <a:endParaRPr lang="en-US" sz="850" dirty="0"/>
          </a:p>
        </p:txBody>
      </p:sp>
      <p:sp>
        <p:nvSpPr>
          <p:cNvPr id="43" name="Text 41"/>
          <p:cNvSpPr/>
          <p:nvPr/>
        </p:nvSpPr>
        <p:spPr>
          <a:xfrm>
            <a:off x="6446520" y="2807208"/>
            <a:ext cx="2194560" cy="201168"/>
          </a:xfrm>
          <a:prstGeom prst="rect">
            <a:avLst/>
          </a:prstGeom>
          <a:noFill/>
          <a:ln/>
        </p:spPr>
        <p:txBody>
          <a:bodyPr wrap="square" rtlCol="0" anchor="ctr"/>
          <a:lstStyle/>
          <a:p>
            <a:pPr marL="0" indent="0">
              <a:buNone/>
            </a:pPr>
            <a:r>
              <a:rPr lang="en-US" sz="800" dirty="0">
                <a:solidFill>
                  <a:srgbClr val="4A6080"/>
                </a:solidFill>
              </a:rPr>
              <a:t>Produits populaires + sessions</a:t>
            </a:r>
            <a:endParaRPr lang="en-US" sz="800" dirty="0"/>
          </a:p>
        </p:txBody>
      </p:sp>
      <p:sp>
        <p:nvSpPr>
          <p:cNvPr id="44" name="Shape 42"/>
          <p:cNvSpPr/>
          <p:nvPr/>
        </p:nvSpPr>
        <p:spPr>
          <a:xfrm>
            <a:off x="4754880" y="3127248"/>
            <a:ext cx="3977640" cy="274320"/>
          </a:xfrm>
          <a:prstGeom prst="rect">
            <a:avLst/>
          </a:prstGeom>
          <a:solidFill>
            <a:srgbClr val="2E7D52">
              <a:alpha val="12000"/>
            </a:srgbClr>
          </a:solidFill>
          <a:ln w="6350">
            <a:solidFill>
              <a:srgbClr val="2E7D52">
                <a:alpha val="40000"/>
              </a:srgbClr>
            </a:solidFill>
            <a:prstDash val="solid"/>
          </a:ln>
        </p:spPr>
      </p:sp>
      <p:sp>
        <p:nvSpPr>
          <p:cNvPr id="45" name="Shape 43"/>
          <p:cNvSpPr/>
          <p:nvPr/>
        </p:nvSpPr>
        <p:spPr>
          <a:xfrm>
            <a:off x="4754880" y="3127248"/>
            <a:ext cx="45720" cy="274320"/>
          </a:xfrm>
          <a:prstGeom prst="rect">
            <a:avLst/>
          </a:prstGeom>
          <a:solidFill>
            <a:srgbClr val="2E7D52"/>
          </a:solidFill>
          <a:ln w="12700">
            <a:solidFill>
              <a:srgbClr val="2E7D52"/>
            </a:solidFill>
            <a:prstDash val="solid"/>
          </a:ln>
        </p:spPr>
      </p:sp>
      <p:sp>
        <p:nvSpPr>
          <p:cNvPr id="46" name="Text 44"/>
          <p:cNvSpPr/>
          <p:nvPr/>
        </p:nvSpPr>
        <p:spPr>
          <a:xfrm>
            <a:off x="4864608" y="3154680"/>
            <a:ext cx="1554480" cy="201168"/>
          </a:xfrm>
          <a:prstGeom prst="rect">
            <a:avLst/>
          </a:prstGeom>
          <a:noFill/>
          <a:ln/>
        </p:spPr>
        <p:txBody>
          <a:bodyPr wrap="square" rtlCol="0" anchor="ctr"/>
          <a:lstStyle/>
          <a:p>
            <a:pPr marL="0" indent="0">
              <a:buNone/>
            </a:pPr>
            <a:r>
              <a:rPr lang="en-US" sz="850" b="1" dirty="0">
                <a:solidFill>
                  <a:srgbClr val="0D1B2E"/>
                </a:solidFill>
              </a:rPr>
              <a:t>Tests automatisés</a:t>
            </a:r>
            <a:endParaRPr lang="en-US" sz="850" dirty="0"/>
          </a:p>
        </p:txBody>
      </p:sp>
      <p:sp>
        <p:nvSpPr>
          <p:cNvPr id="47" name="Text 45"/>
          <p:cNvSpPr/>
          <p:nvPr/>
        </p:nvSpPr>
        <p:spPr>
          <a:xfrm>
            <a:off x="6446520" y="3154680"/>
            <a:ext cx="2194560" cy="201168"/>
          </a:xfrm>
          <a:prstGeom prst="rect">
            <a:avLst/>
          </a:prstGeom>
          <a:noFill/>
          <a:ln/>
        </p:spPr>
        <p:txBody>
          <a:bodyPr wrap="square" rtlCol="0" anchor="ctr"/>
          <a:lstStyle/>
          <a:p>
            <a:pPr marL="0" indent="0">
              <a:buNone/>
            </a:pPr>
            <a:r>
              <a:rPr lang="en-US" sz="800" dirty="0">
                <a:solidFill>
                  <a:srgbClr val="4A6080"/>
                </a:solidFill>
              </a:rPr>
              <a:t>JUnit 5, Mockito, Testcontainers</a:t>
            </a:r>
            <a:endParaRPr lang="en-US" sz="800" dirty="0"/>
          </a:p>
        </p:txBody>
      </p:sp>
      <p:sp>
        <p:nvSpPr>
          <p:cNvPr id="48" name="Shape 46"/>
          <p:cNvSpPr/>
          <p:nvPr/>
        </p:nvSpPr>
        <p:spPr>
          <a:xfrm>
            <a:off x="4754880" y="3474720"/>
            <a:ext cx="3977640" cy="274320"/>
          </a:xfrm>
          <a:prstGeom prst="rect">
            <a:avLst/>
          </a:prstGeom>
          <a:solidFill>
            <a:srgbClr val="4A6080">
              <a:alpha val="12000"/>
            </a:srgbClr>
          </a:solidFill>
          <a:ln w="6350">
            <a:solidFill>
              <a:srgbClr val="4A6080">
                <a:alpha val="40000"/>
              </a:srgbClr>
            </a:solidFill>
            <a:prstDash val="solid"/>
          </a:ln>
        </p:spPr>
      </p:sp>
      <p:sp>
        <p:nvSpPr>
          <p:cNvPr id="49" name="Shape 47"/>
          <p:cNvSpPr/>
          <p:nvPr/>
        </p:nvSpPr>
        <p:spPr>
          <a:xfrm>
            <a:off x="4754880" y="3474720"/>
            <a:ext cx="45720" cy="274320"/>
          </a:xfrm>
          <a:prstGeom prst="rect">
            <a:avLst/>
          </a:prstGeom>
          <a:solidFill>
            <a:srgbClr val="4A6080"/>
          </a:solidFill>
          <a:ln w="12700">
            <a:solidFill>
              <a:srgbClr val="4A6080"/>
            </a:solidFill>
            <a:prstDash val="solid"/>
          </a:ln>
        </p:spPr>
      </p:sp>
      <p:sp>
        <p:nvSpPr>
          <p:cNvPr id="50" name="Text 48"/>
          <p:cNvSpPr/>
          <p:nvPr/>
        </p:nvSpPr>
        <p:spPr>
          <a:xfrm>
            <a:off x="4864608" y="3502152"/>
            <a:ext cx="1554480" cy="201168"/>
          </a:xfrm>
          <a:prstGeom prst="rect">
            <a:avLst/>
          </a:prstGeom>
          <a:noFill/>
          <a:ln/>
        </p:spPr>
        <p:txBody>
          <a:bodyPr wrap="square" rtlCol="0" anchor="ctr"/>
          <a:lstStyle/>
          <a:p>
            <a:pPr marL="0" indent="0">
              <a:buNone/>
            </a:pPr>
            <a:r>
              <a:rPr lang="en-US" sz="850" b="1" dirty="0">
                <a:solidFill>
                  <a:srgbClr val="0D1B2E"/>
                </a:solidFill>
              </a:rPr>
              <a:t>CI/CD</a:t>
            </a:r>
            <a:endParaRPr lang="en-US" sz="850" dirty="0"/>
          </a:p>
        </p:txBody>
      </p:sp>
      <p:sp>
        <p:nvSpPr>
          <p:cNvPr id="51" name="Text 49"/>
          <p:cNvSpPr/>
          <p:nvPr/>
        </p:nvSpPr>
        <p:spPr>
          <a:xfrm>
            <a:off x="6446520" y="3502152"/>
            <a:ext cx="2194560" cy="201168"/>
          </a:xfrm>
          <a:prstGeom prst="rect">
            <a:avLst/>
          </a:prstGeom>
          <a:noFill/>
          <a:ln/>
        </p:spPr>
        <p:txBody>
          <a:bodyPr wrap="square" rtlCol="0" anchor="ctr"/>
          <a:lstStyle/>
          <a:p>
            <a:pPr marL="0" indent="0">
              <a:buNone/>
            </a:pPr>
            <a:r>
              <a:rPr lang="en-US" sz="800" dirty="0">
                <a:solidFill>
                  <a:srgbClr val="4A6080"/>
                </a:solidFill>
              </a:rPr>
              <a:t>GitHub Actions + Docker + SonarQube</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4A34B"/>
          </a:solidFill>
          <a:ln w="12700">
            <a:solidFill>
              <a:srgbClr val="C4A34B"/>
            </a:solidFill>
            <a:prstDash val="solid"/>
          </a:ln>
        </p:spPr>
      </p:sp>
      <p:sp>
        <p:nvSpPr>
          <p:cNvPr id="3" name="Shape 1"/>
          <p:cNvSpPr/>
          <p:nvPr/>
        </p:nvSpPr>
        <p:spPr>
          <a:xfrm>
            <a:off x="7589520" y="0"/>
            <a:ext cx="1554480" cy="5143500"/>
          </a:xfrm>
          <a:prstGeom prst="rect">
            <a:avLst/>
          </a:prstGeom>
          <a:solidFill>
            <a:srgbClr val="C4A34B"/>
          </a:solidFill>
          <a:ln w="12700">
            <a:solidFill>
              <a:srgbClr val="C4A34B"/>
            </a:solidFill>
            <a:prstDash val="solid"/>
          </a:ln>
        </p:spPr>
      </p:sp>
      <p:sp>
        <p:nvSpPr>
          <p:cNvPr id="4" name="Shape 2"/>
          <p:cNvSpPr/>
          <p:nvPr/>
        </p:nvSpPr>
        <p:spPr>
          <a:xfrm>
            <a:off x="7589520" y="0"/>
            <a:ext cx="1554480" cy="5143500"/>
          </a:xfrm>
          <a:prstGeom prst="rect">
            <a:avLst/>
          </a:prstGeom>
          <a:solidFill>
            <a:srgbClr val="1E3A5F">
              <a:alpha val="80000"/>
            </a:srgbClr>
          </a:solidFill>
          <a:ln w="12700">
            <a:solidFill>
              <a:srgbClr val="1E3A5F"/>
            </a:solidFill>
            <a:prstDash val="solid"/>
          </a:ln>
        </p:spPr>
      </p:sp>
      <p:sp>
        <p:nvSpPr>
          <p:cNvPr id="5" name="Text 3"/>
          <p:cNvSpPr/>
          <p:nvPr/>
        </p:nvSpPr>
        <p:spPr>
          <a:xfrm>
            <a:off x="457200" y="1188720"/>
            <a:ext cx="6949440" cy="640080"/>
          </a:xfrm>
          <a:prstGeom prst="rect">
            <a:avLst/>
          </a:prstGeom>
          <a:noFill/>
          <a:ln/>
        </p:spPr>
        <p:txBody>
          <a:bodyPr wrap="square" rtlCol="0" anchor="ctr"/>
          <a:lstStyle/>
          <a:p>
            <a:pPr marL="0" indent="0" algn="ctr">
              <a:buNone/>
            </a:pPr>
            <a:r>
              <a:rPr lang="en-US" sz="3600" dirty="0">
                <a:solidFill>
                  <a:srgbClr val="A0B4C8"/>
                </a:solidFill>
                <a:latin typeface="Calibri" pitchFamily="34" charset="0"/>
                <a:ea typeface="Calibri" pitchFamily="34" charset="-122"/>
                <a:cs typeface="Calibri" pitchFamily="34" charset="-120"/>
              </a:rPr>
              <a:t>Merci pour</a:t>
            </a:r>
            <a:endParaRPr lang="en-US" sz="3600" dirty="0"/>
          </a:p>
        </p:txBody>
      </p:sp>
      <p:sp>
        <p:nvSpPr>
          <p:cNvPr id="6" name="Text 4"/>
          <p:cNvSpPr/>
          <p:nvPr/>
        </p:nvSpPr>
        <p:spPr>
          <a:xfrm>
            <a:off x="457200" y="1783080"/>
            <a:ext cx="6949440" cy="822960"/>
          </a:xfrm>
          <a:prstGeom prst="rect">
            <a:avLst/>
          </a:prstGeom>
          <a:noFill/>
          <a:ln/>
        </p:spPr>
        <p:txBody>
          <a:bodyPr wrap="square"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votre attention</a:t>
            </a:r>
            <a:endParaRPr lang="en-US" sz="5200" dirty="0"/>
          </a:p>
        </p:txBody>
      </p:sp>
      <p:sp>
        <p:nvSpPr>
          <p:cNvPr id="7" name="Shape 5"/>
          <p:cNvSpPr/>
          <p:nvPr/>
        </p:nvSpPr>
        <p:spPr>
          <a:xfrm>
            <a:off x="2286000" y="2697480"/>
            <a:ext cx="4114800" cy="45720"/>
          </a:xfrm>
          <a:prstGeom prst="rect">
            <a:avLst/>
          </a:prstGeom>
          <a:solidFill>
            <a:srgbClr val="C4A34B"/>
          </a:solidFill>
          <a:ln w="12700">
            <a:solidFill>
              <a:srgbClr val="C4A34B"/>
            </a:solidFill>
            <a:prstDash val="solid"/>
          </a:ln>
        </p:spPr>
      </p:sp>
      <p:sp>
        <p:nvSpPr>
          <p:cNvPr id="8" name="Text 6"/>
          <p:cNvSpPr/>
          <p:nvPr/>
        </p:nvSpPr>
        <p:spPr>
          <a:xfrm>
            <a:off x="457200" y="2834640"/>
            <a:ext cx="6949440" cy="548640"/>
          </a:xfrm>
          <a:prstGeom prst="rect">
            <a:avLst/>
          </a:prstGeom>
          <a:noFill/>
          <a:ln/>
        </p:spPr>
        <p:txBody>
          <a:bodyPr wrap="square" rtlCol="0" anchor="ctr"/>
          <a:lstStyle/>
          <a:p>
            <a:pPr marL="0" indent="0" algn="ctr">
              <a:buNone/>
            </a:pPr>
            <a:r>
              <a:rPr lang="en-US" sz="2800" i="1" dirty="0">
                <a:solidFill>
                  <a:srgbClr val="C4A34B"/>
                </a:solidFill>
                <a:latin typeface="Calibri" pitchFamily="34" charset="0"/>
                <a:ea typeface="Calibri" pitchFamily="34" charset="-122"/>
                <a:cs typeface="Calibri" pitchFamily="34" charset="-120"/>
              </a:rPr>
              <a:t>Questions ?</a:t>
            </a:r>
            <a:endParaRPr lang="en-US" sz="2800" dirty="0"/>
          </a:p>
        </p:txBody>
      </p:sp>
      <p:sp>
        <p:nvSpPr>
          <p:cNvPr id="9" name="Text 7"/>
          <p:cNvSpPr/>
          <p:nvPr/>
        </p:nvSpPr>
        <p:spPr>
          <a:xfrm>
            <a:off x="457200" y="3520440"/>
            <a:ext cx="6949440" cy="320040"/>
          </a:xfrm>
          <a:prstGeom prst="rect">
            <a:avLst/>
          </a:prstGeom>
          <a:noFill/>
          <a:ln/>
        </p:spPr>
        <p:txBody>
          <a:bodyPr wrap="square" rtlCol="0" anchor="ctr"/>
          <a:lstStyle/>
          <a:p>
            <a:pPr marL="0" indent="0" algn="ctr">
              <a:buNone/>
            </a:pPr>
            <a:r>
              <a:rPr lang="en-US" sz="1100" dirty="0">
                <a:solidFill>
                  <a:srgbClr val="A0B4C8"/>
                </a:solidFill>
              </a:rPr>
              <a:t>ShopFlow — Système de Gestion d'une Boutique en Ligne</a:t>
            </a:r>
            <a:endParaRPr lang="en-US" sz="1100" dirty="0"/>
          </a:p>
        </p:txBody>
      </p:sp>
      <p:sp>
        <p:nvSpPr>
          <p:cNvPr id="10" name="Text 8"/>
          <p:cNvSpPr/>
          <p:nvPr/>
        </p:nvSpPr>
        <p:spPr>
          <a:xfrm>
            <a:off x="457200" y="3886200"/>
            <a:ext cx="6949440" cy="274320"/>
          </a:xfrm>
          <a:prstGeom prst="rect">
            <a:avLst/>
          </a:prstGeom>
          <a:noFill/>
          <a:ln/>
        </p:spPr>
        <p:txBody>
          <a:bodyPr wrap="square" rtlCol="0" anchor="ctr"/>
          <a:lstStyle/>
          <a:p>
            <a:pPr marL="0" indent="0" algn="ctr">
              <a:buNone/>
            </a:pPr>
            <a:r>
              <a:rPr lang="en-US" sz="1100" dirty="0">
                <a:solidFill>
                  <a:srgbClr val="C4A34B"/>
                </a:solidFill>
              </a:rPr>
              <a:t>Ibtihel Gritli  ·  Zayneb Ben Aicha</a:t>
            </a:r>
            <a:endParaRPr lang="en-US" sz="1100" dirty="0"/>
          </a:p>
        </p:txBody>
      </p:sp>
      <p:sp>
        <p:nvSpPr>
          <p:cNvPr id="11" name="Text 9"/>
          <p:cNvSpPr/>
          <p:nvPr/>
        </p:nvSpPr>
        <p:spPr>
          <a:xfrm>
            <a:off x="457200" y="4251960"/>
            <a:ext cx="6949440" cy="274320"/>
          </a:xfrm>
          <a:prstGeom prst="rect">
            <a:avLst/>
          </a:prstGeom>
          <a:noFill/>
          <a:ln/>
        </p:spPr>
        <p:txBody>
          <a:bodyPr wrap="square" rtlCol="0" anchor="ctr"/>
          <a:lstStyle/>
          <a:p>
            <a:pPr marL="0" indent="0" algn="ctr">
              <a:buNone/>
            </a:pPr>
            <a:r>
              <a:rPr lang="en-US" sz="900" dirty="0">
                <a:solidFill>
                  <a:srgbClr val="A0B4C8"/>
                </a:solidFill>
              </a:rPr>
              <a:t>Faculté de Sciences Monastir  ·  2025/2026  ·  Dr. Ing. Ghada Feki</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1082</Words>
  <Application>Microsoft Office PowerPoint</Application>
  <PresentationFormat>Affichage à l'écran (16:9)</PresentationFormat>
  <Paragraphs>219</Paragraphs>
  <Slides>10</Slides>
  <Notes>10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10</vt:i4>
      </vt:variant>
    </vt:vector>
  </HeadingPairs>
  <TitlesOfParts>
    <vt:vector size="13"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ShopFlow - Présentation</dc:title>
  <dc:subject>PptxGenJS Presentation</dc:subject>
  <dc:creator>PptxGenJS</dc:creator>
  <cp:lastModifiedBy>Ibtihel Gritli</cp:lastModifiedBy>
  <cp:revision>2</cp:revision>
  <dcterms:created xsi:type="dcterms:W3CDTF">2026-04-19T20:39:03Z</dcterms:created>
  <dcterms:modified xsi:type="dcterms:W3CDTF">2026-04-23T21:26:33Z</dcterms:modified>
</cp:coreProperties>
</file>